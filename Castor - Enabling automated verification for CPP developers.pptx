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16"/>
  </p:notesMasterIdLst>
  <p:sldIdLst>
    <p:sldId id="493" r:id="rId2"/>
    <p:sldId id="552" r:id="rId3"/>
    <p:sldId id="539" r:id="rId4"/>
    <p:sldId id="548" r:id="rId5"/>
    <p:sldId id="550" r:id="rId6"/>
    <p:sldId id="541" r:id="rId7"/>
    <p:sldId id="551" r:id="rId8"/>
    <p:sldId id="555" r:id="rId9"/>
    <p:sldId id="544" r:id="rId10"/>
    <p:sldId id="554" r:id="rId11"/>
    <p:sldId id="560" r:id="rId12"/>
    <p:sldId id="561" r:id="rId13"/>
    <p:sldId id="559" r:id="rId14"/>
    <p:sldId id="53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61FF4"/>
    <a:srgbClr val="39C026"/>
    <a:srgbClr val="DB27DA"/>
    <a:srgbClr val="AAAB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36C064-9334-8345-B3D9-CDC5399195DB}" v="5" dt="2026-04-08T00:57:17.8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3950"/>
    <p:restoredTop sz="94694"/>
  </p:normalViewPr>
  <p:slideViewPr>
    <p:cSldViewPr snapToGrid="0">
      <p:cViewPr varScale="1">
        <p:scale>
          <a:sx n="129" d="100"/>
          <a:sy n="129" d="100"/>
        </p:scale>
        <p:origin x="5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ne, Phil" userId="66172ffc-8c85-4e8b-92f4-b41dd9655b6b" providerId="ADAL" clId="{D9482A60-FF9C-55CA-87F3-7CB4517B90A7}"/>
    <pc:docChg chg="custSel modSld modMainMaster">
      <pc:chgData name="Lane, Phil" userId="66172ffc-8c85-4e8b-92f4-b41dd9655b6b" providerId="ADAL" clId="{D9482A60-FF9C-55CA-87F3-7CB4517B90A7}" dt="2026-04-08T00:57:17.812" v="98"/>
      <pc:docMkLst>
        <pc:docMk/>
      </pc:docMkLst>
      <pc:sldChg chg="addSp delSp modSp mod">
        <pc:chgData name="Lane, Phil" userId="66172ffc-8c85-4e8b-92f4-b41dd9655b6b" providerId="ADAL" clId="{D9482A60-FF9C-55CA-87F3-7CB4517B90A7}" dt="2026-04-08T00:56:44.741" v="63"/>
        <pc:sldMkLst>
          <pc:docMk/>
          <pc:sldMk cId="0" sldId="493"/>
        </pc:sldMkLst>
        <pc:spChg chg="add del mod">
          <ac:chgData name="Lane, Phil" userId="66172ffc-8c85-4e8b-92f4-b41dd9655b6b" providerId="ADAL" clId="{D9482A60-FF9C-55CA-87F3-7CB4517B90A7}" dt="2026-04-08T00:56:43.847" v="61"/>
          <ac:spMkLst>
            <pc:docMk/>
            <pc:sldMk cId="0" sldId="493"/>
            <ac:spMk id="2" creationId="{093D1503-43EB-8591-EE61-13CB29EAF69F}"/>
          </ac:spMkLst>
        </pc:spChg>
        <pc:spChg chg="add del mod">
          <ac:chgData name="Lane, Phil" userId="66172ffc-8c85-4e8b-92f4-b41dd9655b6b" providerId="ADAL" clId="{D9482A60-FF9C-55CA-87F3-7CB4517B90A7}" dt="2026-04-08T00:56:44.741" v="63"/>
          <ac:spMkLst>
            <pc:docMk/>
            <pc:sldMk cId="0" sldId="493"/>
            <ac:spMk id="6" creationId="{9D74B450-912D-3979-0ECF-CD7161E0D784}"/>
          </ac:spMkLst>
        </pc:spChg>
        <pc:spChg chg="mod">
          <ac:chgData name="Lane, Phil" userId="66172ffc-8c85-4e8b-92f4-b41dd9655b6b" providerId="ADAL" clId="{D9482A60-FF9C-55CA-87F3-7CB4517B90A7}" dt="2026-03-27T20:44:50.619" v="20" actId="20577"/>
          <ac:spMkLst>
            <pc:docMk/>
            <pc:sldMk cId="0" sldId="493"/>
            <ac:spMk id="9" creationId="{00000000-0000-0000-0000-000000000000}"/>
          </ac:spMkLst>
        </pc:spChg>
      </pc:sldChg>
      <pc:sldChg chg="delSp mod">
        <pc:chgData name="Lane, Phil" userId="66172ffc-8c85-4e8b-92f4-b41dd9655b6b" providerId="ADAL" clId="{D9482A60-FF9C-55CA-87F3-7CB4517B90A7}" dt="2026-03-27T20:48:52.131" v="57" actId="478"/>
        <pc:sldMkLst>
          <pc:docMk/>
          <pc:sldMk cId="0" sldId="537"/>
        </pc:sldMkLst>
      </pc:sldChg>
      <pc:sldChg chg="modSp mod">
        <pc:chgData name="Lane, Phil" userId="66172ffc-8c85-4e8b-92f4-b41dd9655b6b" providerId="ADAL" clId="{D9482A60-FF9C-55CA-87F3-7CB4517B90A7}" dt="2026-03-27T20:48:08.116" v="44" actId="20577"/>
        <pc:sldMkLst>
          <pc:docMk/>
          <pc:sldMk cId="2167670589" sldId="554"/>
        </pc:sldMkLst>
        <pc:spChg chg="mod">
          <ac:chgData name="Lane, Phil" userId="66172ffc-8c85-4e8b-92f4-b41dd9655b6b" providerId="ADAL" clId="{D9482A60-FF9C-55CA-87F3-7CB4517B90A7}" dt="2026-03-27T20:47:52.833" v="32" actId="20577"/>
          <ac:spMkLst>
            <pc:docMk/>
            <pc:sldMk cId="2167670589" sldId="554"/>
            <ac:spMk id="2" creationId="{816CFA87-36BE-D112-BD31-74771FF8F533}"/>
          </ac:spMkLst>
        </pc:spChg>
        <pc:spChg chg="mod">
          <ac:chgData name="Lane, Phil" userId="66172ffc-8c85-4e8b-92f4-b41dd9655b6b" providerId="ADAL" clId="{D9482A60-FF9C-55CA-87F3-7CB4517B90A7}" dt="2026-03-27T20:48:08.116" v="44" actId="20577"/>
          <ac:spMkLst>
            <pc:docMk/>
            <pc:sldMk cId="2167670589" sldId="554"/>
            <ac:spMk id="7" creationId="{8D76D7A2-D4E8-B2FE-EAE5-C8E219E06F64}"/>
          </ac:spMkLst>
        </pc:spChg>
      </pc:sldChg>
      <pc:sldChg chg="modSp mod">
        <pc:chgData name="Lane, Phil" userId="66172ffc-8c85-4e8b-92f4-b41dd9655b6b" providerId="ADAL" clId="{D9482A60-FF9C-55CA-87F3-7CB4517B90A7}" dt="2026-03-27T20:48:40.673" v="56" actId="20577"/>
        <pc:sldMkLst>
          <pc:docMk/>
          <pc:sldMk cId="2808422881" sldId="559"/>
        </pc:sldMkLst>
        <pc:spChg chg="mod">
          <ac:chgData name="Lane, Phil" userId="66172ffc-8c85-4e8b-92f4-b41dd9655b6b" providerId="ADAL" clId="{D9482A60-FF9C-55CA-87F3-7CB4517B90A7}" dt="2026-03-27T20:48:40.673" v="56" actId="20577"/>
          <ac:spMkLst>
            <pc:docMk/>
            <pc:sldMk cId="2808422881" sldId="559"/>
            <ac:spMk id="2" creationId="{816CFA87-36BE-D112-BD31-74771FF8F533}"/>
          </ac:spMkLst>
        </pc:spChg>
      </pc:sldChg>
      <pc:sldChg chg="modSp mod">
        <pc:chgData name="Lane, Phil" userId="66172ffc-8c85-4e8b-92f4-b41dd9655b6b" providerId="ADAL" clId="{D9482A60-FF9C-55CA-87F3-7CB4517B90A7}" dt="2026-03-27T20:48:24.394" v="48" actId="20577"/>
        <pc:sldMkLst>
          <pc:docMk/>
          <pc:sldMk cId="464826145" sldId="560"/>
        </pc:sldMkLst>
        <pc:spChg chg="mod">
          <ac:chgData name="Lane, Phil" userId="66172ffc-8c85-4e8b-92f4-b41dd9655b6b" providerId="ADAL" clId="{D9482A60-FF9C-55CA-87F3-7CB4517B90A7}" dt="2026-03-27T20:48:24.394" v="48" actId="20577"/>
          <ac:spMkLst>
            <pc:docMk/>
            <pc:sldMk cId="464826145" sldId="560"/>
            <ac:spMk id="2" creationId="{816CFA87-36BE-D112-BD31-74771FF8F533}"/>
          </ac:spMkLst>
        </pc:spChg>
      </pc:sldChg>
      <pc:sldChg chg="modSp mod">
        <pc:chgData name="Lane, Phil" userId="66172ffc-8c85-4e8b-92f4-b41dd9655b6b" providerId="ADAL" clId="{D9482A60-FF9C-55CA-87F3-7CB4517B90A7}" dt="2026-03-27T20:48:32.471" v="52" actId="20577"/>
        <pc:sldMkLst>
          <pc:docMk/>
          <pc:sldMk cId="1933591319" sldId="561"/>
        </pc:sldMkLst>
        <pc:spChg chg="mod">
          <ac:chgData name="Lane, Phil" userId="66172ffc-8c85-4e8b-92f4-b41dd9655b6b" providerId="ADAL" clId="{D9482A60-FF9C-55CA-87F3-7CB4517B90A7}" dt="2026-03-27T20:48:32.471" v="52" actId="20577"/>
          <ac:spMkLst>
            <pc:docMk/>
            <pc:sldMk cId="1933591319" sldId="561"/>
            <ac:spMk id="2" creationId="{816CFA87-36BE-D112-BD31-74771FF8F533}"/>
          </ac:spMkLst>
        </pc:spChg>
      </pc:sldChg>
      <pc:sldMasterChg chg="modSp mod modSldLayout">
        <pc:chgData name="Lane, Phil" userId="66172ffc-8c85-4e8b-92f4-b41dd9655b6b" providerId="ADAL" clId="{D9482A60-FF9C-55CA-87F3-7CB4517B90A7}" dt="2026-04-08T00:57:17.812" v="98"/>
        <pc:sldMasterMkLst>
          <pc:docMk/>
          <pc:sldMasterMk cId="2759823788" sldId="2147483674"/>
        </pc:sldMasterMkLst>
        <pc:spChg chg="mod">
          <ac:chgData name="Lane, Phil" userId="66172ffc-8c85-4e8b-92f4-b41dd9655b6b" providerId="ADAL" clId="{D9482A60-FF9C-55CA-87F3-7CB4517B90A7}" dt="2026-04-08T00:57:05.880" v="97"/>
          <ac:spMkLst>
            <pc:docMk/>
            <pc:sldMasterMk cId="2759823788" sldId="2147483674"/>
            <ac:spMk id="12" creationId="{977B53EC-4316-1C4C-A9E5-1C5A7B34DAA4}"/>
          </ac:spMkLst>
        </pc:spChg>
        <pc:sldLayoutChg chg="modSp">
          <pc:chgData name="Lane, Phil" userId="66172ffc-8c85-4e8b-92f4-b41dd9655b6b" providerId="ADAL" clId="{D9482A60-FF9C-55CA-87F3-7CB4517B90A7}" dt="2026-04-08T00:57:17.812" v="98"/>
          <pc:sldLayoutMkLst>
            <pc:docMk/>
            <pc:sldMasterMk cId="2759823788" sldId="2147483674"/>
            <pc:sldLayoutMk cId="3778000612" sldId="2147483672"/>
          </pc:sldLayoutMkLst>
          <pc:spChg chg="mod">
            <ac:chgData name="Lane, Phil" userId="66172ffc-8c85-4e8b-92f4-b41dd9655b6b" providerId="ADAL" clId="{D9482A60-FF9C-55CA-87F3-7CB4517B90A7}" dt="2026-04-08T00:57:17.812" v="98"/>
            <ac:spMkLst>
              <pc:docMk/>
              <pc:sldMasterMk cId="2759823788" sldId="2147483674"/>
              <pc:sldLayoutMk cId="3778000612" sldId="2147483672"/>
              <ac:spMk id="14" creationId="{00000000-0000-0000-0000-000000000000}"/>
            </ac:spMkLst>
          </pc:spChg>
        </pc:sldLayoutChg>
        <pc:sldLayoutChg chg="modSp mod">
          <pc:chgData name="Lane, Phil" userId="66172ffc-8c85-4e8b-92f4-b41dd9655b6b" providerId="ADAL" clId="{D9482A60-FF9C-55CA-87F3-7CB4517B90A7}" dt="2026-04-08T00:56:56.628" v="80"/>
          <pc:sldLayoutMkLst>
            <pc:docMk/>
            <pc:sldMasterMk cId="2759823788" sldId="2147483674"/>
            <pc:sldLayoutMk cId="2379742847" sldId="2147483675"/>
          </pc:sldLayoutMkLst>
          <pc:spChg chg="mod">
            <ac:chgData name="Lane, Phil" userId="66172ffc-8c85-4e8b-92f4-b41dd9655b6b" providerId="ADAL" clId="{D9482A60-FF9C-55CA-87F3-7CB4517B90A7}" dt="2026-04-08T00:56:56.628" v="80"/>
            <ac:spMkLst>
              <pc:docMk/>
              <pc:sldMasterMk cId="2759823788" sldId="2147483674"/>
              <pc:sldLayoutMk cId="2379742847" sldId="2147483675"/>
              <ac:spMk id="5" creationId="{20B009EC-A1A6-EF60-35DA-3CB78E30B98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09BDE1-531F-42E9-9735-6B99411FB26D}" type="datetimeFigureOut">
              <a:t>4/7/26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E117AC-CA1A-488B-A7C9-C2689AABBCCD}" type="slidenum">
              <a:t>‹#›</a:t>
            </a:fld>
            <a:endParaRPr lang="en-US"/>
          </a:p>
        </p:txBody>
      </p:sp>
    </p:spTree>
    <p:extLst>
      <p:ext uri="{BB962C8B-B14F-4D97-AF65-F5344CB8AC3E}">
        <p14:creationId xmlns:p14="http://schemas.microsoft.com/office/powerpoint/2010/main" val="1160114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normAutofit/>
          </a:bodyPr>
          <a:lstStyle/>
          <a:p>
            <a:endParaRPr lang="en-US" baseline="0"/>
          </a:p>
        </p:txBody>
      </p:sp>
      <p:sp>
        <p:nvSpPr>
          <p:cNvPr id="4" name="Slide Number Placeholder 3"/>
          <p:cNvSpPr>
            <a:spLocks noGrp="1"/>
          </p:cNvSpPr>
          <p:nvPr>
            <p:ph type="sldNum" sz="quarter" idx="10"/>
          </p:nvPr>
        </p:nvSpPr>
        <p:spPr/>
        <p:txBody>
          <a:bodyPr/>
          <a:lstStyle/>
          <a:p>
            <a:fld id="{4CFDF800-FE0E-A944-8AC1-D57C07B352FC}" type="slidenum">
              <a:rPr lang="en-US" smtClean="0"/>
              <a:pPr/>
              <a:t>1</a:t>
            </a:fld>
            <a:endParaRPr lang="en-US"/>
          </a:p>
        </p:txBody>
      </p:sp>
    </p:spTree>
    <p:extLst>
      <p:ext uri="{BB962C8B-B14F-4D97-AF65-F5344CB8AC3E}">
        <p14:creationId xmlns:p14="http://schemas.microsoft.com/office/powerpoint/2010/main" val="1742371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E117AC-CA1A-488B-A7C9-C2689AABBCCD}" type="slidenum">
              <a:rPr lang="en-US" smtClean="0"/>
              <a:t>10</a:t>
            </a:fld>
            <a:endParaRPr lang="en-US"/>
          </a:p>
        </p:txBody>
      </p:sp>
    </p:spTree>
    <p:extLst>
      <p:ext uri="{BB962C8B-B14F-4D97-AF65-F5344CB8AC3E}">
        <p14:creationId xmlns:p14="http://schemas.microsoft.com/office/powerpoint/2010/main" val="4488493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6B13290-194C-1840-A49D-365A7D02BFB1}"/>
              </a:ext>
            </a:extLst>
          </p:cNvPr>
          <p:cNvSpPr/>
          <p:nvPr/>
        </p:nvSpPr>
        <p:spPr>
          <a:xfrm>
            <a:off x="-4571" y="6321584"/>
            <a:ext cx="12204700" cy="544880"/>
          </a:xfrm>
          <a:prstGeom prst="rect">
            <a:avLst/>
          </a:prstGeom>
          <a:gradFill flip="none" rotWithShape="1">
            <a:gsLst>
              <a:gs pos="100000">
                <a:srgbClr val="294861"/>
              </a:gs>
              <a:gs pos="88000">
                <a:schemeClr val="accent1">
                  <a:lumMod val="50000"/>
                </a:schemeClr>
              </a:gs>
              <a:gs pos="21000">
                <a:srgbClr val="4388B8"/>
              </a:gs>
            </a:gsLst>
            <a:lin ang="16200000" scaled="1"/>
            <a:tileRect/>
          </a:gradFill>
          <a:ln>
            <a:noFill/>
          </a:ln>
          <a:effectLst>
            <a:outerShdw blurRad="50800" dist="38100" dir="16200000"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r"/>
            <a:endParaRPr lang="en-US" sz="1800">
              <a:latin typeface="Arial"/>
            </a:endParaRPr>
          </a:p>
        </p:txBody>
      </p:sp>
      <p:pic>
        <p:nvPicPr>
          <p:cNvPr id="6" name="Picture 5">
            <a:extLst>
              <a:ext uri="{FF2B5EF4-FFF2-40B4-BE49-F238E27FC236}">
                <a16:creationId xmlns:a16="http://schemas.microsoft.com/office/drawing/2014/main" id="{7BA3D2A3-E316-5B4D-B559-0EBDF6B1377B}"/>
              </a:ext>
            </a:extLst>
          </p:cNvPr>
          <p:cNvPicPr>
            <a:picLocks noChangeAspect="1"/>
          </p:cNvPicPr>
          <p:nvPr/>
        </p:nvPicPr>
        <p:blipFill>
          <a:blip r:embed="rId2">
            <a:alphaModFix/>
          </a:blip>
          <a:stretch>
            <a:fillRect/>
          </a:stretch>
        </p:blipFill>
        <p:spPr>
          <a:xfrm>
            <a:off x="0" y="3575304"/>
            <a:ext cx="12192000" cy="2743200"/>
          </a:xfrm>
          <a:prstGeom prst="rect">
            <a:avLst/>
          </a:prstGeom>
          <a:gradFill flip="none" rotWithShape="1">
            <a:gsLst>
              <a:gs pos="0">
                <a:schemeClr val="accent1">
                  <a:lumMod val="0"/>
                  <a:lumOff val="100000"/>
                </a:schemeClr>
              </a:gs>
              <a:gs pos="35000">
                <a:schemeClr val="accent1">
                  <a:lumMod val="0"/>
                  <a:lumOff val="100000"/>
                </a:schemeClr>
              </a:gs>
              <a:gs pos="100000">
                <a:schemeClr val="bg1"/>
              </a:gs>
            </a:gsLst>
            <a:lin ang="2700000" scaled="1"/>
            <a:tileRect/>
          </a:gradFill>
        </p:spPr>
      </p:pic>
      <p:sp>
        <p:nvSpPr>
          <p:cNvPr id="8" name="Rectangle 7">
            <a:extLst>
              <a:ext uri="{FF2B5EF4-FFF2-40B4-BE49-F238E27FC236}">
                <a16:creationId xmlns:a16="http://schemas.microsoft.com/office/drawing/2014/main" id="{D6D9C9D9-72EC-6D46-9AAD-E59A139F1299}"/>
              </a:ext>
            </a:extLst>
          </p:cNvPr>
          <p:cNvSpPr/>
          <p:nvPr/>
        </p:nvSpPr>
        <p:spPr bwMode="auto">
          <a:xfrm>
            <a:off x="-504" y="3193257"/>
            <a:ext cx="12192504" cy="1028423"/>
          </a:xfrm>
          <a:prstGeom prst="rect">
            <a:avLst/>
          </a:prstGeom>
          <a:gradFill flip="none" rotWithShape="1">
            <a:gsLst>
              <a:gs pos="0">
                <a:schemeClr val="bg1">
                  <a:alpha val="0"/>
                  <a:lumMod val="0"/>
                  <a:lumOff val="100000"/>
                </a:schemeClr>
              </a:gs>
              <a:gs pos="51000">
                <a:schemeClr val="bg1"/>
              </a:gs>
            </a:gsLst>
            <a:lin ang="16200000" scaled="1"/>
            <a:tileRect/>
          </a:gradFill>
          <a:ln>
            <a:noFill/>
            <a:headEnd/>
            <a:tailEnd/>
          </a:ln>
          <a:effectLst/>
        </p:spPr>
        <p:style>
          <a:lnRef idx="1">
            <a:schemeClr val="accent1"/>
          </a:lnRef>
          <a:fillRef idx="2">
            <a:schemeClr val="accent1"/>
          </a:fillRef>
          <a:effectRef idx="1">
            <a:schemeClr val="accent1"/>
          </a:effectRef>
          <a:fontRef idx="minor">
            <a:schemeClr val="dk1"/>
          </a:fontRef>
        </p:style>
        <p:txBody>
          <a:bodyPr rtlCol="0" anchor="b">
            <a:prstTxWarp prst="textNoShape">
              <a:avLst/>
            </a:prstTxWarp>
          </a:bodyPr>
          <a:lstStyle/>
          <a:p>
            <a:pPr algn="ctr">
              <a:spcBef>
                <a:spcPct val="0"/>
              </a:spcBef>
            </a:pPr>
            <a:endParaRPr lang="en-US" sz="1600">
              <a:solidFill>
                <a:srgbClr val="000000"/>
              </a:solidFill>
            </a:endParaRPr>
          </a:p>
        </p:txBody>
      </p:sp>
      <p:sp>
        <p:nvSpPr>
          <p:cNvPr id="10" name="Title 9"/>
          <p:cNvSpPr>
            <a:spLocks noGrp="1"/>
          </p:cNvSpPr>
          <p:nvPr>
            <p:ph type="title" hasCustomPrompt="1"/>
          </p:nvPr>
        </p:nvSpPr>
        <p:spPr>
          <a:xfrm>
            <a:off x="609600" y="565126"/>
            <a:ext cx="10972800" cy="1447576"/>
          </a:xfrm>
        </p:spPr>
        <p:txBody>
          <a:bodyPr anchor="b" anchorCtr="0"/>
          <a:lstStyle>
            <a:lvl1pPr>
              <a:lnSpc>
                <a:spcPts val="3800"/>
              </a:lnSpc>
              <a:defRPr sz="3600" b="1" i="0">
                <a:solidFill>
                  <a:schemeClr val="accent1">
                    <a:lumMod val="75000"/>
                  </a:schemeClr>
                </a:solidFill>
                <a:effectLst/>
                <a:latin typeface="Arial"/>
                <a:cs typeface="Arial"/>
              </a:defRPr>
            </a:lvl1pPr>
          </a:lstStyle>
          <a:p>
            <a:r>
              <a:rPr lang="en-US"/>
              <a:t>Click to edit </a:t>
            </a:r>
            <a:br>
              <a:rPr lang="en-US"/>
            </a:br>
            <a:r>
              <a:rPr lang="en-US"/>
              <a:t>Master title style</a:t>
            </a:r>
          </a:p>
        </p:txBody>
      </p:sp>
      <p:sp>
        <p:nvSpPr>
          <p:cNvPr id="12" name="Text Placeholder 11"/>
          <p:cNvSpPr>
            <a:spLocks noGrp="1"/>
          </p:cNvSpPr>
          <p:nvPr>
            <p:ph type="body" sz="quarter" idx="13"/>
          </p:nvPr>
        </p:nvSpPr>
        <p:spPr>
          <a:xfrm>
            <a:off x="609601" y="2024863"/>
            <a:ext cx="7505699" cy="369888"/>
          </a:xfrm>
        </p:spPr>
        <p:txBody>
          <a:bodyPr>
            <a:noAutofit/>
          </a:bodyPr>
          <a:lstStyle>
            <a:lvl1pPr>
              <a:lnSpc>
                <a:spcPts val="2200"/>
              </a:lnSpc>
              <a:buNone/>
              <a:defRPr sz="2000" b="0">
                <a:latin typeface="Arial"/>
                <a:cs typeface="Arial"/>
              </a:defRPr>
            </a:lvl1pPr>
            <a:lvl2pPr>
              <a:buNone/>
              <a:defRPr/>
            </a:lvl2pPr>
            <a:lvl3pPr>
              <a:buNone/>
              <a:defRPr/>
            </a:lvl3pPr>
            <a:lvl4pPr>
              <a:buNone/>
              <a:defRPr/>
            </a:lvl4pPr>
            <a:lvl5pPr>
              <a:buNone/>
              <a:defRPr/>
            </a:lvl5pPr>
          </a:lstStyle>
          <a:p>
            <a:pPr lvl="0"/>
            <a:r>
              <a:rPr lang="en-US"/>
              <a:t>Click to edit Master text styles</a:t>
            </a:r>
          </a:p>
        </p:txBody>
      </p:sp>
      <p:sp>
        <p:nvSpPr>
          <p:cNvPr id="14" name="TextBox 13"/>
          <p:cNvSpPr txBox="1"/>
          <p:nvPr/>
        </p:nvSpPr>
        <p:spPr>
          <a:xfrm>
            <a:off x="91181" y="6416001"/>
            <a:ext cx="6004819" cy="203133"/>
          </a:xfrm>
          <a:prstGeom prst="rect">
            <a:avLst/>
          </a:prstGeom>
          <a:noFill/>
          <a:effectLst/>
        </p:spPr>
        <p:txBody>
          <a:bodyPr wrap="square" rtlCol="0">
            <a:spAutoFit/>
          </a:bodyPr>
          <a:lstStyle/>
          <a:p>
            <a:pPr marL="0" algn="l" defTabSz="457200" rtl="0" eaLnBrk="1" latinLnBrk="0" hangingPunct="1">
              <a:lnSpc>
                <a:spcPct val="90000"/>
              </a:lnSpc>
              <a:spcAft>
                <a:spcPts val="300"/>
              </a:spcAft>
            </a:pPr>
            <a:r>
              <a:rPr lang="en-US" sz="800" kern="1200">
                <a:solidFill>
                  <a:schemeClr val="bg1"/>
                </a:solidFill>
                <a:effectLst/>
                <a:latin typeface="Arial"/>
                <a:ea typeface="+mn-ea"/>
                <a:cs typeface="Arial"/>
              </a:rPr>
              <a:t>LLNL-PRES-XXXXXX</a:t>
            </a:r>
          </a:p>
        </p:txBody>
      </p:sp>
      <p:pic>
        <p:nvPicPr>
          <p:cNvPr id="18" name="Picture 17" descr="LLNL_Logo_WHT-LRG.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276083" y="6446833"/>
            <a:ext cx="2487168" cy="314705"/>
          </a:xfrm>
          <a:prstGeom prst="rect">
            <a:avLst/>
          </a:prstGeom>
        </p:spPr>
      </p:pic>
      <p:sp>
        <p:nvSpPr>
          <p:cNvPr id="20" name="Rectangle 19"/>
          <p:cNvSpPr/>
          <p:nvPr/>
        </p:nvSpPr>
        <p:spPr>
          <a:xfrm>
            <a:off x="0" y="0"/>
            <a:ext cx="12192000" cy="112889"/>
          </a:xfrm>
          <a:prstGeom prst="rect">
            <a:avLst/>
          </a:prstGeom>
          <a:solidFill>
            <a:schemeClr val="accent1">
              <a:lumMod val="75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800">
              <a:latin typeface="Arial"/>
            </a:endParaRPr>
          </a:p>
        </p:txBody>
      </p:sp>
      <p:sp>
        <p:nvSpPr>
          <p:cNvPr id="3" name="Text Placeholder 2"/>
          <p:cNvSpPr>
            <a:spLocks noGrp="1"/>
          </p:cNvSpPr>
          <p:nvPr>
            <p:ph type="body" sz="quarter" idx="14" hasCustomPrompt="1"/>
          </p:nvPr>
        </p:nvSpPr>
        <p:spPr>
          <a:xfrm>
            <a:off x="6096001" y="3096715"/>
            <a:ext cx="6096000" cy="477838"/>
          </a:xfrm>
        </p:spPr>
        <p:txBody>
          <a:bodyPr rIns="182880" anchor="b" anchorCtr="0">
            <a:noAutofit/>
          </a:bodyPr>
          <a:lstStyle>
            <a:lvl1pPr marL="57150" indent="0" algn="r">
              <a:spcBef>
                <a:spcPts val="0"/>
              </a:spcBef>
              <a:buNone/>
              <a:defRPr sz="1600" b="0"/>
            </a:lvl1pPr>
            <a:lvl2pPr marL="342900" indent="0" algn="r">
              <a:buNone/>
              <a:defRPr sz="1600" b="0"/>
            </a:lvl2pPr>
            <a:lvl3pPr marL="628650" indent="0" algn="r">
              <a:buNone/>
              <a:defRPr sz="1600" b="0"/>
            </a:lvl3pPr>
            <a:lvl4pPr marL="857250" indent="0" algn="r">
              <a:buNone/>
              <a:defRPr sz="1600" b="0"/>
            </a:lvl4pPr>
            <a:lvl5pPr marL="1085850" indent="0" algn="r">
              <a:buNone/>
              <a:defRPr sz="1600" b="0"/>
            </a:lvl5pPr>
          </a:lstStyle>
          <a:p>
            <a:pPr lvl="0"/>
            <a:r>
              <a:rPr lang="en-US"/>
              <a:t>Authors Name</a:t>
            </a:r>
          </a:p>
          <a:p>
            <a:pPr lvl="0"/>
            <a:r>
              <a:rPr lang="en-US"/>
              <a:t>Title</a:t>
            </a:r>
          </a:p>
        </p:txBody>
      </p:sp>
      <p:sp>
        <p:nvSpPr>
          <p:cNvPr id="2" name="Rectangle 1">
            <a:extLst>
              <a:ext uri="{FF2B5EF4-FFF2-40B4-BE49-F238E27FC236}">
                <a16:creationId xmlns:a16="http://schemas.microsoft.com/office/drawing/2014/main" id="{CD9DE042-8CC6-1F1E-1485-006F9A18D099}"/>
              </a:ext>
            </a:extLst>
          </p:cNvPr>
          <p:cNvSpPr/>
          <p:nvPr userDrawn="1"/>
        </p:nvSpPr>
        <p:spPr>
          <a:xfrm>
            <a:off x="-4571" y="6321584"/>
            <a:ext cx="12204700" cy="544880"/>
          </a:xfrm>
          <a:prstGeom prst="rect">
            <a:avLst/>
          </a:prstGeom>
          <a:gradFill flip="none" rotWithShape="1">
            <a:gsLst>
              <a:gs pos="100000">
                <a:srgbClr val="294861"/>
              </a:gs>
              <a:gs pos="88000">
                <a:schemeClr val="accent1">
                  <a:lumMod val="50000"/>
                </a:schemeClr>
              </a:gs>
              <a:gs pos="21000">
                <a:srgbClr val="4388B8"/>
              </a:gs>
            </a:gsLst>
            <a:lin ang="16200000" scaled="1"/>
            <a:tileRect/>
          </a:gradFill>
          <a:ln>
            <a:noFill/>
          </a:ln>
          <a:effectLst>
            <a:outerShdw blurRad="50800" dist="38100" dir="16200000"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r"/>
            <a:endParaRPr lang="en-US" sz="1800">
              <a:latin typeface="Arial"/>
            </a:endParaRPr>
          </a:p>
        </p:txBody>
      </p:sp>
      <p:pic>
        <p:nvPicPr>
          <p:cNvPr id="4" name="Picture 3">
            <a:extLst>
              <a:ext uri="{FF2B5EF4-FFF2-40B4-BE49-F238E27FC236}">
                <a16:creationId xmlns:a16="http://schemas.microsoft.com/office/drawing/2014/main" id="{C7D0EB9C-BDDF-F946-B5EB-808BD549DE0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04" y="3574554"/>
            <a:ext cx="12190993" cy="2742973"/>
          </a:xfrm>
          <a:prstGeom prst="rect">
            <a:avLst/>
          </a:prstGeom>
        </p:spPr>
      </p:pic>
      <p:sp>
        <p:nvSpPr>
          <p:cNvPr id="5" name="TextBox 4">
            <a:extLst>
              <a:ext uri="{FF2B5EF4-FFF2-40B4-BE49-F238E27FC236}">
                <a16:creationId xmlns:a16="http://schemas.microsoft.com/office/drawing/2014/main" id="{20B009EC-A1A6-EF60-35DA-3CB78E30B980}"/>
              </a:ext>
            </a:extLst>
          </p:cNvPr>
          <p:cNvSpPr txBox="1"/>
          <p:nvPr userDrawn="1"/>
        </p:nvSpPr>
        <p:spPr>
          <a:xfrm>
            <a:off x="91180" y="6416001"/>
            <a:ext cx="6004819" cy="203133"/>
          </a:xfrm>
          <a:prstGeom prst="rect">
            <a:avLst/>
          </a:prstGeom>
          <a:noFill/>
          <a:effectLst/>
        </p:spPr>
        <p:txBody>
          <a:bodyPr wrap="square" rtlCol="0">
            <a:spAutoFit/>
          </a:bodyPr>
          <a:lstStyle/>
          <a:p>
            <a:pPr marL="0" algn="l" defTabSz="457200" rtl="0" eaLnBrk="1" latinLnBrk="0" hangingPunct="1">
              <a:lnSpc>
                <a:spcPct val="90000"/>
              </a:lnSpc>
              <a:spcAft>
                <a:spcPts val="300"/>
              </a:spcAft>
            </a:pPr>
            <a:r>
              <a:rPr lang="en-US" sz="800" kern="1200" dirty="0">
                <a:solidFill>
                  <a:schemeClr val="bg1"/>
                </a:solidFill>
                <a:effectLst/>
                <a:latin typeface="Arial"/>
                <a:ea typeface="+mn-ea"/>
                <a:cs typeface="Arial"/>
              </a:rPr>
              <a:t>LLNL-PRES-2017779</a:t>
            </a:r>
          </a:p>
        </p:txBody>
      </p:sp>
      <p:pic>
        <p:nvPicPr>
          <p:cNvPr id="7" name="Picture 6" descr="LLNL_Logo_WHT-LRG.png">
            <a:extLst>
              <a:ext uri="{FF2B5EF4-FFF2-40B4-BE49-F238E27FC236}">
                <a16:creationId xmlns:a16="http://schemas.microsoft.com/office/drawing/2014/main" id="{20EA8832-4B84-90A0-51EF-BA97A9679851}"/>
              </a:ext>
            </a:extLst>
          </p:cNvPr>
          <p:cNvPicPr>
            <a:picLocks noChangeAspect="1"/>
          </p:cNvPicPr>
          <p:nvPr userDrawn="1"/>
        </p:nvPicPr>
        <p:blipFill>
          <a:blip r:embed="rId3"/>
          <a:stretch>
            <a:fillRect/>
          </a:stretch>
        </p:blipFill>
        <p:spPr>
          <a:xfrm>
            <a:off x="9276082" y="6446832"/>
            <a:ext cx="2486941" cy="314676"/>
          </a:xfrm>
          <a:prstGeom prst="rect">
            <a:avLst/>
          </a:prstGeom>
        </p:spPr>
      </p:pic>
      <p:sp>
        <p:nvSpPr>
          <p:cNvPr id="9" name="Rectangle 8">
            <a:extLst>
              <a:ext uri="{FF2B5EF4-FFF2-40B4-BE49-F238E27FC236}">
                <a16:creationId xmlns:a16="http://schemas.microsoft.com/office/drawing/2014/main" id="{36B4A173-AE1F-5961-D766-B14442C8E106}"/>
              </a:ext>
            </a:extLst>
          </p:cNvPr>
          <p:cNvSpPr/>
          <p:nvPr userDrawn="1"/>
        </p:nvSpPr>
        <p:spPr>
          <a:xfrm>
            <a:off x="0" y="0"/>
            <a:ext cx="12192000" cy="112889"/>
          </a:xfrm>
          <a:prstGeom prst="rect">
            <a:avLst/>
          </a:prstGeom>
          <a:solidFill>
            <a:schemeClr val="accent1">
              <a:lumMod val="75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800">
              <a:latin typeface="Arial"/>
            </a:endParaRPr>
          </a:p>
        </p:txBody>
      </p:sp>
    </p:spTree>
    <p:extLst>
      <p:ext uri="{BB962C8B-B14F-4D97-AF65-F5344CB8AC3E}">
        <p14:creationId xmlns:p14="http://schemas.microsoft.com/office/powerpoint/2010/main" val="2379742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scene3d>
              <a:camera prst="orthographicFront"/>
              <a:lightRig rig="threePt" dir="t">
                <a:rot lat="0" lon="0" rev="4800000"/>
              </a:lightRig>
            </a:scene3d>
            <a:sp3d prstMaterial="matte"/>
          </a:bodyPr>
          <a:lstStyle/>
          <a:p>
            <a:r>
              <a:rPr kumimoji="0" lang="en-US"/>
              <a:t>Click to edit Master title style</a:t>
            </a:r>
          </a:p>
        </p:txBody>
      </p:sp>
    </p:spTree>
    <p:extLst>
      <p:ext uri="{BB962C8B-B14F-4D97-AF65-F5344CB8AC3E}">
        <p14:creationId xmlns:p14="http://schemas.microsoft.com/office/powerpoint/2010/main" val="2030713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lIns="0" bIns="0"/>
          <a:lstStyle>
            <a:lvl1pPr eaLnBrk="1" latinLnBrk="0" hangingPunct="1">
              <a:spcBef>
                <a:spcPts val="1800"/>
              </a:spcBef>
              <a:spcAft>
                <a:spcPts val="0"/>
              </a:spcAft>
              <a:defRPr/>
            </a:lvl1pPr>
            <a:lvl2pPr eaLnBrk="1" latinLnBrk="0" hangingPunct="1">
              <a:spcAft>
                <a:spcPts val="0"/>
              </a:spcAft>
              <a:defRPr/>
            </a:lvl2pPr>
            <a:lvl3pPr eaLnBrk="1" latinLnBrk="0" hangingPunct="1">
              <a:spcAft>
                <a:spcPts val="0"/>
              </a:spcAft>
              <a:defRPr/>
            </a:lvl3pPr>
            <a:lvl4pPr eaLnBrk="1" latinLnBrk="0" hangingPunct="1">
              <a:spcAft>
                <a:spcPts val="0"/>
              </a:spcAft>
              <a:defRPr/>
            </a:lvl4pPr>
            <a:lvl5pPr eaLnBrk="1" latinLnBrk="0" hangingPunct="1">
              <a:spcAft>
                <a:spcPts val="0"/>
              </a:spcAft>
              <a:defRPr/>
            </a:lvl5p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5" name="Title Placeholder 1"/>
          <p:cNvSpPr>
            <a:spLocks noGrp="1"/>
          </p:cNvSpPr>
          <p:nvPr>
            <p:ph type="title"/>
          </p:nvPr>
        </p:nvSpPr>
        <p:spPr>
          <a:xfrm>
            <a:off x="609600" y="219510"/>
            <a:ext cx="10972800" cy="1008771"/>
          </a:xfrm>
          <a:prstGeom prst="rect">
            <a:avLst/>
          </a:prstGeom>
          <a:effectLst/>
        </p:spPr>
        <p:txBody>
          <a:bodyPr vert="horz" lIns="0" rIns="45720" rtlCol="0" anchor="ctr" anchorCtr="0">
            <a:noAutofit/>
            <a:scene3d>
              <a:camera prst="orthographicFront"/>
              <a:lightRig rig="threePt" dir="t">
                <a:rot lat="0" lon="0" rev="4800000"/>
              </a:lightRig>
            </a:scene3d>
            <a:sp3d prstMaterial="matte"/>
          </a:bodyPr>
          <a:lstStyle/>
          <a:p>
            <a:r>
              <a:rPr kumimoji="0" lang="en-US"/>
              <a:t>Click to edit Master title style</a:t>
            </a:r>
          </a:p>
        </p:txBody>
      </p:sp>
    </p:spTree>
    <p:extLst>
      <p:ext uri="{BB962C8B-B14F-4D97-AF65-F5344CB8AC3E}">
        <p14:creationId xmlns:p14="http://schemas.microsoft.com/office/powerpoint/2010/main" val="679787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Title with side-text-Lef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90000"/>
              </a:lnSpc>
              <a:defRPr>
                <a:effectLst/>
              </a:defRPr>
            </a:lvl1pPr>
          </a:lstStyle>
          <a:p>
            <a:r>
              <a:rPr lang="en-US"/>
              <a:t>Click to edit Master title style</a:t>
            </a:r>
          </a:p>
        </p:txBody>
      </p:sp>
      <p:sp>
        <p:nvSpPr>
          <p:cNvPr id="4" name="Content Placeholder 2"/>
          <p:cNvSpPr>
            <a:spLocks noGrp="1"/>
          </p:cNvSpPr>
          <p:nvPr>
            <p:ph idx="1"/>
          </p:nvPr>
        </p:nvSpPr>
        <p:spPr>
          <a:xfrm>
            <a:off x="621101" y="1436688"/>
            <a:ext cx="5291328" cy="4881532"/>
          </a:xfrm>
        </p:spPr>
        <p:txBody>
          <a:bodyPr/>
          <a:lstStyle>
            <a:lvl1pPr>
              <a:spcBef>
                <a:spcPts val="1200"/>
              </a:spcBef>
              <a:spcAft>
                <a:spcPts val="600"/>
              </a:spcAft>
              <a:defRPr/>
            </a:lvl1pPr>
            <a:lvl2pPr>
              <a:spcAft>
                <a:spcPts val="600"/>
              </a:spcAft>
              <a:defRPr/>
            </a:lvl2pPr>
            <a:lvl3pPr>
              <a:spcAft>
                <a:spcPts val="600"/>
              </a:spcAft>
              <a:defRPr/>
            </a:lvl3pPr>
            <a:lvl4pPr>
              <a:spcAft>
                <a:spcPts val="600"/>
              </a:spcAft>
              <a:defRPr/>
            </a:lvl4pPr>
            <a:lvl5pPr>
              <a:spcAft>
                <a:spcPts val="600"/>
              </a:spcAft>
              <a:defRPr/>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362304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Title with side-text-R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90000"/>
              </a:lnSpc>
              <a:defRPr>
                <a:effectLst/>
              </a:defRPr>
            </a:lvl1pPr>
          </a:lstStyle>
          <a:p>
            <a:r>
              <a:rPr lang="en-US"/>
              <a:t>Click to edit Master title style</a:t>
            </a:r>
          </a:p>
        </p:txBody>
      </p:sp>
      <p:sp>
        <p:nvSpPr>
          <p:cNvPr id="4" name="Content Placeholder 2"/>
          <p:cNvSpPr>
            <a:spLocks noGrp="1"/>
          </p:cNvSpPr>
          <p:nvPr>
            <p:ph idx="1"/>
          </p:nvPr>
        </p:nvSpPr>
        <p:spPr>
          <a:xfrm>
            <a:off x="6301619" y="1436688"/>
            <a:ext cx="5291328" cy="4881532"/>
          </a:xfrm>
        </p:spPr>
        <p:txBody>
          <a:bodyPr/>
          <a:lstStyle>
            <a:lvl1pPr>
              <a:spcBef>
                <a:spcPts val="1200"/>
              </a:spcBef>
              <a:spcAft>
                <a:spcPts val="600"/>
              </a:spcAft>
              <a:defRPr/>
            </a:lvl1pPr>
            <a:lvl2pPr>
              <a:spcAft>
                <a:spcPts val="600"/>
              </a:spcAft>
              <a:defRPr/>
            </a:lvl2pPr>
            <a:lvl3pPr>
              <a:spcAft>
                <a:spcPts val="600"/>
              </a:spcAft>
              <a:defRPr/>
            </a:lvl3pPr>
            <a:lvl4pPr>
              <a:spcAft>
                <a:spcPts val="600"/>
              </a:spcAft>
              <a:defRPr/>
            </a:lvl4pPr>
            <a:lvl5pPr>
              <a:spcAft>
                <a:spcPts val="600"/>
              </a:spcAft>
              <a:defRPr/>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411235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Title with side-by-side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90000"/>
              </a:lnSpc>
              <a:defRPr>
                <a:effectLst/>
              </a:defRPr>
            </a:lvl1pPr>
          </a:lstStyle>
          <a:p>
            <a:r>
              <a:rPr lang="en-US"/>
              <a:t>Click to edit Master title style</a:t>
            </a:r>
          </a:p>
        </p:txBody>
      </p:sp>
      <p:sp>
        <p:nvSpPr>
          <p:cNvPr id="4" name="Content Placeholder 2"/>
          <p:cNvSpPr>
            <a:spLocks noGrp="1"/>
          </p:cNvSpPr>
          <p:nvPr>
            <p:ph idx="1"/>
          </p:nvPr>
        </p:nvSpPr>
        <p:spPr>
          <a:xfrm>
            <a:off x="621101" y="1436688"/>
            <a:ext cx="5291328" cy="4881532"/>
          </a:xfrm>
        </p:spPr>
        <p:txBody>
          <a:bodyPr/>
          <a:lstStyle>
            <a:lvl1pPr>
              <a:spcBef>
                <a:spcPts val="1200"/>
              </a:spcBef>
              <a:spcAft>
                <a:spcPts val="600"/>
              </a:spcAft>
              <a:defRPr/>
            </a:lvl1pPr>
            <a:lvl2pPr>
              <a:spcAft>
                <a:spcPts val="600"/>
              </a:spcAft>
              <a:defRPr/>
            </a:lvl2pPr>
            <a:lvl3pPr>
              <a:spcAft>
                <a:spcPts val="600"/>
              </a:spcAft>
              <a:defRPr/>
            </a:lvl3pPr>
            <a:lvl4pPr>
              <a:spcAft>
                <a:spcPts val="600"/>
              </a:spcAft>
              <a:defRPr/>
            </a:lvl4pPr>
            <a:lvl5pPr>
              <a:spcAft>
                <a:spcPts val="600"/>
              </a:spcAft>
              <a:defRPr/>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Content Placeholder 2"/>
          <p:cNvSpPr>
            <a:spLocks noGrp="1"/>
          </p:cNvSpPr>
          <p:nvPr>
            <p:ph idx="10"/>
          </p:nvPr>
        </p:nvSpPr>
        <p:spPr>
          <a:xfrm>
            <a:off x="6291532" y="1436688"/>
            <a:ext cx="5291328" cy="4881532"/>
          </a:xfrm>
        </p:spPr>
        <p:txBody>
          <a:bodyPr/>
          <a:lstStyle>
            <a:lvl1pPr>
              <a:spcBef>
                <a:spcPts val="1200"/>
              </a:spcBef>
              <a:spcAft>
                <a:spcPts val="600"/>
              </a:spcAft>
              <a:defRPr/>
            </a:lvl1pPr>
            <a:lvl2pPr>
              <a:spcAft>
                <a:spcPts val="600"/>
              </a:spcAft>
              <a:defRPr/>
            </a:lvl2pPr>
            <a:lvl3pPr>
              <a:spcAft>
                <a:spcPts val="600"/>
              </a:spcAft>
              <a:defRPr/>
            </a:lvl3pPr>
            <a:lvl4pPr>
              <a:spcAft>
                <a:spcPts val="600"/>
              </a:spcAft>
              <a:defRPr/>
            </a:lvl4pPr>
            <a:lvl5pPr>
              <a:spcAft>
                <a:spcPts val="600"/>
              </a:spcAft>
              <a:defRPr/>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67193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Full Image with Titl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192000" cy="6349042"/>
          </a:xfrm>
        </p:spPr>
        <p:txBody>
          <a:bodyPr/>
          <a:lstStyle/>
          <a:p>
            <a:r>
              <a:rPr lang="en-US"/>
              <a:t>Click icon to add picture</a:t>
            </a:r>
          </a:p>
        </p:txBody>
      </p:sp>
      <p:sp>
        <p:nvSpPr>
          <p:cNvPr id="6" name="Title 5"/>
          <p:cNvSpPr>
            <a:spLocks noGrp="1"/>
          </p:cNvSpPr>
          <p:nvPr>
            <p:ph type="title"/>
          </p:nvPr>
        </p:nvSpPr>
        <p:spPr>
          <a:xfrm>
            <a:off x="2" y="3"/>
            <a:ext cx="12191999" cy="1228907"/>
          </a:xfrm>
          <a:solidFill>
            <a:schemeClr val="bg1"/>
          </a:solidFill>
          <a:effectLst/>
        </p:spPr>
        <p:txBody>
          <a:bodyPr vert="horz" lIns="457200" rIns="45720" rtlCol="0" anchor="ctr" anchorCtr="0">
            <a:normAutofit/>
            <a:scene3d>
              <a:camera prst="orthographicFront"/>
              <a:lightRig rig="threePt" dir="t">
                <a:rot lat="0" lon="0" rev="4800000"/>
              </a:lightRig>
            </a:scene3d>
            <a:sp3d prstMaterial="matte"/>
          </a:bodyPr>
          <a:lstStyle>
            <a:lvl1pPr marL="233363" indent="0" algn="l" rtl="0" eaLnBrk="1" latinLnBrk="0" hangingPunct="1">
              <a:lnSpc>
                <a:spcPct val="90000"/>
              </a:lnSpc>
              <a:spcBef>
                <a:spcPct val="0"/>
              </a:spcBef>
              <a:buNone/>
              <a:defRPr kumimoji="0" lang="en-US" sz="3200" b="1" kern="1200" dirty="0">
                <a:solidFill>
                  <a:schemeClr val="accent1">
                    <a:lumMod val="75000"/>
                  </a:schemeClr>
                </a:solidFill>
                <a:effectLst/>
                <a:latin typeface="Calibri" panose="020F0502020204030204" pitchFamily="34" charset="0"/>
                <a:ea typeface="+mj-ea"/>
                <a:cs typeface="Calibri" panose="020F05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title style</a:t>
            </a:r>
          </a:p>
        </p:txBody>
      </p:sp>
    </p:spTree>
    <p:extLst>
      <p:ext uri="{BB962C8B-B14F-4D97-AF65-F5344CB8AC3E}">
        <p14:creationId xmlns:p14="http://schemas.microsoft.com/office/powerpoint/2010/main" val="4031224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8_Full Imag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192000" cy="6349042"/>
          </a:xfrm>
        </p:spPr>
        <p:txBody>
          <a:bodyPr/>
          <a:lstStyle/>
          <a:p>
            <a:r>
              <a:rPr lang="en-US"/>
              <a:t>Click icon to add picture</a:t>
            </a:r>
          </a:p>
        </p:txBody>
      </p:sp>
    </p:spTree>
    <p:extLst>
      <p:ext uri="{BB962C8B-B14F-4D97-AF65-F5344CB8AC3E}">
        <p14:creationId xmlns:p14="http://schemas.microsoft.com/office/powerpoint/2010/main" val="3471617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9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3334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0_end page">
    <p:bg>
      <p:bgPr>
        <a:solidFill>
          <a:srgbClr val="0F4F97"/>
        </a:solidFill>
        <a:effectLst/>
      </p:bgPr>
    </p:bg>
    <p:spTree>
      <p:nvGrpSpPr>
        <p:cNvPr id="1" name=""/>
        <p:cNvGrpSpPr/>
        <p:nvPr/>
      </p:nvGrpSpPr>
      <p:grpSpPr>
        <a:xfrm>
          <a:off x="0" y="0"/>
          <a:ext cx="0" cy="0"/>
          <a:chOff x="0" y="0"/>
          <a:chExt cx="0" cy="0"/>
        </a:xfrm>
      </p:grpSpPr>
      <p:pic>
        <p:nvPicPr>
          <p:cNvPr id="3" name="Picture 2" descr="LLNL_Logo_WHT-LRG.png"/>
          <p:cNvPicPr>
            <a:picLocks noChangeAspect="1"/>
          </p:cNvPicPr>
          <p:nvPr/>
        </p:nvPicPr>
        <p:blipFill>
          <a:blip r:embed="rId2"/>
          <a:stretch>
            <a:fillRect/>
          </a:stretch>
        </p:blipFill>
        <p:spPr>
          <a:xfrm>
            <a:off x="962469" y="5437487"/>
            <a:ext cx="4803648" cy="607808"/>
          </a:xfrm>
          <a:prstGeom prst="rect">
            <a:avLst/>
          </a:prstGeom>
        </p:spPr>
      </p:pic>
      <p:sp>
        <p:nvSpPr>
          <p:cNvPr id="2" name="Rectangle 1">
            <a:extLst>
              <a:ext uri="{FF2B5EF4-FFF2-40B4-BE49-F238E27FC236}">
                <a16:creationId xmlns:a16="http://schemas.microsoft.com/office/drawing/2014/main" id="{42EC27E8-8240-D345-AB2B-D499773DFD00}"/>
              </a:ext>
            </a:extLst>
          </p:cNvPr>
          <p:cNvSpPr/>
          <p:nvPr/>
        </p:nvSpPr>
        <p:spPr>
          <a:xfrm>
            <a:off x="6096000" y="5633326"/>
            <a:ext cx="4462272" cy="461665"/>
          </a:xfrm>
          <a:prstGeom prst="rect">
            <a:avLst/>
          </a:prstGeom>
        </p:spPr>
        <p:txBody>
          <a:bodyPr wrap="square">
            <a:spAutoFit/>
          </a:bodyPr>
          <a:lstStyle/>
          <a:p>
            <a:pPr marL="0" algn="l" defTabSz="457200" rtl="0" eaLnBrk="1" latinLnBrk="0" hangingPunct="1">
              <a:lnSpc>
                <a:spcPct val="100000"/>
              </a:lnSpc>
              <a:spcAft>
                <a:spcPts val="600"/>
              </a:spcAft>
            </a:pPr>
            <a:r>
              <a:rPr lang="en-US" sz="800" kern="1200">
                <a:solidFill>
                  <a:schemeClr val="bg1"/>
                </a:solidFill>
                <a:effectLst/>
                <a:latin typeface="Arial"/>
                <a:ea typeface="+mn-ea"/>
                <a:cs typeface="Arial"/>
              </a:rPr>
              <a:t>This work was performed under the auspices of the</a:t>
            </a:r>
            <a:r>
              <a:rPr lang="en-US" sz="800" kern="1200" baseline="0">
                <a:solidFill>
                  <a:schemeClr val="bg1"/>
                </a:solidFill>
                <a:effectLst/>
                <a:latin typeface="Arial"/>
                <a:ea typeface="+mn-ea"/>
                <a:cs typeface="Arial"/>
              </a:rPr>
              <a:t> </a:t>
            </a:r>
            <a:r>
              <a:rPr lang="en-US" sz="800" kern="1200">
                <a:solidFill>
                  <a:schemeClr val="bg1"/>
                </a:solidFill>
                <a:effectLst/>
                <a:latin typeface="Arial"/>
                <a:ea typeface="+mn-ea"/>
                <a:cs typeface="Arial"/>
              </a:rPr>
              <a:t>U.S. Department of Energy by Lawrence Livermore National Laboratory under contract DE-AC52-07NA27344.</a:t>
            </a:r>
            <a:r>
              <a:rPr lang="en-US" sz="800" kern="1200" baseline="0">
                <a:solidFill>
                  <a:schemeClr val="bg1"/>
                </a:solidFill>
                <a:effectLst/>
                <a:latin typeface="Arial"/>
                <a:ea typeface="+mn-ea"/>
                <a:cs typeface="Arial"/>
              </a:rPr>
              <a:t> </a:t>
            </a:r>
            <a:r>
              <a:rPr lang="en-US" sz="800" kern="1200">
                <a:solidFill>
                  <a:schemeClr val="bg1"/>
                </a:solidFill>
                <a:effectLst/>
                <a:latin typeface="Arial"/>
                <a:ea typeface="+mn-ea"/>
                <a:cs typeface="Arial"/>
              </a:rPr>
              <a:t>Lawrence Livermore National Security, LLC</a:t>
            </a:r>
          </a:p>
        </p:txBody>
      </p:sp>
      <p:pic>
        <p:nvPicPr>
          <p:cNvPr id="4" name="Picture 3" descr="LLNL_Logo_WHT-LRG.png">
            <a:extLst>
              <a:ext uri="{FF2B5EF4-FFF2-40B4-BE49-F238E27FC236}">
                <a16:creationId xmlns:a16="http://schemas.microsoft.com/office/drawing/2014/main" id="{2854C65D-47E8-1B05-1EB8-33874EC02104}"/>
              </a:ext>
            </a:extLst>
          </p:cNvPr>
          <p:cNvPicPr>
            <a:picLocks noChangeAspect="1"/>
          </p:cNvPicPr>
          <p:nvPr userDrawn="1"/>
        </p:nvPicPr>
        <p:blipFill>
          <a:blip r:embed="rId2"/>
          <a:stretch>
            <a:fillRect/>
          </a:stretch>
        </p:blipFill>
        <p:spPr>
          <a:xfrm>
            <a:off x="962469" y="5437487"/>
            <a:ext cx="4803331" cy="607768"/>
          </a:xfrm>
          <a:prstGeom prst="rect">
            <a:avLst/>
          </a:prstGeom>
        </p:spPr>
      </p:pic>
      <p:sp>
        <p:nvSpPr>
          <p:cNvPr id="5" name="Rectangle 4">
            <a:extLst>
              <a:ext uri="{FF2B5EF4-FFF2-40B4-BE49-F238E27FC236}">
                <a16:creationId xmlns:a16="http://schemas.microsoft.com/office/drawing/2014/main" id="{77627254-2374-03D3-3FEF-ADB0CAB98BF9}"/>
              </a:ext>
            </a:extLst>
          </p:cNvPr>
          <p:cNvSpPr/>
          <p:nvPr userDrawn="1"/>
        </p:nvSpPr>
        <p:spPr>
          <a:xfrm>
            <a:off x="6096000" y="5633326"/>
            <a:ext cx="4462272" cy="461665"/>
          </a:xfrm>
          <a:prstGeom prst="rect">
            <a:avLst/>
          </a:prstGeom>
        </p:spPr>
        <p:txBody>
          <a:bodyPr wrap="square">
            <a:spAutoFit/>
          </a:bodyPr>
          <a:lstStyle/>
          <a:p>
            <a:pPr marL="0" algn="l" defTabSz="457200" rtl="0" eaLnBrk="1" latinLnBrk="0" hangingPunct="1">
              <a:lnSpc>
                <a:spcPct val="100000"/>
              </a:lnSpc>
              <a:spcAft>
                <a:spcPts val="600"/>
              </a:spcAft>
            </a:pPr>
            <a:r>
              <a:rPr lang="en-US" sz="800" kern="1200">
                <a:solidFill>
                  <a:schemeClr val="bg1"/>
                </a:solidFill>
                <a:effectLst/>
                <a:latin typeface="Arial"/>
                <a:ea typeface="+mn-ea"/>
                <a:cs typeface="Arial"/>
              </a:rPr>
              <a:t>This work was performed under the auspices of the</a:t>
            </a:r>
            <a:r>
              <a:rPr lang="en-US" sz="800" kern="1200" baseline="0">
                <a:solidFill>
                  <a:schemeClr val="bg1"/>
                </a:solidFill>
                <a:effectLst/>
                <a:latin typeface="Arial"/>
                <a:ea typeface="+mn-ea"/>
                <a:cs typeface="Arial"/>
              </a:rPr>
              <a:t> </a:t>
            </a:r>
            <a:r>
              <a:rPr lang="en-US" sz="800" kern="1200">
                <a:solidFill>
                  <a:schemeClr val="bg1"/>
                </a:solidFill>
                <a:effectLst/>
                <a:latin typeface="Arial"/>
                <a:ea typeface="+mn-ea"/>
                <a:cs typeface="Arial"/>
              </a:rPr>
              <a:t>U.S. Department of Energy by Lawrence Livermore National Laboratory under contract DE-AC52-07NA27344.</a:t>
            </a:r>
            <a:r>
              <a:rPr lang="en-US" sz="800" kern="1200" baseline="0">
                <a:solidFill>
                  <a:schemeClr val="bg1"/>
                </a:solidFill>
                <a:effectLst/>
                <a:latin typeface="Arial"/>
                <a:ea typeface="+mn-ea"/>
                <a:cs typeface="Arial"/>
              </a:rPr>
              <a:t> </a:t>
            </a:r>
            <a:r>
              <a:rPr lang="en-US" sz="800" kern="1200">
                <a:solidFill>
                  <a:schemeClr val="bg1"/>
                </a:solidFill>
                <a:effectLst/>
                <a:latin typeface="Arial"/>
                <a:ea typeface="+mn-ea"/>
                <a:cs typeface="Arial"/>
              </a:rPr>
              <a:t>Lawrence Livermore National Security, LLC</a:t>
            </a:r>
          </a:p>
        </p:txBody>
      </p:sp>
      <p:sp>
        <p:nvSpPr>
          <p:cNvPr id="6" name="Rectangle 5">
            <a:extLst>
              <a:ext uri="{FF2B5EF4-FFF2-40B4-BE49-F238E27FC236}">
                <a16:creationId xmlns:a16="http://schemas.microsoft.com/office/drawing/2014/main" id="{44113EFE-E4CB-A26B-B6CC-E9CEC24318E1}"/>
              </a:ext>
            </a:extLst>
          </p:cNvPr>
          <p:cNvSpPr/>
          <p:nvPr userDrawn="1"/>
        </p:nvSpPr>
        <p:spPr>
          <a:xfrm>
            <a:off x="6096001" y="4087386"/>
            <a:ext cx="5314121" cy="1446550"/>
          </a:xfrm>
          <a:prstGeom prst="rect">
            <a:avLst/>
          </a:prstGeom>
        </p:spPr>
        <p:txBody>
          <a:bodyPr wrap="square" anchor="b" anchorCtr="0">
            <a:spAutoFit/>
          </a:bodyPr>
          <a:lstStyle/>
          <a:p>
            <a:r>
              <a:rPr lang="en-US" sz="800" b="1">
                <a:solidFill>
                  <a:schemeClr val="bg1"/>
                </a:solidFill>
              </a:rPr>
              <a:t>Disclaimer</a:t>
            </a:r>
          </a:p>
          <a:p>
            <a:r>
              <a:rPr lang="en-US" sz="800">
                <a:solidFill>
                  <a:schemeClr val="bg1"/>
                </a:solidFill>
              </a:rPr>
              <a:t>This document was prepared as an account of work sponsored by an agency of the United States government. Neither the United States government nor Lawrence Livermore National Security, LLC, nor any of their employees makes any warranty, expressed or implied, or assumes any legal liability or responsibility for the accuracy, completeness, or usefulness of any information, apparatus, product, or process disclosed, or represents that its use would not infringe privately owned rights. Reference herein to any specific commercial product, process, or service by trade name, trademark, manufacturer, or otherwise does not necessarily constitute or imply its endorsement, recommendation, or favoring by the United States government or Lawrence Livermore National Security, LLC. The views and opinions of authors expressed herein do not necessarily state or reflect those of the United States government or Lawrence Livermore National Security, LLC, and shall not be used for advertising or product endorsement purposes.</a:t>
            </a:r>
            <a:endParaRPr lang="en-US" sz="1050" b="0" i="0">
              <a:solidFill>
                <a:schemeClr val="bg1"/>
              </a:solidFill>
              <a:effectLst/>
              <a:latin typeface="Open Sans" panose="020B0606030504020204" pitchFamily="34" charset="0"/>
            </a:endParaRPr>
          </a:p>
        </p:txBody>
      </p:sp>
    </p:spTree>
    <p:extLst>
      <p:ext uri="{BB962C8B-B14F-4D97-AF65-F5344CB8AC3E}">
        <p14:creationId xmlns:p14="http://schemas.microsoft.com/office/powerpoint/2010/main" val="169815632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7FDEBB6-C3FB-D648-98C3-EDEF6C588D6D}"/>
              </a:ext>
            </a:extLst>
          </p:cNvPr>
          <p:cNvSpPr/>
          <p:nvPr userDrawn="1"/>
        </p:nvSpPr>
        <p:spPr>
          <a:xfrm>
            <a:off x="-4571" y="6321584"/>
            <a:ext cx="12204700" cy="544880"/>
          </a:xfrm>
          <a:prstGeom prst="rect">
            <a:avLst/>
          </a:prstGeom>
          <a:gradFill flip="none" rotWithShape="1">
            <a:gsLst>
              <a:gs pos="100000">
                <a:srgbClr val="294861"/>
              </a:gs>
              <a:gs pos="88000">
                <a:schemeClr val="accent1">
                  <a:lumMod val="50000"/>
                </a:schemeClr>
              </a:gs>
              <a:gs pos="21000">
                <a:srgbClr val="4388B8"/>
              </a:gs>
            </a:gsLst>
            <a:lin ang="16200000" scaled="1"/>
            <a:tileRect/>
          </a:gradFill>
          <a:ln>
            <a:noFill/>
          </a:ln>
          <a:effectLst>
            <a:outerShdw blurRad="50800" dist="38100" dir="16200000"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r"/>
            <a:endParaRPr lang="en-US" sz="1800">
              <a:latin typeface="Arial"/>
            </a:endParaRP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4" y="3574554"/>
            <a:ext cx="12190993" cy="2742973"/>
          </a:xfrm>
          <a:prstGeom prst="rect">
            <a:avLst/>
          </a:prstGeom>
        </p:spPr>
      </p:pic>
      <p:sp>
        <p:nvSpPr>
          <p:cNvPr id="10" name="Title 9"/>
          <p:cNvSpPr>
            <a:spLocks noGrp="1"/>
          </p:cNvSpPr>
          <p:nvPr>
            <p:ph type="title" hasCustomPrompt="1"/>
          </p:nvPr>
        </p:nvSpPr>
        <p:spPr>
          <a:xfrm>
            <a:off x="609600" y="565126"/>
            <a:ext cx="10972800" cy="1447576"/>
          </a:xfrm>
        </p:spPr>
        <p:txBody>
          <a:bodyPr anchor="b" anchorCtr="0"/>
          <a:lstStyle>
            <a:lvl1pPr>
              <a:lnSpc>
                <a:spcPts val="3800"/>
              </a:lnSpc>
              <a:defRPr sz="3600" b="1" i="0">
                <a:solidFill>
                  <a:schemeClr val="accent1">
                    <a:lumMod val="75000"/>
                  </a:schemeClr>
                </a:solidFill>
                <a:effectLst/>
                <a:latin typeface="Arial"/>
                <a:cs typeface="Arial"/>
              </a:defRPr>
            </a:lvl1pPr>
          </a:lstStyle>
          <a:p>
            <a:r>
              <a:rPr lang="en-US"/>
              <a:t>Click to edit </a:t>
            </a:r>
            <a:br>
              <a:rPr lang="en-US"/>
            </a:br>
            <a:r>
              <a:rPr lang="en-US"/>
              <a:t>Master title style</a:t>
            </a:r>
          </a:p>
        </p:txBody>
      </p:sp>
      <p:sp>
        <p:nvSpPr>
          <p:cNvPr id="12" name="Text Placeholder 11"/>
          <p:cNvSpPr>
            <a:spLocks noGrp="1"/>
          </p:cNvSpPr>
          <p:nvPr>
            <p:ph type="body" sz="quarter" idx="13"/>
          </p:nvPr>
        </p:nvSpPr>
        <p:spPr>
          <a:xfrm>
            <a:off x="609601" y="2024863"/>
            <a:ext cx="7505699" cy="369888"/>
          </a:xfrm>
        </p:spPr>
        <p:txBody>
          <a:bodyPr>
            <a:noAutofit/>
          </a:bodyPr>
          <a:lstStyle>
            <a:lvl1pPr>
              <a:lnSpc>
                <a:spcPts val="2200"/>
              </a:lnSpc>
              <a:buNone/>
              <a:defRPr sz="2000" b="0">
                <a:latin typeface="Arial"/>
                <a:cs typeface="Arial"/>
              </a:defRPr>
            </a:lvl1pPr>
            <a:lvl2pPr>
              <a:buNone/>
              <a:defRPr/>
            </a:lvl2pPr>
            <a:lvl3pPr>
              <a:buNone/>
              <a:defRPr/>
            </a:lvl3pPr>
            <a:lvl4pPr>
              <a:buNone/>
              <a:defRPr/>
            </a:lvl4pPr>
            <a:lvl5pPr>
              <a:buNone/>
              <a:defRPr/>
            </a:lvl5pPr>
          </a:lstStyle>
          <a:p>
            <a:pPr lvl="0"/>
            <a:r>
              <a:rPr lang="en-US"/>
              <a:t>Click to edit Master text styles</a:t>
            </a:r>
          </a:p>
        </p:txBody>
      </p:sp>
      <p:sp>
        <p:nvSpPr>
          <p:cNvPr id="3" name="Text Placeholder 2"/>
          <p:cNvSpPr>
            <a:spLocks noGrp="1"/>
          </p:cNvSpPr>
          <p:nvPr>
            <p:ph type="body" sz="quarter" idx="14" hasCustomPrompt="1"/>
          </p:nvPr>
        </p:nvSpPr>
        <p:spPr>
          <a:xfrm>
            <a:off x="6096001" y="3096715"/>
            <a:ext cx="6096000" cy="477838"/>
          </a:xfrm>
        </p:spPr>
        <p:txBody>
          <a:bodyPr rIns="182880" anchor="b" anchorCtr="0">
            <a:noAutofit/>
          </a:bodyPr>
          <a:lstStyle>
            <a:lvl1pPr marL="57150" indent="0" algn="r">
              <a:spcBef>
                <a:spcPts val="0"/>
              </a:spcBef>
              <a:buNone/>
              <a:defRPr sz="1600" b="0"/>
            </a:lvl1pPr>
            <a:lvl2pPr marL="342900" indent="0" algn="r">
              <a:buNone/>
              <a:defRPr sz="1600" b="0"/>
            </a:lvl2pPr>
            <a:lvl3pPr marL="628650" indent="0" algn="r">
              <a:buNone/>
              <a:defRPr sz="1600" b="0"/>
            </a:lvl3pPr>
            <a:lvl4pPr marL="857250" indent="0" algn="r">
              <a:buNone/>
              <a:defRPr sz="1600" b="0"/>
            </a:lvl4pPr>
            <a:lvl5pPr marL="1085850" indent="0" algn="r">
              <a:buNone/>
              <a:defRPr sz="1600" b="0"/>
            </a:lvl5pPr>
          </a:lstStyle>
          <a:p>
            <a:pPr lvl="0"/>
            <a:r>
              <a:rPr lang="en-US"/>
              <a:t>Authors Name</a:t>
            </a:r>
          </a:p>
          <a:p>
            <a:pPr lvl="0"/>
            <a:r>
              <a:rPr lang="en-US"/>
              <a:t>Title</a:t>
            </a:r>
          </a:p>
        </p:txBody>
      </p:sp>
      <p:sp>
        <p:nvSpPr>
          <p:cNvPr id="14" name="TextBox 13"/>
          <p:cNvSpPr txBox="1"/>
          <p:nvPr userDrawn="1"/>
        </p:nvSpPr>
        <p:spPr>
          <a:xfrm>
            <a:off x="91180" y="6416001"/>
            <a:ext cx="6004819" cy="203133"/>
          </a:xfrm>
          <a:prstGeom prst="rect">
            <a:avLst/>
          </a:prstGeom>
          <a:noFill/>
          <a:effectLst/>
        </p:spPr>
        <p:txBody>
          <a:bodyPr wrap="square" rtlCol="0">
            <a:spAutoFit/>
          </a:bodyPr>
          <a:lstStyle/>
          <a:p>
            <a:pPr marL="0" algn="l" defTabSz="457200" rtl="0" eaLnBrk="1" latinLnBrk="0" hangingPunct="1">
              <a:lnSpc>
                <a:spcPct val="90000"/>
              </a:lnSpc>
              <a:spcAft>
                <a:spcPts val="300"/>
              </a:spcAft>
            </a:pPr>
            <a:r>
              <a:rPr lang="en-US" sz="800" kern="1200" dirty="0">
                <a:solidFill>
                  <a:schemeClr val="bg1"/>
                </a:solidFill>
                <a:effectLst/>
                <a:latin typeface="Arial"/>
                <a:ea typeface="+mn-ea"/>
                <a:cs typeface="Arial"/>
              </a:rPr>
              <a:t>LLNL-PRES-2017779</a:t>
            </a:r>
          </a:p>
        </p:txBody>
      </p:sp>
      <p:pic>
        <p:nvPicPr>
          <p:cNvPr id="18" name="Picture 17" descr="LLNL_Logo_WHT-LRG.png"/>
          <p:cNvPicPr>
            <a:picLocks noChangeAspect="1"/>
          </p:cNvPicPr>
          <p:nvPr userDrawn="1"/>
        </p:nvPicPr>
        <p:blipFill>
          <a:blip r:embed="rId3"/>
          <a:stretch>
            <a:fillRect/>
          </a:stretch>
        </p:blipFill>
        <p:spPr>
          <a:xfrm>
            <a:off x="9276082" y="6446832"/>
            <a:ext cx="2486941" cy="314676"/>
          </a:xfrm>
          <a:prstGeom prst="rect">
            <a:avLst/>
          </a:prstGeom>
        </p:spPr>
      </p:pic>
      <p:sp>
        <p:nvSpPr>
          <p:cNvPr id="20" name="Rectangle 19"/>
          <p:cNvSpPr/>
          <p:nvPr userDrawn="1"/>
        </p:nvSpPr>
        <p:spPr>
          <a:xfrm>
            <a:off x="0" y="0"/>
            <a:ext cx="12192000" cy="112889"/>
          </a:xfrm>
          <a:prstGeom prst="rect">
            <a:avLst/>
          </a:prstGeom>
          <a:solidFill>
            <a:schemeClr val="accent1">
              <a:lumMod val="75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800">
              <a:latin typeface="Arial"/>
            </a:endParaRPr>
          </a:p>
        </p:txBody>
      </p:sp>
    </p:spTree>
    <p:extLst>
      <p:ext uri="{BB962C8B-B14F-4D97-AF65-F5344CB8AC3E}">
        <p14:creationId xmlns:p14="http://schemas.microsoft.com/office/powerpoint/2010/main" val="37780006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1_end page">
    <p:bg>
      <p:bgPr>
        <a:solidFill>
          <a:srgbClr val="0F4F97"/>
        </a:solidFill>
        <a:effectLst/>
      </p:bgPr>
    </p:bg>
    <p:spTree>
      <p:nvGrpSpPr>
        <p:cNvPr id="1" name=""/>
        <p:cNvGrpSpPr/>
        <p:nvPr/>
      </p:nvGrpSpPr>
      <p:grpSpPr>
        <a:xfrm>
          <a:off x="0" y="0"/>
          <a:ext cx="0" cy="0"/>
          <a:chOff x="0" y="0"/>
          <a:chExt cx="0" cy="0"/>
        </a:xfrm>
      </p:grpSpPr>
      <p:pic>
        <p:nvPicPr>
          <p:cNvPr id="3" name="Picture 2" descr="LLNL_Logo_WHT-LRG.png"/>
          <p:cNvPicPr>
            <a:picLocks noChangeAspect="1"/>
          </p:cNvPicPr>
          <p:nvPr userDrawn="1"/>
        </p:nvPicPr>
        <p:blipFill>
          <a:blip r:embed="rId2"/>
          <a:stretch>
            <a:fillRect/>
          </a:stretch>
        </p:blipFill>
        <p:spPr>
          <a:xfrm>
            <a:off x="962469" y="5437487"/>
            <a:ext cx="4803331" cy="607768"/>
          </a:xfrm>
          <a:prstGeom prst="rect">
            <a:avLst/>
          </a:prstGeom>
        </p:spPr>
      </p:pic>
      <p:sp>
        <p:nvSpPr>
          <p:cNvPr id="4" name="Rectangle 3">
            <a:extLst>
              <a:ext uri="{FF2B5EF4-FFF2-40B4-BE49-F238E27FC236}">
                <a16:creationId xmlns:a16="http://schemas.microsoft.com/office/drawing/2014/main" id="{3BFF9B5A-6017-654B-8543-A03D3076A3A9}"/>
              </a:ext>
            </a:extLst>
          </p:cNvPr>
          <p:cNvSpPr/>
          <p:nvPr userDrawn="1"/>
        </p:nvSpPr>
        <p:spPr>
          <a:xfrm>
            <a:off x="6096000" y="5633326"/>
            <a:ext cx="4462272" cy="461665"/>
          </a:xfrm>
          <a:prstGeom prst="rect">
            <a:avLst/>
          </a:prstGeom>
        </p:spPr>
        <p:txBody>
          <a:bodyPr wrap="square">
            <a:spAutoFit/>
          </a:bodyPr>
          <a:lstStyle/>
          <a:p>
            <a:pPr marL="0" algn="l" defTabSz="457200" rtl="0" eaLnBrk="1" latinLnBrk="0" hangingPunct="1">
              <a:lnSpc>
                <a:spcPct val="100000"/>
              </a:lnSpc>
              <a:spcAft>
                <a:spcPts val="600"/>
              </a:spcAft>
            </a:pPr>
            <a:r>
              <a:rPr lang="en-US" sz="800" kern="1200">
                <a:solidFill>
                  <a:schemeClr val="bg1"/>
                </a:solidFill>
                <a:effectLst/>
                <a:latin typeface="Arial"/>
                <a:ea typeface="+mn-ea"/>
                <a:cs typeface="Arial"/>
              </a:rPr>
              <a:t>This work was performed under the auspices of the</a:t>
            </a:r>
            <a:r>
              <a:rPr lang="en-US" sz="800" kern="1200" baseline="0">
                <a:solidFill>
                  <a:schemeClr val="bg1"/>
                </a:solidFill>
                <a:effectLst/>
                <a:latin typeface="Arial"/>
                <a:ea typeface="+mn-ea"/>
                <a:cs typeface="Arial"/>
              </a:rPr>
              <a:t> </a:t>
            </a:r>
            <a:r>
              <a:rPr lang="en-US" sz="800" kern="1200">
                <a:solidFill>
                  <a:schemeClr val="bg1"/>
                </a:solidFill>
                <a:effectLst/>
                <a:latin typeface="Arial"/>
                <a:ea typeface="+mn-ea"/>
                <a:cs typeface="Arial"/>
              </a:rPr>
              <a:t>U.S. Department of Energy by Lawrence Livermore National Laboratory under contract DE-AC52-07NA27344.</a:t>
            </a:r>
            <a:r>
              <a:rPr lang="en-US" sz="800" kern="1200" baseline="0">
                <a:solidFill>
                  <a:schemeClr val="bg1"/>
                </a:solidFill>
                <a:effectLst/>
                <a:latin typeface="Arial"/>
                <a:ea typeface="+mn-ea"/>
                <a:cs typeface="Arial"/>
              </a:rPr>
              <a:t> </a:t>
            </a:r>
            <a:r>
              <a:rPr lang="en-US" sz="800" kern="1200">
                <a:solidFill>
                  <a:schemeClr val="bg1"/>
                </a:solidFill>
                <a:effectLst/>
                <a:latin typeface="Arial"/>
                <a:ea typeface="+mn-ea"/>
                <a:cs typeface="Arial"/>
              </a:rPr>
              <a:t>Lawrence Livermore National Security, LLC</a:t>
            </a:r>
          </a:p>
        </p:txBody>
      </p:sp>
      <p:sp>
        <p:nvSpPr>
          <p:cNvPr id="5" name="Rectangle 4">
            <a:extLst>
              <a:ext uri="{FF2B5EF4-FFF2-40B4-BE49-F238E27FC236}">
                <a16:creationId xmlns:a16="http://schemas.microsoft.com/office/drawing/2014/main" id="{51390CDD-72D9-0B42-B5EC-E2E8770E252C}"/>
              </a:ext>
            </a:extLst>
          </p:cNvPr>
          <p:cNvSpPr/>
          <p:nvPr userDrawn="1"/>
        </p:nvSpPr>
        <p:spPr>
          <a:xfrm>
            <a:off x="6096001" y="4087386"/>
            <a:ext cx="5314121" cy="1446550"/>
          </a:xfrm>
          <a:prstGeom prst="rect">
            <a:avLst/>
          </a:prstGeom>
        </p:spPr>
        <p:txBody>
          <a:bodyPr wrap="square" anchor="b" anchorCtr="0">
            <a:spAutoFit/>
          </a:bodyPr>
          <a:lstStyle/>
          <a:p>
            <a:r>
              <a:rPr lang="en-US" sz="800" b="1">
                <a:solidFill>
                  <a:schemeClr val="bg1"/>
                </a:solidFill>
              </a:rPr>
              <a:t>Disclaimer</a:t>
            </a:r>
          </a:p>
          <a:p>
            <a:r>
              <a:rPr lang="en-US" sz="800">
                <a:solidFill>
                  <a:schemeClr val="bg1"/>
                </a:solidFill>
              </a:rPr>
              <a:t>This document was prepared as an account of work sponsored by an agency of the United States government. Neither the United States government nor Lawrence Livermore National Security, LLC, nor any of their employees makes any warranty, expressed or implied, or assumes any legal liability or responsibility for the accuracy, completeness, or usefulness of any information, apparatus, product, or process disclosed, or represents that its use would not infringe privately owned rights. Reference herein to any specific commercial product, process, or service by trade name, trademark, manufacturer, or otherwise does not necessarily constitute or imply its endorsement, recommendation, or favoring by the United States government or Lawrence Livermore National Security, LLC. The views and opinions of authors expressed herein do not necessarily state or reflect those of the United States government or Lawrence Livermore National Security, LLC, and shall not be used for advertising or product endorsement purposes.</a:t>
            </a:r>
            <a:endParaRPr lang="en-US" sz="1050" b="0" i="0">
              <a:solidFill>
                <a:schemeClr val="bg1"/>
              </a:solidFill>
              <a:effectLst/>
              <a:latin typeface="Open Sans" panose="020B0606030504020204" pitchFamily="34" charset="0"/>
            </a:endParaRPr>
          </a:p>
        </p:txBody>
      </p:sp>
    </p:spTree>
    <p:extLst>
      <p:ext uri="{BB962C8B-B14F-4D97-AF65-F5344CB8AC3E}">
        <p14:creationId xmlns:p14="http://schemas.microsoft.com/office/powerpoint/2010/main" val="1771134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Rectangle 19"/>
          <p:cNvSpPr/>
          <p:nvPr/>
        </p:nvSpPr>
        <p:spPr>
          <a:xfrm>
            <a:off x="0" y="6355080"/>
            <a:ext cx="12192000" cy="502920"/>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Ins="0" rtlCol="0" anchor="ctr"/>
          <a:lstStyle/>
          <a:p>
            <a:pPr algn="ctr"/>
            <a:endParaRPr lang="en-US" sz="1800">
              <a:latin typeface="Arial"/>
            </a:endParaRPr>
          </a:p>
        </p:txBody>
      </p:sp>
      <p:sp>
        <p:nvSpPr>
          <p:cNvPr id="3" name="Text Placeholder 2"/>
          <p:cNvSpPr>
            <a:spLocks noGrp="1"/>
          </p:cNvSpPr>
          <p:nvPr>
            <p:ph type="body" idx="1"/>
          </p:nvPr>
        </p:nvSpPr>
        <p:spPr>
          <a:xfrm>
            <a:off x="609600" y="1441524"/>
            <a:ext cx="10972800" cy="4906889"/>
          </a:xfrm>
          <a:prstGeom prst="rect">
            <a:avLst/>
          </a:prstGeom>
        </p:spPr>
        <p:txBody>
          <a:bodyPr vert="horz" lIns="0" tIns="0" rIns="0" bIns="0" rtlCol="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Rectangle 9"/>
          <p:cNvSpPr/>
          <p:nvPr/>
        </p:nvSpPr>
        <p:spPr bwMode="invGray">
          <a:xfrm>
            <a:off x="1" y="6355080"/>
            <a:ext cx="12192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latin typeface="Arial"/>
            </a:endParaRPr>
          </a:p>
        </p:txBody>
      </p:sp>
      <p:sp>
        <p:nvSpPr>
          <p:cNvPr id="19" name="Slide Number Placeholder 7"/>
          <p:cNvSpPr txBox="1">
            <a:spLocks/>
          </p:cNvSpPr>
          <p:nvPr/>
        </p:nvSpPr>
        <p:spPr>
          <a:xfrm>
            <a:off x="11768166" y="6403255"/>
            <a:ext cx="423836" cy="454747"/>
          </a:xfrm>
          <a:prstGeom prst="rect">
            <a:avLst/>
          </a:prstGeom>
        </p:spPr>
        <p:txBody>
          <a:bodyPr rIns="45720" anchor="ctr" anchorCtr="0"/>
          <a:lstStyle/>
          <a:p>
            <a:pPr marL="0" marR="0" lvl="0" indent="0" algn="r" defTabSz="457200" rtl="0" eaLnBrk="1" fontAlgn="auto" latinLnBrk="0" hangingPunct="1">
              <a:lnSpc>
                <a:spcPct val="100000"/>
              </a:lnSpc>
              <a:spcBef>
                <a:spcPts val="0"/>
              </a:spcBef>
              <a:spcAft>
                <a:spcPts val="0"/>
              </a:spcAft>
              <a:buClrTx/>
              <a:buSzTx/>
              <a:buFontTx/>
              <a:buNone/>
              <a:tabLst/>
              <a:defRPr/>
            </a:pPr>
            <a:fld id="{EAD690BD-BADF-4FBD-97E7-557E707EBBB2}" type="slidenum">
              <a:rPr kumimoji="0" lang="en-US" sz="1000" b="0" i="0" u="none" strike="noStrike" kern="1200" cap="none" spc="0" normalizeH="0" baseline="0" noProof="0" smtClean="0">
                <a:ln>
                  <a:noFill/>
                </a:ln>
                <a:solidFill>
                  <a:schemeClr val="tx1">
                    <a:lumMod val="65000"/>
                    <a:lumOff val="35000"/>
                  </a:schemeClr>
                </a:solidFill>
                <a:effectLst/>
                <a:uLnTx/>
                <a:uFillTx/>
                <a:latin typeface="Calibri" panose="020F0502020204030204" pitchFamily="34" charset="0"/>
                <a:ea typeface="+mn-ea"/>
                <a:cs typeface="Calibri" panose="020F050202020403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chemeClr val="tx1">
                  <a:lumMod val="65000"/>
                  <a:lumOff val="35000"/>
                </a:schemeClr>
              </a:solidFill>
              <a:effectLst/>
              <a:uLnTx/>
              <a:uFillTx/>
              <a:latin typeface="Calibri" panose="020F0502020204030204" pitchFamily="34" charset="0"/>
              <a:ea typeface="+mn-ea"/>
              <a:cs typeface="Calibri" panose="020F0502020204030204" pitchFamily="34" charset="0"/>
            </a:endParaRPr>
          </a:p>
        </p:txBody>
      </p:sp>
      <p:sp>
        <p:nvSpPr>
          <p:cNvPr id="2" name="Title Placeholder 1"/>
          <p:cNvSpPr>
            <a:spLocks noGrp="1"/>
          </p:cNvSpPr>
          <p:nvPr>
            <p:ph type="title"/>
          </p:nvPr>
        </p:nvSpPr>
        <p:spPr>
          <a:xfrm>
            <a:off x="609600" y="220136"/>
            <a:ext cx="10972800" cy="1005840"/>
          </a:xfrm>
          <a:prstGeom prst="rect">
            <a:avLst/>
          </a:prstGeom>
          <a:effectLst/>
        </p:spPr>
        <p:txBody>
          <a:bodyPr vert="horz" lIns="0" rIns="45720" rtlCol="0" anchor="ctr" anchorCtr="0">
            <a:noAutofit/>
            <a:scene3d>
              <a:camera prst="orthographicFront"/>
              <a:lightRig rig="threePt" dir="t">
                <a:rot lat="0" lon="0" rev="4800000"/>
              </a:lightRig>
            </a:scene3d>
            <a:sp3d prstMaterial="matte"/>
          </a:bodyPr>
          <a:lstStyle/>
          <a:p>
            <a:r>
              <a:rPr kumimoji="0" lang="en-US"/>
              <a:t>Click to edit Master title style</a:t>
            </a:r>
          </a:p>
        </p:txBody>
      </p:sp>
      <p:cxnSp>
        <p:nvCxnSpPr>
          <p:cNvPr id="5" name="Straight Connector 4"/>
          <p:cNvCxnSpPr/>
          <p:nvPr/>
        </p:nvCxnSpPr>
        <p:spPr>
          <a:xfrm>
            <a:off x="-8077" y="1267155"/>
            <a:ext cx="12200079" cy="0"/>
          </a:xfrm>
          <a:prstGeom prst="line">
            <a:avLst/>
          </a:prstGeom>
          <a:ln w="38100" cmpd="sng">
            <a:solidFill>
              <a:schemeClr val="accent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A54311BD-8720-D040-927F-1192591CB67C}"/>
              </a:ext>
            </a:extLst>
          </p:cNvPr>
          <p:cNvPicPr>
            <a:picLocks noChangeAspect="1"/>
          </p:cNvPicPr>
          <p:nvPr/>
        </p:nvPicPr>
        <p:blipFill rotWithShape="1">
          <a:blip r:embed="rId14" cstate="print">
            <a:extLst>
              <a:ext uri="{28A0092B-C50C-407E-A947-70E740481C1C}">
                <a14:useLocalDpi xmlns:a14="http://schemas.microsoft.com/office/drawing/2010/main"/>
              </a:ext>
            </a:extLst>
          </a:blip>
          <a:srcRect/>
          <a:stretch/>
        </p:blipFill>
        <p:spPr>
          <a:xfrm>
            <a:off x="10546080" y="6446520"/>
            <a:ext cx="1304544" cy="374904"/>
          </a:xfrm>
          <a:prstGeom prst="rect">
            <a:avLst/>
          </a:prstGeom>
        </p:spPr>
      </p:pic>
      <p:sp>
        <p:nvSpPr>
          <p:cNvPr id="12" name="TextBox 11">
            <a:extLst>
              <a:ext uri="{FF2B5EF4-FFF2-40B4-BE49-F238E27FC236}">
                <a16:creationId xmlns:a16="http://schemas.microsoft.com/office/drawing/2014/main" id="{977B53EC-4316-1C4C-A9E5-1C5A7B34DAA4}"/>
              </a:ext>
            </a:extLst>
          </p:cNvPr>
          <p:cNvSpPr txBox="1"/>
          <p:nvPr/>
        </p:nvSpPr>
        <p:spPr>
          <a:xfrm>
            <a:off x="651770" y="6733641"/>
            <a:ext cx="1165161" cy="92333"/>
          </a:xfrm>
          <a:prstGeom prst="rect">
            <a:avLst/>
          </a:prstGeom>
          <a:noFill/>
        </p:spPr>
        <p:txBody>
          <a:bodyPr wrap="square" lIns="0" tIns="0" rIns="0" bIns="0" rtlCol="0" anchor="b" anchorCtr="0">
            <a:spAutoFit/>
          </a:bodyPr>
          <a:lstStyle/>
          <a:p>
            <a:pPr algn="l"/>
            <a:r>
              <a:rPr lang="en-US" sz="600" dirty="0">
                <a:latin typeface="Arial"/>
                <a:cs typeface="Arial"/>
              </a:rPr>
              <a:t>LLNL-PRES-2017779</a:t>
            </a:r>
          </a:p>
        </p:txBody>
      </p:sp>
      <p:pic>
        <p:nvPicPr>
          <p:cNvPr id="13" name="Picture 12">
            <a:extLst>
              <a:ext uri="{FF2B5EF4-FFF2-40B4-BE49-F238E27FC236}">
                <a16:creationId xmlns:a16="http://schemas.microsoft.com/office/drawing/2014/main" id="{575C4C60-9D6D-5B4C-B3D3-9B04CACEA5E6}"/>
              </a:ext>
            </a:extLst>
          </p:cNvPr>
          <p:cNvPicPr>
            <a:picLocks noChangeAspect="1"/>
          </p:cNvPicPr>
          <p:nvPr/>
        </p:nvPicPr>
        <p:blipFill>
          <a:blip r:embed="rId15"/>
          <a:stretch>
            <a:fillRect/>
          </a:stretch>
        </p:blipFill>
        <p:spPr>
          <a:xfrm>
            <a:off x="301235" y="6470898"/>
            <a:ext cx="2001699" cy="257361"/>
          </a:xfrm>
          <a:prstGeom prst="rect">
            <a:avLst/>
          </a:prstGeom>
        </p:spPr>
      </p:pic>
    </p:spTree>
    <p:extLst>
      <p:ext uri="{BB962C8B-B14F-4D97-AF65-F5344CB8AC3E}">
        <p14:creationId xmlns:p14="http://schemas.microsoft.com/office/powerpoint/2010/main" val="2759823788"/>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72" r:id="rId11"/>
    <p:sldLayoutId id="2147483673" r:id="rId12"/>
  </p:sldLayoutIdLst>
  <p:txStyles>
    <p:titleStyle>
      <a:lvl1pPr algn="l" rtl="0" eaLnBrk="1" latinLnBrk="0" hangingPunct="1">
        <a:lnSpc>
          <a:spcPct val="90000"/>
        </a:lnSpc>
        <a:spcBef>
          <a:spcPct val="0"/>
        </a:spcBef>
        <a:buNone/>
        <a:defRPr kumimoji="0" sz="3200" b="1" kern="1200">
          <a:solidFill>
            <a:schemeClr val="accent1">
              <a:lumMod val="75000"/>
            </a:schemeClr>
          </a:solidFill>
          <a:effectLst/>
          <a:latin typeface="Calibri" panose="020F0502020204030204" pitchFamily="34" charset="0"/>
          <a:ea typeface="+mj-ea"/>
          <a:cs typeface="Calibri" panose="020F0502020204030204" pitchFamily="34" charset="0"/>
        </a:defRPr>
      </a:lvl1pPr>
    </p:titleStyle>
    <p:bodyStyle>
      <a:lvl1pPr marL="285750" indent="-228600" algn="l" rtl="0" eaLnBrk="1" latinLnBrk="0" hangingPunct="1">
        <a:spcBef>
          <a:spcPts val="1800"/>
        </a:spcBef>
        <a:spcAft>
          <a:spcPts val="0"/>
        </a:spcAft>
        <a:buClr>
          <a:schemeClr val="accent1">
            <a:lumMod val="75000"/>
          </a:schemeClr>
        </a:buClr>
        <a:buSzPct val="90000"/>
        <a:buFont typeface="Wingdings" charset="2"/>
        <a:buChar char="§"/>
        <a:tabLst/>
        <a:defRPr kumimoji="0" sz="2400" b="0" kern="1200">
          <a:solidFill>
            <a:schemeClr val="tx1"/>
          </a:solidFill>
          <a:latin typeface="Calibri" panose="020F0502020204030204" pitchFamily="34" charset="0"/>
          <a:ea typeface="+mn-ea"/>
          <a:cs typeface="Calibri" panose="020F0502020204030204" pitchFamily="34" charset="0"/>
        </a:defRPr>
      </a:lvl1pPr>
      <a:lvl2pPr marL="628650" indent="-285750" algn="l" rtl="0" eaLnBrk="1" latinLnBrk="0" hangingPunct="1">
        <a:spcBef>
          <a:spcPts val="0"/>
        </a:spcBef>
        <a:spcAft>
          <a:spcPts val="0"/>
        </a:spcAft>
        <a:buClrTx/>
        <a:buSzPct val="90000"/>
        <a:buFont typeface="Calibri" panose="020F0502020204030204" pitchFamily="34" charset="0"/>
        <a:buChar char="—"/>
        <a:defRPr kumimoji="0" sz="2000" kern="1200">
          <a:solidFill>
            <a:schemeClr val="tx1"/>
          </a:solidFill>
          <a:latin typeface="Calibri" panose="020F0502020204030204" pitchFamily="34" charset="0"/>
          <a:ea typeface="+mn-ea"/>
          <a:cs typeface="Calibri" panose="020F0502020204030204" pitchFamily="34" charset="0"/>
        </a:defRPr>
      </a:lvl2pPr>
      <a:lvl3pPr marL="800100" indent="-171450" algn="l" rtl="0" eaLnBrk="1" latinLnBrk="0" hangingPunct="1">
        <a:spcBef>
          <a:spcPts val="0"/>
        </a:spcBef>
        <a:spcAft>
          <a:spcPts val="0"/>
        </a:spcAft>
        <a:buClrTx/>
        <a:buSzPct val="90000"/>
        <a:buFont typeface="Arial" panose="020B0604020202020204" pitchFamily="34" charset="0"/>
        <a:buChar char="•"/>
        <a:defRPr kumimoji="0" sz="1800" kern="1200">
          <a:solidFill>
            <a:schemeClr val="tx1"/>
          </a:solidFill>
          <a:latin typeface="Calibri" panose="020F0502020204030204" pitchFamily="34" charset="0"/>
          <a:ea typeface="+mn-ea"/>
          <a:cs typeface="Calibri" panose="020F0502020204030204" pitchFamily="34" charset="0"/>
        </a:defRPr>
      </a:lvl3pPr>
      <a:lvl4pPr marL="1028700" indent="-171450" algn="l" rtl="0" eaLnBrk="1" latinLnBrk="0" hangingPunct="1">
        <a:spcBef>
          <a:spcPts val="0"/>
        </a:spcBef>
        <a:spcAft>
          <a:spcPts val="0"/>
        </a:spcAft>
        <a:buClrTx/>
        <a:buSzPct val="100000"/>
        <a:buFont typeface="Lucida Grande"/>
        <a:buChar char="–"/>
        <a:defRPr kumimoji="0" sz="1600" kern="1200">
          <a:solidFill>
            <a:schemeClr val="tx1"/>
          </a:solidFill>
          <a:latin typeface="Calibri" panose="020F0502020204030204" pitchFamily="34" charset="0"/>
          <a:ea typeface="+mn-ea"/>
          <a:cs typeface="Calibri" panose="020F0502020204030204" pitchFamily="34" charset="0"/>
        </a:defRPr>
      </a:lvl4pPr>
      <a:lvl5pPr marL="1257300" indent="-171450" algn="l" rtl="0" eaLnBrk="1" latinLnBrk="0" hangingPunct="1">
        <a:spcBef>
          <a:spcPts val="0"/>
        </a:spcBef>
        <a:spcAft>
          <a:spcPts val="0"/>
        </a:spcAft>
        <a:buClrTx/>
        <a:buFont typeface="Arial"/>
        <a:buChar char="•"/>
        <a:tabLst>
          <a:tab pos="1200150" algn="l"/>
        </a:tabLst>
        <a:defRPr kumimoji="0" lang="en-US" sz="1600" kern="1200" smtClean="0">
          <a:solidFill>
            <a:schemeClr val="tx1"/>
          </a:solidFill>
          <a:latin typeface="Calibri" panose="020F0502020204030204" pitchFamily="34" charset="0"/>
          <a:ea typeface="+mn-ea"/>
          <a:cs typeface="Calibri" panose="020F0502020204030204"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vert="horz" lIns="0" tIns="45720" rIns="45720" bIns="45720" rtlCol="0" anchor="b" anchorCtr="0">
            <a:noAutofit/>
            <a:scene3d>
              <a:camera prst="orthographicFront"/>
              <a:lightRig rig="threePt" dir="t">
                <a:rot lat="0" lon="0" rev="4800000"/>
              </a:lightRig>
            </a:scene3d>
            <a:sp3d prstMaterial="matte"/>
          </a:bodyPr>
          <a:lstStyle/>
          <a:p>
            <a:r>
              <a:rPr lang="en-US">
                <a:latin typeface="Calibri"/>
                <a:ea typeface="Calibri"/>
                <a:cs typeface="Calibri"/>
              </a:rPr>
              <a:t>Castor</a:t>
            </a:r>
            <a:endParaRPr lang="en-US">
              <a:latin typeface="Calibri" panose="020F0502020204030204" pitchFamily="34" charset="0"/>
              <a:ea typeface="Calibri"/>
              <a:cs typeface="Calibri" panose="020F0502020204030204" pitchFamily="34" charset="0"/>
            </a:endParaRPr>
          </a:p>
        </p:txBody>
      </p:sp>
      <p:sp>
        <p:nvSpPr>
          <p:cNvPr id="3" name="Text Placeholder 2">
            <a:extLst>
              <a:ext uri="{FF2B5EF4-FFF2-40B4-BE49-F238E27FC236}">
                <a16:creationId xmlns:a16="http://schemas.microsoft.com/office/drawing/2014/main" id="{A33283D2-10E9-90A5-7251-DD8AE60EB1F7}"/>
              </a:ext>
            </a:extLst>
          </p:cNvPr>
          <p:cNvSpPr>
            <a:spLocks noGrp="1"/>
          </p:cNvSpPr>
          <p:nvPr>
            <p:ph type="body" sz="quarter" idx="13"/>
          </p:nvPr>
        </p:nvSpPr>
        <p:spPr/>
        <p:txBody>
          <a:bodyPr vert="horz" lIns="0" tIns="0" rIns="0" bIns="0" rtlCol="0" anchor="t">
            <a:noAutofit/>
          </a:bodyPr>
          <a:lstStyle/>
          <a:p>
            <a:r>
              <a:rPr lang="en-US"/>
              <a:t>Enabling automated verification for C++ developers</a:t>
            </a:r>
          </a:p>
        </p:txBody>
      </p:sp>
      <p:sp>
        <p:nvSpPr>
          <p:cNvPr id="5" name="Text Placeholder 4"/>
          <p:cNvSpPr>
            <a:spLocks noGrp="1"/>
          </p:cNvSpPr>
          <p:nvPr>
            <p:ph type="body" sz="quarter" idx="14"/>
          </p:nvPr>
        </p:nvSpPr>
        <p:spPr/>
        <p:txBody>
          <a:bodyPr/>
          <a:lstStyle/>
          <a:p>
            <a:r>
              <a:rPr lang="en-US" b="1">
                <a:latin typeface="Calibri"/>
                <a:ea typeface="Calibri"/>
                <a:cs typeface="Calibri"/>
              </a:rPr>
              <a:t>Phillip Lane</a:t>
            </a:r>
            <a:r>
              <a:rPr lang="en-US">
                <a:latin typeface="Calibri"/>
                <a:ea typeface="Calibri"/>
                <a:cs typeface="Calibri"/>
              </a:rPr>
              <a:t>, Matthew Sottile, John </a:t>
            </a:r>
            <a:r>
              <a:rPr lang="en-US" err="1">
                <a:latin typeface="Calibri"/>
                <a:ea typeface="Calibri"/>
                <a:cs typeface="Calibri"/>
              </a:rPr>
              <a:t>Sarracino</a:t>
            </a:r>
            <a:r>
              <a:rPr lang="en-US">
                <a:latin typeface="Calibri"/>
                <a:ea typeface="Calibri"/>
                <a:cs typeface="Calibri"/>
              </a:rPr>
              <a:t>, </a:t>
            </a:r>
            <a:r>
              <a:rPr lang="en-US" err="1">
                <a:latin typeface="Calibri"/>
                <a:ea typeface="Calibri"/>
                <a:cs typeface="Calibri"/>
              </a:rPr>
              <a:t>Navaneeth</a:t>
            </a:r>
            <a:r>
              <a:rPr lang="en-US">
                <a:latin typeface="Calibri"/>
                <a:ea typeface="Calibri"/>
                <a:cs typeface="Calibri"/>
              </a:rPr>
              <a:t> Nambiar</a:t>
            </a:r>
          </a:p>
        </p:txBody>
      </p:sp>
      <p:sp>
        <p:nvSpPr>
          <p:cNvPr id="9" name="Text Placeholder 10"/>
          <p:cNvSpPr txBox="1">
            <a:spLocks/>
          </p:cNvSpPr>
          <p:nvPr/>
        </p:nvSpPr>
        <p:spPr>
          <a:xfrm>
            <a:off x="2016103" y="3640568"/>
            <a:ext cx="3278508" cy="397500"/>
          </a:xfrm>
          <a:prstGeom prst="rect">
            <a:avLst/>
          </a:prstGeom>
        </p:spPr>
        <p:txBody>
          <a:bodyPr vert="horz" lIns="0" tIns="91440" rIns="0" bIns="45720" rtlCol="0" anchor="ctr" anchorCtr="0">
            <a:noAutofit/>
          </a:bodyPr>
          <a:lstStyle/>
          <a:p>
            <a:pPr lvl="0">
              <a:lnSpc>
                <a:spcPct val="80000"/>
              </a:lnSpc>
            </a:pPr>
            <a:r>
              <a:rPr lang="en-US" sz="1600" dirty="0">
                <a:cs typeface="Lucida Handwriting"/>
              </a:rPr>
              <a:t>March 27, 2026</a:t>
            </a:r>
          </a:p>
        </p:txBody>
      </p:sp>
      <p:pic>
        <p:nvPicPr>
          <p:cNvPr id="4" name="Picture 3">
            <a:extLst>
              <a:ext uri="{FF2B5EF4-FFF2-40B4-BE49-F238E27FC236}">
                <a16:creationId xmlns:a16="http://schemas.microsoft.com/office/drawing/2014/main" id="{E95B70A9-B44C-F743-759C-52D842BC2A17}"/>
              </a:ext>
            </a:extLst>
          </p:cNvPr>
          <p:cNvPicPr>
            <a:picLocks noChangeAspect="1"/>
          </p:cNvPicPr>
          <p:nvPr/>
        </p:nvPicPr>
        <p:blipFill>
          <a:blip r:embed="rId3"/>
          <a:stretch>
            <a:fillRect/>
          </a:stretch>
        </p:blipFill>
        <p:spPr>
          <a:xfrm>
            <a:off x="8664286" y="178904"/>
            <a:ext cx="2524839" cy="278130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0D662A9-104C-224F-0A2D-90242F77BBDA}"/>
              </a:ext>
            </a:extLst>
          </p:cNvPr>
          <p:cNvSpPr>
            <a:spLocks noGrp="1"/>
          </p:cNvSpPr>
          <p:nvPr>
            <p:ph idx="1"/>
          </p:nvPr>
        </p:nvSpPr>
        <p:spPr/>
        <p:txBody>
          <a:bodyPr vert="horz" lIns="0" tIns="0" rIns="0" bIns="0" rtlCol="0" anchor="t">
            <a:normAutofit/>
          </a:bodyPr>
          <a:lstStyle/>
          <a:p>
            <a:r>
              <a:rPr lang="en-US" dirty="0"/>
              <a:t>The traditional software development pipeline employs </a:t>
            </a:r>
            <a:r>
              <a:rPr lang="en-US" i="1" dirty="0"/>
              <a:t>testing</a:t>
            </a:r>
            <a:r>
              <a:rPr lang="en-US" dirty="0"/>
              <a:t> code after writing it</a:t>
            </a:r>
          </a:p>
          <a:p>
            <a:r>
              <a:rPr lang="en-US" dirty="0"/>
              <a:t>Tests are great, but they sometimes aren’t enough</a:t>
            </a:r>
          </a:p>
          <a:p>
            <a:pPr lvl="1"/>
            <a:r>
              <a:rPr lang="en-US" dirty="0"/>
              <a:t>Tests are only as good as your test coverage, and test coverage often can’t be exhaustive</a:t>
            </a:r>
          </a:p>
          <a:p>
            <a:r>
              <a:rPr lang="en-US" dirty="0"/>
              <a:t>Introducing </a:t>
            </a:r>
            <a:r>
              <a:rPr lang="en-US" i="1" dirty="0"/>
              <a:t>formal verification</a:t>
            </a:r>
            <a:endParaRPr lang="en-US" dirty="0"/>
          </a:p>
          <a:p>
            <a:pPr lvl="1"/>
            <a:r>
              <a:rPr lang="en-US" dirty="0"/>
              <a:t>Generate a mathematical proof of the correctness of code</a:t>
            </a:r>
          </a:p>
          <a:p>
            <a:r>
              <a:rPr lang="en-US" dirty="0"/>
              <a:t>Verification can be interactive or automated</a:t>
            </a:r>
          </a:p>
          <a:p>
            <a:pPr lvl="1"/>
            <a:r>
              <a:rPr lang="en-US" dirty="0"/>
              <a:t>Interactive: Write the proofs yourself using an interactive theorem prover (e.g., </a:t>
            </a:r>
            <a:r>
              <a:rPr lang="en-US" dirty="0" err="1"/>
              <a:t>Rocq</a:t>
            </a:r>
            <a:r>
              <a:rPr lang="en-US" dirty="0"/>
              <a:t>, Isabelle)</a:t>
            </a:r>
          </a:p>
          <a:p>
            <a:pPr lvl="1"/>
            <a:r>
              <a:rPr lang="en-US" dirty="0"/>
              <a:t>Automated: Let the computer attempt to generate the proofs itself (usually via SMT solver)</a:t>
            </a:r>
          </a:p>
          <a:p>
            <a:r>
              <a:rPr lang="en-US" dirty="0">
                <a:latin typeface="Calibri"/>
                <a:ea typeface="Calibri"/>
                <a:cs typeface="Calibri"/>
              </a:rPr>
              <a:t>Verification provides a </a:t>
            </a:r>
            <a:r>
              <a:rPr lang="en-US" i="1" dirty="0">
                <a:latin typeface="Calibri"/>
                <a:ea typeface="Calibri"/>
                <a:cs typeface="Calibri"/>
              </a:rPr>
              <a:t>stronger assurance case</a:t>
            </a:r>
            <a:r>
              <a:rPr lang="en-US" dirty="0">
                <a:latin typeface="Calibri"/>
                <a:ea typeface="Calibri"/>
                <a:cs typeface="Calibri"/>
              </a:rPr>
              <a:t> than testing</a:t>
            </a:r>
          </a:p>
          <a:p>
            <a:pPr lvl="1"/>
            <a:r>
              <a:rPr lang="en-US" dirty="0">
                <a:latin typeface="Calibri"/>
                <a:ea typeface="Calibri"/>
                <a:cs typeface="Calibri"/>
              </a:rPr>
              <a:t>Properly verified code is guaranteed to function as intended, barring compiler bugs or hardware issues</a:t>
            </a:r>
            <a:endParaRPr lang="en-US" dirty="0">
              <a:ea typeface="Calibri"/>
            </a:endParaRPr>
          </a:p>
        </p:txBody>
      </p:sp>
      <p:sp>
        <p:nvSpPr>
          <p:cNvPr id="3" name="Title 2">
            <a:extLst>
              <a:ext uri="{FF2B5EF4-FFF2-40B4-BE49-F238E27FC236}">
                <a16:creationId xmlns:a16="http://schemas.microsoft.com/office/drawing/2014/main" id="{1FD29A88-6E8B-8225-3B7A-61EAE2A679CD}"/>
              </a:ext>
            </a:extLst>
          </p:cNvPr>
          <p:cNvSpPr>
            <a:spLocks noGrp="1"/>
          </p:cNvSpPr>
          <p:nvPr>
            <p:ph type="title"/>
          </p:nvPr>
        </p:nvSpPr>
        <p:spPr/>
        <p:txBody>
          <a:bodyPr/>
          <a:lstStyle/>
          <a:p>
            <a:r>
              <a:rPr lang="en-US"/>
              <a:t>Background</a:t>
            </a:r>
          </a:p>
        </p:txBody>
      </p:sp>
    </p:spTree>
    <p:extLst>
      <p:ext uri="{BB962C8B-B14F-4D97-AF65-F5344CB8AC3E}">
        <p14:creationId xmlns:p14="http://schemas.microsoft.com/office/powerpoint/2010/main" val="3244946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47D6C0-2C99-7C41-5659-D13743ED3C89}"/>
              </a:ext>
            </a:extLst>
          </p:cNvPr>
          <p:cNvSpPr>
            <a:spLocks noGrp="1"/>
          </p:cNvSpPr>
          <p:nvPr>
            <p:ph idx="1"/>
          </p:nvPr>
        </p:nvSpPr>
        <p:spPr/>
        <p:txBody>
          <a:bodyPr/>
          <a:lstStyle/>
          <a:p>
            <a:r>
              <a:rPr lang="en-US"/>
              <a:t>Verification tools typically target C.</a:t>
            </a:r>
          </a:p>
          <a:p>
            <a:r>
              <a:rPr lang="en-US"/>
              <a:t>Developers generally use C++: these C-based tools are out of reach.</a:t>
            </a:r>
          </a:p>
          <a:p>
            <a:endParaRPr lang="en-US"/>
          </a:p>
          <a:p>
            <a:pPr marL="57150" indent="0" algn="ctr">
              <a:buNone/>
            </a:pPr>
            <a:r>
              <a:rPr lang="en-US"/>
              <a:t>How do we provide automated verification to C++ developers?</a:t>
            </a:r>
          </a:p>
        </p:txBody>
      </p:sp>
      <p:sp>
        <p:nvSpPr>
          <p:cNvPr id="3" name="Title 2">
            <a:extLst>
              <a:ext uri="{FF2B5EF4-FFF2-40B4-BE49-F238E27FC236}">
                <a16:creationId xmlns:a16="http://schemas.microsoft.com/office/drawing/2014/main" id="{4CA14AE6-35C1-5908-450F-A8F2FCA4A67C}"/>
              </a:ext>
            </a:extLst>
          </p:cNvPr>
          <p:cNvSpPr>
            <a:spLocks noGrp="1"/>
          </p:cNvSpPr>
          <p:nvPr>
            <p:ph type="title"/>
          </p:nvPr>
        </p:nvSpPr>
        <p:spPr/>
        <p:txBody>
          <a:bodyPr/>
          <a:lstStyle/>
          <a:p>
            <a:r>
              <a:rPr lang="en-US"/>
              <a:t>Problem Statement</a:t>
            </a:r>
          </a:p>
        </p:txBody>
      </p:sp>
    </p:spTree>
    <p:extLst>
      <p:ext uri="{BB962C8B-B14F-4D97-AF65-F5344CB8AC3E}">
        <p14:creationId xmlns:p14="http://schemas.microsoft.com/office/powerpoint/2010/main" val="749733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68B1F1-F7DE-4B04-B20C-F1930957FA8C}"/>
              </a:ext>
            </a:extLst>
          </p:cNvPr>
          <p:cNvSpPr>
            <a:spLocks noGrp="1"/>
          </p:cNvSpPr>
          <p:nvPr>
            <p:ph idx="1"/>
          </p:nvPr>
        </p:nvSpPr>
        <p:spPr/>
        <p:txBody>
          <a:bodyPr vert="horz" lIns="0" tIns="0" rIns="0" bIns="0" rtlCol="0" anchor="t">
            <a:normAutofit/>
          </a:bodyPr>
          <a:lstStyle/>
          <a:p>
            <a:r>
              <a:rPr lang="en-US">
                <a:latin typeface="Calibri"/>
                <a:cs typeface="Calibri"/>
              </a:rPr>
              <a:t>Why3 provides a robust deductive verification infrastructure.</a:t>
            </a:r>
          </a:p>
          <a:p>
            <a:pPr lvl="1"/>
            <a:r>
              <a:rPr lang="en-US">
                <a:latin typeface="Calibri"/>
                <a:cs typeface="Calibri"/>
              </a:rPr>
              <a:t>Code expressed in </a:t>
            </a:r>
            <a:r>
              <a:rPr lang="en-US" err="1">
                <a:latin typeface="Calibri"/>
                <a:cs typeface="Calibri"/>
              </a:rPr>
              <a:t>WhyML</a:t>
            </a:r>
            <a:r>
              <a:rPr lang="en-US">
                <a:latin typeface="Calibri"/>
                <a:cs typeface="Calibri"/>
              </a:rPr>
              <a:t> language.</a:t>
            </a:r>
          </a:p>
          <a:p>
            <a:pPr lvl="1"/>
            <a:r>
              <a:rPr lang="en-US">
                <a:latin typeface="Calibri"/>
                <a:cs typeface="Calibri"/>
              </a:rPr>
              <a:t>Verification conditions and some proof artifacts expressed within </a:t>
            </a:r>
            <a:r>
              <a:rPr lang="en-US" err="1">
                <a:latin typeface="Calibri"/>
                <a:cs typeface="Calibri"/>
              </a:rPr>
              <a:t>WhyML</a:t>
            </a:r>
            <a:r>
              <a:rPr lang="en-US">
                <a:latin typeface="Calibri"/>
                <a:cs typeface="Calibri"/>
              </a:rPr>
              <a:t>.</a:t>
            </a:r>
          </a:p>
          <a:p>
            <a:pPr lvl="1"/>
            <a:r>
              <a:rPr lang="en-US">
                <a:latin typeface="Calibri"/>
                <a:cs typeface="Calibri"/>
              </a:rPr>
              <a:t>Why3 handles mapping code, VCs, and proof artifacts to backing automated provers.</a:t>
            </a:r>
          </a:p>
          <a:p>
            <a:pPr lvl="1"/>
            <a:r>
              <a:rPr lang="en-US">
                <a:latin typeface="Calibri"/>
                <a:cs typeface="Calibri"/>
              </a:rPr>
              <a:t>We can provide custom theories defined in </a:t>
            </a:r>
            <a:r>
              <a:rPr lang="en-US" err="1">
                <a:latin typeface="Calibri"/>
                <a:cs typeface="Calibri"/>
              </a:rPr>
              <a:t>WhyML</a:t>
            </a:r>
            <a:r>
              <a:rPr lang="en-US">
                <a:latin typeface="Calibri"/>
                <a:cs typeface="Calibri"/>
              </a:rPr>
              <a:t> to augment the </a:t>
            </a:r>
            <a:r>
              <a:rPr lang="en-US" err="1">
                <a:latin typeface="Calibri"/>
                <a:cs typeface="Calibri"/>
              </a:rPr>
              <a:t>builtins</a:t>
            </a:r>
            <a:r>
              <a:rPr lang="en-US">
                <a:latin typeface="Calibri"/>
                <a:cs typeface="Calibri"/>
              </a:rPr>
              <a:t> of Why3.</a:t>
            </a:r>
          </a:p>
          <a:p>
            <a:pPr lvl="2"/>
            <a:r>
              <a:rPr lang="en-US">
                <a:latin typeface="Calibri"/>
                <a:cs typeface="Calibri"/>
              </a:rPr>
              <a:t>Heap modeling, bridging between integer and bit-vector theories, machine arithmetic, etc.</a:t>
            </a:r>
          </a:p>
          <a:p>
            <a:r>
              <a:rPr lang="en-US">
                <a:latin typeface="Calibri"/>
                <a:cs typeface="Calibri"/>
              </a:rPr>
              <a:t>ROSE provides a robust analysis framework for C++.</a:t>
            </a:r>
          </a:p>
          <a:p>
            <a:r>
              <a:rPr lang="en-US">
                <a:latin typeface="Calibri"/>
                <a:cs typeface="Calibri"/>
              </a:rPr>
              <a:t>Castor defines an ACSL-inspired annotation language for expressing VCs and other logical artifacts within the C++ code.</a:t>
            </a:r>
          </a:p>
          <a:p>
            <a:r>
              <a:rPr lang="en-US">
                <a:latin typeface="Calibri"/>
                <a:cs typeface="Calibri"/>
              </a:rPr>
              <a:t>Castor generates the </a:t>
            </a:r>
            <a:r>
              <a:rPr lang="en-US" err="1">
                <a:latin typeface="Calibri"/>
                <a:cs typeface="Calibri"/>
              </a:rPr>
              <a:t>WhyML</a:t>
            </a:r>
            <a:r>
              <a:rPr lang="en-US">
                <a:latin typeface="Calibri"/>
                <a:cs typeface="Calibri"/>
              </a:rPr>
              <a:t> code from annotated C++ allowing it to be verified via the supported Why3 prover backends.</a:t>
            </a:r>
          </a:p>
        </p:txBody>
      </p:sp>
      <p:sp>
        <p:nvSpPr>
          <p:cNvPr id="3" name="Title 2">
            <a:extLst>
              <a:ext uri="{FF2B5EF4-FFF2-40B4-BE49-F238E27FC236}">
                <a16:creationId xmlns:a16="http://schemas.microsoft.com/office/drawing/2014/main" id="{644269D9-69F5-CFAF-46F8-B951E3C5FCD4}"/>
              </a:ext>
            </a:extLst>
          </p:cNvPr>
          <p:cNvSpPr>
            <a:spLocks noGrp="1"/>
          </p:cNvSpPr>
          <p:nvPr>
            <p:ph type="title"/>
          </p:nvPr>
        </p:nvSpPr>
        <p:spPr/>
        <p:txBody>
          <a:bodyPr/>
          <a:lstStyle/>
          <a:p>
            <a:r>
              <a:rPr lang="en-US"/>
              <a:t>Approach</a:t>
            </a:r>
          </a:p>
        </p:txBody>
      </p:sp>
    </p:spTree>
    <p:extLst>
      <p:ext uri="{BB962C8B-B14F-4D97-AF65-F5344CB8AC3E}">
        <p14:creationId xmlns:p14="http://schemas.microsoft.com/office/powerpoint/2010/main" val="2147334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CA1D2-1712-406E-B796-6F958F176DE2}"/>
              </a:ext>
            </a:extLst>
          </p:cNvPr>
          <p:cNvSpPr>
            <a:spLocks noGrp="1"/>
          </p:cNvSpPr>
          <p:nvPr>
            <p:ph type="title"/>
          </p:nvPr>
        </p:nvSpPr>
        <p:spPr/>
        <p:txBody>
          <a:bodyPr vert="horz" lIns="0" tIns="45720" rIns="45720" bIns="45720" rtlCol="0" anchor="ctr" anchorCtr="0">
            <a:noAutofit/>
            <a:scene3d>
              <a:camera prst="orthographicFront"/>
              <a:lightRig rig="threePt" dir="t">
                <a:rot lat="0" lon="0" rev="4800000"/>
              </a:lightRig>
            </a:scene3d>
            <a:sp3d prstMaterial="matte"/>
          </a:bodyPr>
          <a:lstStyle/>
          <a:p>
            <a:r>
              <a:rPr lang="en-US">
                <a:latin typeface="Calibri"/>
                <a:cs typeface="Calibri"/>
              </a:rPr>
              <a:t>Diagram of Castor Process</a:t>
            </a:r>
          </a:p>
        </p:txBody>
      </p:sp>
      <p:sp>
        <p:nvSpPr>
          <p:cNvPr id="4" name="Rectangle: Rounded Corners 3">
            <a:extLst>
              <a:ext uri="{FF2B5EF4-FFF2-40B4-BE49-F238E27FC236}">
                <a16:creationId xmlns:a16="http://schemas.microsoft.com/office/drawing/2014/main" id="{6AEB5080-B122-5782-698C-246F89DF1BF6}"/>
              </a:ext>
            </a:extLst>
          </p:cNvPr>
          <p:cNvSpPr/>
          <p:nvPr/>
        </p:nvSpPr>
        <p:spPr bwMode="auto">
          <a:xfrm>
            <a:off x="1127011" y="3821449"/>
            <a:ext cx="5209994" cy="2472128"/>
          </a:xfrm>
          <a:prstGeom prst="roundRect">
            <a:avLst/>
          </a:prstGeom>
          <a:solidFill>
            <a:schemeClr val="bg2">
              <a:lumMod val="90000"/>
            </a:schemeClr>
          </a:solidFill>
          <a:ln>
            <a:solidFill>
              <a:schemeClr val="accent1">
                <a:lumMod val="75000"/>
              </a:schemeClr>
            </a:solidFill>
            <a:headEnd/>
            <a:tailEnd/>
          </a:ln>
        </p:spPr>
        <p:style>
          <a:lnRef idx="1">
            <a:schemeClr val="accent1"/>
          </a:lnRef>
          <a:fillRef idx="2">
            <a:schemeClr val="accent1"/>
          </a:fillRef>
          <a:effectRef idx="1">
            <a:schemeClr val="accent1"/>
          </a:effectRef>
          <a:fontRef idx="minor">
            <a:schemeClr val="dk1"/>
          </a:fontRef>
        </p:style>
        <p:txBody>
          <a:bodyPr lIns="91440" tIns="45720" rIns="91440" bIns="45720" rtlCol="0" anchor="t">
            <a:prstTxWarp prst="textNoShape">
              <a:avLst/>
            </a:prstTxWarp>
          </a:bodyPr>
          <a:lstStyle/>
          <a:p>
            <a:pPr algn="ctr">
              <a:spcBef>
                <a:spcPct val="0"/>
              </a:spcBef>
            </a:pPr>
            <a:r>
              <a:rPr lang="en-US" sz="1600">
                <a:solidFill>
                  <a:srgbClr val="000000"/>
                </a:solidFill>
                <a:cs typeface="Calibri" panose="020F0502020204030204"/>
              </a:rPr>
              <a:t>Castor</a:t>
            </a:r>
          </a:p>
        </p:txBody>
      </p:sp>
      <p:sp>
        <p:nvSpPr>
          <p:cNvPr id="5" name="Rectangle: Rounded Corners 4">
            <a:extLst>
              <a:ext uri="{FF2B5EF4-FFF2-40B4-BE49-F238E27FC236}">
                <a16:creationId xmlns:a16="http://schemas.microsoft.com/office/drawing/2014/main" id="{11044FF1-B2DE-66E2-A500-B0FA7858379E}"/>
              </a:ext>
            </a:extLst>
          </p:cNvPr>
          <p:cNvSpPr/>
          <p:nvPr/>
        </p:nvSpPr>
        <p:spPr bwMode="auto">
          <a:xfrm>
            <a:off x="7767150" y="3241673"/>
            <a:ext cx="1729316" cy="707434"/>
          </a:xfrm>
          <a:prstGeom prst="roundRect">
            <a:avLst/>
          </a:prstGeom>
          <a:solidFill>
            <a:schemeClr val="accent1">
              <a:lumMod val="40000"/>
              <a:lumOff val="60000"/>
            </a:schemeClr>
          </a:solidFill>
          <a:ln>
            <a:solidFill>
              <a:schemeClr val="accent1">
                <a:lumMod val="75000"/>
              </a:schemeClr>
            </a:solidFill>
            <a:headEnd/>
            <a:tailEnd/>
          </a:ln>
        </p:spPr>
        <p:style>
          <a:lnRef idx="1">
            <a:schemeClr val="accent1"/>
          </a:lnRef>
          <a:fillRef idx="2">
            <a:schemeClr val="accent1"/>
          </a:fillRef>
          <a:effectRef idx="1">
            <a:schemeClr val="accent1"/>
          </a:effectRef>
          <a:fontRef idx="minor">
            <a:schemeClr val="dk1"/>
          </a:fontRef>
        </p:style>
        <p:txBody>
          <a:bodyPr lIns="91440" tIns="45720" rIns="91440" bIns="45720" rtlCol="0" anchor="ctr">
            <a:prstTxWarp prst="textNoShape">
              <a:avLst/>
            </a:prstTxWarp>
          </a:bodyPr>
          <a:lstStyle/>
          <a:p>
            <a:pPr algn="ctr">
              <a:spcBef>
                <a:spcPct val="0"/>
              </a:spcBef>
            </a:pPr>
            <a:r>
              <a:rPr lang="en-US" sz="1600">
                <a:solidFill>
                  <a:srgbClr val="000000"/>
                </a:solidFill>
                <a:cs typeface="Calibri" panose="020F0502020204030204"/>
              </a:rPr>
              <a:t>Why3</a:t>
            </a:r>
            <a:endParaRPr lang="en-US"/>
          </a:p>
          <a:p>
            <a:pPr algn="ctr">
              <a:spcBef>
                <a:spcPct val="0"/>
              </a:spcBef>
            </a:pPr>
            <a:r>
              <a:rPr lang="en-US" sz="1600">
                <a:solidFill>
                  <a:srgbClr val="000000"/>
                </a:solidFill>
                <a:cs typeface="Calibri" panose="020F0502020204030204"/>
              </a:rPr>
              <a:t>Framework</a:t>
            </a:r>
          </a:p>
        </p:txBody>
      </p:sp>
      <p:sp>
        <p:nvSpPr>
          <p:cNvPr id="13" name="TextBox 12">
            <a:extLst>
              <a:ext uri="{FF2B5EF4-FFF2-40B4-BE49-F238E27FC236}">
                <a16:creationId xmlns:a16="http://schemas.microsoft.com/office/drawing/2014/main" id="{084C50FE-4501-D690-C3E6-E2D3747785DC}"/>
              </a:ext>
            </a:extLst>
          </p:cNvPr>
          <p:cNvSpPr txBox="1"/>
          <p:nvPr/>
        </p:nvSpPr>
        <p:spPr>
          <a:xfrm>
            <a:off x="10249444" y="1699158"/>
            <a:ext cx="16933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rgbClr val="00B050"/>
                </a:solidFill>
                <a:cs typeface="Calibri"/>
              </a:rPr>
              <a:t>Valid</a:t>
            </a:r>
            <a:endParaRPr lang="en-US">
              <a:solidFill>
                <a:srgbClr val="0070C0"/>
              </a:solidFill>
              <a:cs typeface="Calibri"/>
            </a:endParaRPr>
          </a:p>
        </p:txBody>
      </p:sp>
      <p:sp>
        <p:nvSpPr>
          <p:cNvPr id="15" name="Rectangle: Rounded Corners 14">
            <a:extLst>
              <a:ext uri="{FF2B5EF4-FFF2-40B4-BE49-F238E27FC236}">
                <a16:creationId xmlns:a16="http://schemas.microsoft.com/office/drawing/2014/main" id="{B3FD9A13-6FE0-35DA-00EB-22BA011EA22F}"/>
              </a:ext>
            </a:extLst>
          </p:cNvPr>
          <p:cNvSpPr/>
          <p:nvPr/>
        </p:nvSpPr>
        <p:spPr bwMode="auto">
          <a:xfrm>
            <a:off x="1493446" y="4386671"/>
            <a:ext cx="1485900" cy="511709"/>
          </a:xfrm>
          <a:prstGeom prst="roundRect">
            <a:avLst/>
          </a:prstGeom>
          <a:gradFill flip="none" rotWithShape="1">
            <a:gsLst>
              <a:gs pos="0">
                <a:schemeClr val="bg1">
                  <a:lumMod val="65000"/>
                  <a:tint val="66000"/>
                  <a:satMod val="160000"/>
                </a:schemeClr>
              </a:gs>
              <a:gs pos="50000">
                <a:schemeClr val="bg1">
                  <a:lumMod val="65000"/>
                  <a:tint val="44500"/>
                  <a:satMod val="160000"/>
                </a:schemeClr>
              </a:gs>
              <a:gs pos="100000">
                <a:schemeClr val="bg1">
                  <a:lumMod val="65000"/>
                  <a:tint val="23500"/>
                  <a:satMod val="160000"/>
                </a:schemeClr>
              </a:gs>
            </a:gsLst>
            <a:lin ang="16200000" scaled="1"/>
            <a:tileRect/>
          </a:gradFill>
          <a:ln>
            <a:solidFill>
              <a:schemeClr val="accent1">
                <a:lumMod val="75000"/>
              </a:schemeClr>
            </a:solidFill>
            <a:headEnd/>
            <a:tailEnd/>
          </a:ln>
        </p:spPr>
        <p:style>
          <a:lnRef idx="1">
            <a:schemeClr val="accent1"/>
          </a:lnRef>
          <a:fillRef idx="2">
            <a:schemeClr val="accent1"/>
          </a:fillRef>
          <a:effectRef idx="1">
            <a:schemeClr val="accent1"/>
          </a:effectRef>
          <a:fontRef idx="minor">
            <a:schemeClr val="dk1"/>
          </a:fontRef>
        </p:style>
        <p:txBody>
          <a:bodyPr rtlCol="0" anchor="ctr">
            <a:prstTxWarp prst="textNoShape">
              <a:avLst/>
            </a:prstTxWarp>
          </a:bodyPr>
          <a:lstStyle/>
          <a:p>
            <a:pPr algn="ctr">
              <a:spcBef>
                <a:spcPct val="0"/>
              </a:spcBef>
            </a:pPr>
            <a:r>
              <a:rPr lang="en-US" sz="1600">
                <a:solidFill>
                  <a:srgbClr val="000000"/>
                </a:solidFill>
                <a:cs typeface="Calibri" panose="020F0502020204030204"/>
              </a:rPr>
              <a:t>Normalization</a:t>
            </a:r>
          </a:p>
        </p:txBody>
      </p:sp>
      <p:sp>
        <p:nvSpPr>
          <p:cNvPr id="16" name="Rectangle: Rounded Corners 15">
            <a:extLst>
              <a:ext uri="{FF2B5EF4-FFF2-40B4-BE49-F238E27FC236}">
                <a16:creationId xmlns:a16="http://schemas.microsoft.com/office/drawing/2014/main" id="{C35EDF3C-D149-274F-8229-2A697AD3203A}"/>
              </a:ext>
            </a:extLst>
          </p:cNvPr>
          <p:cNvSpPr/>
          <p:nvPr/>
        </p:nvSpPr>
        <p:spPr bwMode="auto">
          <a:xfrm>
            <a:off x="4901018" y="4600313"/>
            <a:ext cx="1226279" cy="914400"/>
          </a:xfrm>
          <a:prstGeom prst="roundRect">
            <a:avLst/>
          </a:prstGeom>
          <a:gradFill flip="none" rotWithShape="1">
            <a:gsLst>
              <a:gs pos="0">
                <a:schemeClr val="bg1">
                  <a:lumMod val="65000"/>
                  <a:tint val="66000"/>
                  <a:satMod val="160000"/>
                </a:schemeClr>
              </a:gs>
              <a:gs pos="50000">
                <a:schemeClr val="bg1">
                  <a:lumMod val="65000"/>
                  <a:tint val="44500"/>
                  <a:satMod val="160000"/>
                </a:schemeClr>
              </a:gs>
              <a:gs pos="100000">
                <a:schemeClr val="bg1">
                  <a:lumMod val="65000"/>
                  <a:tint val="23500"/>
                  <a:satMod val="160000"/>
                </a:schemeClr>
              </a:gs>
            </a:gsLst>
            <a:lin ang="16200000" scaled="1"/>
            <a:tileRect/>
          </a:gradFill>
          <a:ln>
            <a:solidFill>
              <a:schemeClr val="accent1">
                <a:lumMod val="75000"/>
              </a:schemeClr>
            </a:solidFill>
            <a:headEnd/>
            <a:tailEnd/>
          </a:ln>
        </p:spPr>
        <p:style>
          <a:lnRef idx="1">
            <a:schemeClr val="accent1"/>
          </a:lnRef>
          <a:fillRef idx="2">
            <a:schemeClr val="accent1"/>
          </a:fillRef>
          <a:effectRef idx="1">
            <a:schemeClr val="accent1"/>
          </a:effectRef>
          <a:fontRef idx="minor">
            <a:schemeClr val="dk1"/>
          </a:fontRef>
        </p:style>
        <p:txBody>
          <a:bodyPr lIns="91440" tIns="45720" rIns="91440" bIns="45720" rtlCol="0" anchor="ctr">
            <a:prstTxWarp prst="textNoShape">
              <a:avLst/>
            </a:prstTxWarp>
          </a:bodyPr>
          <a:lstStyle/>
          <a:p>
            <a:pPr algn="ctr">
              <a:spcBef>
                <a:spcPct val="0"/>
              </a:spcBef>
            </a:pPr>
            <a:r>
              <a:rPr lang="en-US" sz="1600">
                <a:solidFill>
                  <a:srgbClr val="000000"/>
                </a:solidFill>
                <a:cs typeface="Calibri"/>
              </a:rPr>
              <a:t>Lowering to </a:t>
            </a:r>
            <a:r>
              <a:rPr lang="en-US" sz="1600" err="1">
                <a:solidFill>
                  <a:srgbClr val="000000"/>
                </a:solidFill>
                <a:cs typeface="Calibri"/>
              </a:rPr>
              <a:t>WhyML</a:t>
            </a:r>
            <a:endParaRPr lang="en-US" sz="1600">
              <a:solidFill>
                <a:srgbClr val="000000"/>
              </a:solidFill>
              <a:cs typeface="Calibri"/>
            </a:endParaRPr>
          </a:p>
        </p:txBody>
      </p:sp>
      <p:sp>
        <p:nvSpPr>
          <p:cNvPr id="6" name="Rectangle: Rounded Corners 5">
            <a:extLst>
              <a:ext uri="{FF2B5EF4-FFF2-40B4-BE49-F238E27FC236}">
                <a16:creationId xmlns:a16="http://schemas.microsoft.com/office/drawing/2014/main" id="{1D45B9BC-54BA-05C2-A743-3AB3658E993B}"/>
              </a:ext>
            </a:extLst>
          </p:cNvPr>
          <p:cNvSpPr/>
          <p:nvPr/>
        </p:nvSpPr>
        <p:spPr bwMode="auto">
          <a:xfrm>
            <a:off x="7677192" y="1616843"/>
            <a:ext cx="1909233" cy="1200150"/>
          </a:xfrm>
          <a:prstGeom prst="roundRect">
            <a:avLst/>
          </a:prstGeom>
          <a:solidFill>
            <a:schemeClr val="accent6">
              <a:lumMod val="20000"/>
              <a:lumOff val="80000"/>
            </a:schemeClr>
          </a:solidFill>
          <a:ln>
            <a:solidFill>
              <a:schemeClr val="accent1">
                <a:lumMod val="75000"/>
              </a:schemeClr>
            </a:solidFill>
            <a:headEnd/>
            <a:tailEnd/>
          </a:ln>
        </p:spPr>
        <p:style>
          <a:lnRef idx="1">
            <a:schemeClr val="accent1"/>
          </a:lnRef>
          <a:fillRef idx="2">
            <a:schemeClr val="accent1"/>
          </a:fillRef>
          <a:effectRef idx="1">
            <a:schemeClr val="accent1"/>
          </a:effectRef>
          <a:fontRef idx="minor">
            <a:schemeClr val="dk1"/>
          </a:fontRef>
        </p:style>
        <p:txBody>
          <a:bodyPr lIns="91440" tIns="45720" rIns="91440" bIns="45720" rtlCol="0" anchor="b">
            <a:prstTxWarp prst="textNoShape">
              <a:avLst/>
            </a:prstTxWarp>
          </a:bodyPr>
          <a:lstStyle/>
          <a:p>
            <a:pPr algn="ctr">
              <a:spcBef>
                <a:spcPct val="0"/>
              </a:spcBef>
            </a:pPr>
            <a:r>
              <a:rPr lang="en-US" sz="1600">
                <a:solidFill>
                  <a:srgbClr val="000000"/>
                </a:solidFill>
                <a:cs typeface="Calibri" panose="020F0502020204030204"/>
              </a:rPr>
              <a:t>SMT Solver</a:t>
            </a:r>
            <a:endParaRPr lang="en-US"/>
          </a:p>
          <a:p>
            <a:pPr algn="ctr">
              <a:spcBef>
                <a:spcPct val="0"/>
              </a:spcBef>
            </a:pPr>
            <a:r>
              <a:rPr lang="en-US" sz="1600">
                <a:solidFill>
                  <a:srgbClr val="000000"/>
                </a:solidFill>
                <a:cs typeface="Calibri" panose="020F0502020204030204"/>
              </a:rPr>
              <a:t>(Z3, Alt-Ergo, CVC5)</a:t>
            </a:r>
          </a:p>
          <a:p>
            <a:pPr algn="ctr">
              <a:spcBef>
                <a:spcPct val="0"/>
              </a:spcBef>
            </a:pPr>
            <a:endParaRPr lang="en-US" sz="1600">
              <a:solidFill>
                <a:srgbClr val="000000"/>
              </a:solidFill>
              <a:cs typeface="Calibri" panose="020F0502020204030204"/>
            </a:endParaRPr>
          </a:p>
        </p:txBody>
      </p:sp>
      <p:sp>
        <p:nvSpPr>
          <p:cNvPr id="20" name="TextBox 19">
            <a:extLst>
              <a:ext uri="{FF2B5EF4-FFF2-40B4-BE49-F238E27FC236}">
                <a16:creationId xmlns:a16="http://schemas.microsoft.com/office/drawing/2014/main" id="{2560D496-620E-C995-5E46-A334C556AB04}"/>
              </a:ext>
            </a:extLst>
          </p:cNvPr>
          <p:cNvSpPr txBox="1"/>
          <p:nvPr/>
        </p:nvSpPr>
        <p:spPr>
          <a:xfrm>
            <a:off x="437101" y="1354710"/>
            <a:ext cx="1201990" cy="584775"/>
          </a:xfrm>
          <a:prstGeom prst="rect">
            <a:avLst/>
          </a:prstGeom>
          <a:noFill/>
        </p:spPr>
        <p:txBody>
          <a:bodyPr wrap="square" rtlCol="0">
            <a:spAutoFit/>
          </a:bodyPr>
          <a:lstStyle/>
          <a:p>
            <a:pPr algn="ctr"/>
            <a:r>
              <a:rPr lang="en-US" sz="1600">
                <a:solidFill>
                  <a:srgbClr val="000000"/>
                </a:solidFill>
                <a:cs typeface="Calibri"/>
              </a:rPr>
              <a:t>C++ with Annotations</a:t>
            </a:r>
            <a:endParaRPr lang="en-US" sz="1600"/>
          </a:p>
        </p:txBody>
      </p:sp>
      <p:sp>
        <p:nvSpPr>
          <p:cNvPr id="7" name="Rounded Rectangle 6">
            <a:extLst>
              <a:ext uri="{FF2B5EF4-FFF2-40B4-BE49-F238E27FC236}">
                <a16:creationId xmlns:a16="http://schemas.microsoft.com/office/drawing/2014/main" id="{C91847C7-66F0-65CC-175E-388DC4CC3DA3}"/>
              </a:ext>
            </a:extLst>
          </p:cNvPr>
          <p:cNvSpPr/>
          <p:nvPr/>
        </p:nvSpPr>
        <p:spPr bwMode="auto">
          <a:xfrm>
            <a:off x="2412883" y="1383014"/>
            <a:ext cx="2275368" cy="2212376"/>
          </a:xfrm>
          <a:prstGeom prst="roundRect">
            <a:avLst/>
          </a:prstGeom>
          <a:solidFill>
            <a:schemeClr val="accent2">
              <a:lumMod val="20000"/>
              <a:lumOff val="80000"/>
            </a:schemeClr>
          </a:solidFill>
          <a:ln>
            <a:solidFill>
              <a:schemeClr val="accent1">
                <a:lumMod val="75000"/>
              </a:schemeClr>
            </a:solidFill>
            <a:headEnd/>
            <a:tailEnd/>
          </a:ln>
        </p:spPr>
        <p:style>
          <a:lnRef idx="1">
            <a:schemeClr val="accent1"/>
          </a:lnRef>
          <a:fillRef idx="2">
            <a:schemeClr val="accent1"/>
          </a:fillRef>
          <a:effectRef idx="1">
            <a:schemeClr val="accent1"/>
          </a:effectRef>
          <a:fontRef idx="minor">
            <a:schemeClr val="dk1"/>
          </a:fontRef>
        </p:style>
        <p:txBody>
          <a:bodyPr rtlCol="0" anchor="t">
            <a:prstTxWarp prst="textNoShape">
              <a:avLst/>
            </a:prstTxWarp>
          </a:bodyPr>
          <a:lstStyle/>
          <a:p>
            <a:pPr algn="ctr">
              <a:spcBef>
                <a:spcPct val="0"/>
              </a:spcBef>
            </a:pPr>
            <a:r>
              <a:rPr lang="en-US" sz="1600">
                <a:solidFill>
                  <a:srgbClr val="000000"/>
                </a:solidFill>
              </a:rPr>
              <a:t>ROSE</a:t>
            </a:r>
          </a:p>
        </p:txBody>
      </p:sp>
      <p:sp>
        <p:nvSpPr>
          <p:cNvPr id="12" name="Rounded Rectangle 11">
            <a:extLst>
              <a:ext uri="{FF2B5EF4-FFF2-40B4-BE49-F238E27FC236}">
                <a16:creationId xmlns:a16="http://schemas.microsoft.com/office/drawing/2014/main" id="{083EC8C8-DA36-87C3-06C1-228A1F9FCFC7}"/>
              </a:ext>
            </a:extLst>
          </p:cNvPr>
          <p:cNvSpPr/>
          <p:nvPr/>
        </p:nvSpPr>
        <p:spPr bwMode="auto">
          <a:xfrm>
            <a:off x="2704229" y="1939485"/>
            <a:ext cx="1687033" cy="569974"/>
          </a:xfrm>
          <a:prstGeom prst="roundRect">
            <a:avLst/>
          </a:prstGeom>
          <a:gradFill flip="none" rotWithShape="1">
            <a:gsLst>
              <a:gs pos="0">
                <a:schemeClr val="bg1">
                  <a:lumMod val="65000"/>
                  <a:tint val="66000"/>
                  <a:satMod val="160000"/>
                </a:schemeClr>
              </a:gs>
              <a:gs pos="50000">
                <a:schemeClr val="bg1">
                  <a:lumMod val="65000"/>
                  <a:tint val="44500"/>
                  <a:satMod val="160000"/>
                </a:schemeClr>
              </a:gs>
              <a:gs pos="100000">
                <a:schemeClr val="bg1">
                  <a:lumMod val="65000"/>
                  <a:tint val="23500"/>
                  <a:satMod val="160000"/>
                </a:schemeClr>
              </a:gs>
            </a:gsLst>
            <a:lin ang="16200000" scaled="1"/>
            <a:tileRect/>
          </a:gradFill>
          <a:ln>
            <a:solidFill>
              <a:schemeClr val="accent1">
                <a:lumMod val="75000"/>
              </a:schemeClr>
            </a:solidFill>
            <a:headEnd/>
            <a:tailEnd/>
          </a:ln>
        </p:spPr>
        <p:style>
          <a:lnRef idx="1">
            <a:schemeClr val="accent1"/>
          </a:lnRef>
          <a:fillRef idx="2">
            <a:schemeClr val="accent1"/>
          </a:fillRef>
          <a:effectRef idx="1">
            <a:schemeClr val="accent1"/>
          </a:effectRef>
          <a:fontRef idx="minor">
            <a:schemeClr val="dk1"/>
          </a:fontRef>
        </p:style>
        <p:txBody>
          <a:bodyPr rtlCol="0" anchor="ctr">
            <a:prstTxWarp prst="textNoShape">
              <a:avLst/>
            </a:prstTxWarp>
          </a:bodyPr>
          <a:lstStyle/>
          <a:p>
            <a:pPr algn="ctr">
              <a:spcBef>
                <a:spcPct val="0"/>
              </a:spcBef>
            </a:pPr>
            <a:r>
              <a:rPr lang="en-US" sz="1600">
                <a:solidFill>
                  <a:srgbClr val="000000"/>
                </a:solidFill>
              </a:rPr>
              <a:t>C/C++ Front End</a:t>
            </a:r>
          </a:p>
        </p:txBody>
      </p:sp>
      <p:sp>
        <p:nvSpPr>
          <p:cNvPr id="19" name="Rounded Rectangle 18">
            <a:extLst>
              <a:ext uri="{FF2B5EF4-FFF2-40B4-BE49-F238E27FC236}">
                <a16:creationId xmlns:a16="http://schemas.microsoft.com/office/drawing/2014/main" id="{2DF500BE-8806-57CA-EC20-27C7E0A5B43E}"/>
              </a:ext>
            </a:extLst>
          </p:cNvPr>
          <p:cNvSpPr/>
          <p:nvPr/>
        </p:nvSpPr>
        <p:spPr bwMode="auto">
          <a:xfrm>
            <a:off x="2704228" y="2735518"/>
            <a:ext cx="1687033" cy="569974"/>
          </a:xfrm>
          <a:prstGeom prst="roundRect">
            <a:avLst/>
          </a:prstGeom>
          <a:gradFill flip="none" rotWithShape="1">
            <a:gsLst>
              <a:gs pos="0">
                <a:schemeClr val="bg1">
                  <a:lumMod val="65000"/>
                  <a:tint val="66000"/>
                  <a:satMod val="160000"/>
                </a:schemeClr>
              </a:gs>
              <a:gs pos="50000">
                <a:schemeClr val="bg1">
                  <a:lumMod val="65000"/>
                  <a:tint val="44500"/>
                  <a:satMod val="160000"/>
                </a:schemeClr>
              </a:gs>
              <a:gs pos="100000">
                <a:schemeClr val="bg1">
                  <a:lumMod val="65000"/>
                  <a:tint val="23500"/>
                  <a:satMod val="160000"/>
                </a:schemeClr>
              </a:gs>
            </a:gsLst>
            <a:lin ang="16200000" scaled="1"/>
            <a:tileRect/>
          </a:gradFill>
          <a:ln>
            <a:solidFill>
              <a:schemeClr val="accent1">
                <a:lumMod val="75000"/>
              </a:schemeClr>
            </a:solidFill>
            <a:headEnd/>
            <a:tailEnd/>
          </a:ln>
        </p:spPr>
        <p:style>
          <a:lnRef idx="1">
            <a:schemeClr val="accent1"/>
          </a:lnRef>
          <a:fillRef idx="2">
            <a:schemeClr val="accent1"/>
          </a:fillRef>
          <a:effectRef idx="1">
            <a:schemeClr val="accent1"/>
          </a:effectRef>
          <a:fontRef idx="minor">
            <a:schemeClr val="dk1"/>
          </a:fontRef>
        </p:style>
        <p:txBody>
          <a:bodyPr rtlCol="0" anchor="ctr">
            <a:prstTxWarp prst="textNoShape">
              <a:avLst/>
            </a:prstTxWarp>
          </a:bodyPr>
          <a:lstStyle/>
          <a:p>
            <a:pPr algn="ctr">
              <a:spcBef>
                <a:spcPct val="0"/>
              </a:spcBef>
            </a:pPr>
            <a:r>
              <a:rPr lang="en-US" sz="1600">
                <a:solidFill>
                  <a:srgbClr val="000000"/>
                </a:solidFill>
              </a:rPr>
              <a:t>SAGE AST</a:t>
            </a:r>
          </a:p>
        </p:txBody>
      </p:sp>
      <p:cxnSp>
        <p:nvCxnSpPr>
          <p:cNvPr id="22" name="Straight Arrow Connector 21">
            <a:extLst>
              <a:ext uri="{FF2B5EF4-FFF2-40B4-BE49-F238E27FC236}">
                <a16:creationId xmlns:a16="http://schemas.microsoft.com/office/drawing/2014/main" id="{EBBA7EFE-5BEA-291A-2DD8-725F882D3D1C}"/>
              </a:ext>
            </a:extLst>
          </p:cNvPr>
          <p:cNvCxnSpPr>
            <a:stCxn id="12" idx="2"/>
            <a:endCxn id="19" idx="0"/>
          </p:cNvCxnSpPr>
          <p:nvPr/>
        </p:nvCxnSpPr>
        <p:spPr>
          <a:xfrm flipH="1">
            <a:off x="3547745" y="2509459"/>
            <a:ext cx="1" cy="226059"/>
          </a:xfrm>
          <a:prstGeom prst="straightConnector1">
            <a:avLst/>
          </a:prstGeom>
          <a:ln w="28575" cmpd="sng">
            <a:solidFill>
              <a:schemeClr val="accent1">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Rectangle: Rounded Corners 14">
            <a:extLst>
              <a:ext uri="{FF2B5EF4-FFF2-40B4-BE49-F238E27FC236}">
                <a16:creationId xmlns:a16="http://schemas.microsoft.com/office/drawing/2014/main" id="{7B21DEDA-5B2A-5643-8530-A56096C20AC0}"/>
              </a:ext>
            </a:extLst>
          </p:cNvPr>
          <p:cNvSpPr/>
          <p:nvPr/>
        </p:nvSpPr>
        <p:spPr bwMode="auto">
          <a:xfrm>
            <a:off x="1493446" y="5463601"/>
            <a:ext cx="1485900" cy="584567"/>
          </a:xfrm>
          <a:prstGeom prst="roundRect">
            <a:avLst/>
          </a:prstGeom>
          <a:gradFill flip="none" rotWithShape="1">
            <a:gsLst>
              <a:gs pos="0">
                <a:schemeClr val="bg1">
                  <a:lumMod val="65000"/>
                  <a:tint val="66000"/>
                  <a:satMod val="160000"/>
                </a:schemeClr>
              </a:gs>
              <a:gs pos="50000">
                <a:schemeClr val="bg1">
                  <a:lumMod val="65000"/>
                  <a:tint val="44500"/>
                  <a:satMod val="160000"/>
                </a:schemeClr>
              </a:gs>
              <a:gs pos="100000">
                <a:schemeClr val="bg1">
                  <a:lumMod val="65000"/>
                  <a:tint val="23500"/>
                  <a:satMod val="160000"/>
                </a:schemeClr>
              </a:gs>
            </a:gsLst>
            <a:lin ang="16200000" scaled="1"/>
            <a:tileRect/>
          </a:gradFill>
          <a:ln>
            <a:solidFill>
              <a:schemeClr val="accent1">
                <a:lumMod val="75000"/>
              </a:schemeClr>
            </a:solidFill>
            <a:headEnd/>
            <a:tailEnd/>
          </a:ln>
        </p:spPr>
        <p:style>
          <a:lnRef idx="1">
            <a:schemeClr val="accent1"/>
          </a:lnRef>
          <a:fillRef idx="2">
            <a:schemeClr val="accent1"/>
          </a:fillRef>
          <a:effectRef idx="1">
            <a:schemeClr val="accent1"/>
          </a:effectRef>
          <a:fontRef idx="minor">
            <a:schemeClr val="dk1"/>
          </a:fontRef>
        </p:style>
        <p:txBody>
          <a:bodyPr rtlCol="0" anchor="ctr">
            <a:prstTxWarp prst="textNoShape">
              <a:avLst/>
            </a:prstTxWarp>
          </a:bodyPr>
          <a:lstStyle/>
          <a:p>
            <a:pPr algn="ctr">
              <a:spcBef>
                <a:spcPct val="0"/>
              </a:spcBef>
            </a:pPr>
            <a:r>
              <a:rPr lang="en-US" sz="1600">
                <a:solidFill>
                  <a:srgbClr val="000000"/>
                </a:solidFill>
                <a:cs typeface="Calibri" panose="020F0502020204030204"/>
              </a:rPr>
              <a:t>VC Annotation Processing</a:t>
            </a:r>
          </a:p>
        </p:txBody>
      </p:sp>
      <p:cxnSp>
        <p:nvCxnSpPr>
          <p:cNvPr id="26" name="Straight Arrow Connector 25">
            <a:extLst>
              <a:ext uri="{FF2B5EF4-FFF2-40B4-BE49-F238E27FC236}">
                <a16:creationId xmlns:a16="http://schemas.microsoft.com/office/drawing/2014/main" id="{BC12D6D4-CB96-8B17-4859-6F8277F293E7}"/>
              </a:ext>
            </a:extLst>
          </p:cNvPr>
          <p:cNvCxnSpPr>
            <a:cxnSpLocks/>
            <a:stCxn id="15" idx="2"/>
            <a:endCxn id="24" idx="0"/>
          </p:cNvCxnSpPr>
          <p:nvPr/>
        </p:nvCxnSpPr>
        <p:spPr>
          <a:xfrm>
            <a:off x="2236396" y="4898380"/>
            <a:ext cx="0" cy="565221"/>
          </a:xfrm>
          <a:prstGeom prst="straightConnector1">
            <a:avLst/>
          </a:prstGeom>
          <a:ln w="28575" cmpd="sng">
            <a:solidFill>
              <a:schemeClr val="accent1">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29" name="Rectangle: Rounded Corners 14">
            <a:extLst>
              <a:ext uri="{FF2B5EF4-FFF2-40B4-BE49-F238E27FC236}">
                <a16:creationId xmlns:a16="http://schemas.microsoft.com/office/drawing/2014/main" id="{253D0201-961A-2C01-F6C9-ECD78D36A4E2}"/>
              </a:ext>
            </a:extLst>
          </p:cNvPr>
          <p:cNvSpPr/>
          <p:nvPr/>
        </p:nvSpPr>
        <p:spPr bwMode="auto">
          <a:xfrm>
            <a:off x="3186171" y="4783219"/>
            <a:ext cx="1485900" cy="559172"/>
          </a:xfrm>
          <a:prstGeom prst="roundRect">
            <a:avLst/>
          </a:prstGeom>
          <a:gradFill flip="none" rotWithShape="1">
            <a:gsLst>
              <a:gs pos="0">
                <a:schemeClr val="bg1">
                  <a:lumMod val="65000"/>
                  <a:tint val="66000"/>
                  <a:satMod val="160000"/>
                </a:schemeClr>
              </a:gs>
              <a:gs pos="50000">
                <a:schemeClr val="bg1">
                  <a:lumMod val="65000"/>
                  <a:tint val="44500"/>
                  <a:satMod val="160000"/>
                </a:schemeClr>
              </a:gs>
              <a:gs pos="100000">
                <a:schemeClr val="bg1">
                  <a:lumMod val="65000"/>
                  <a:tint val="23500"/>
                  <a:satMod val="160000"/>
                </a:schemeClr>
              </a:gs>
            </a:gsLst>
            <a:lin ang="16200000" scaled="1"/>
            <a:tileRect/>
          </a:gradFill>
          <a:ln>
            <a:solidFill>
              <a:schemeClr val="accent1">
                <a:lumMod val="75000"/>
              </a:schemeClr>
            </a:solidFill>
            <a:headEnd/>
            <a:tailEnd/>
          </a:ln>
        </p:spPr>
        <p:style>
          <a:lnRef idx="1">
            <a:schemeClr val="accent1"/>
          </a:lnRef>
          <a:fillRef idx="2">
            <a:schemeClr val="accent1"/>
          </a:fillRef>
          <a:effectRef idx="1">
            <a:schemeClr val="accent1"/>
          </a:effectRef>
          <a:fontRef idx="minor">
            <a:schemeClr val="dk1"/>
          </a:fontRef>
        </p:style>
        <p:txBody>
          <a:bodyPr lIns="91440" tIns="45720" rIns="91440" bIns="45720" rtlCol="0" anchor="ctr">
            <a:prstTxWarp prst="textNoShape">
              <a:avLst/>
            </a:prstTxWarp>
          </a:bodyPr>
          <a:lstStyle/>
          <a:p>
            <a:pPr algn="ctr">
              <a:spcBef>
                <a:spcPct val="0"/>
              </a:spcBef>
            </a:pPr>
            <a:r>
              <a:rPr lang="en-US" sz="1600">
                <a:solidFill>
                  <a:srgbClr val="000000"/>
                </a:solidFill>
                <a:cs typeface="Calibri" panose="020F0502020204030204"/>
              </a:rPr>
              <a:t>Castor IR</a:t>
            </a:r>
            <a:endParaRPr lang="en-US"/>
          </a:p>
        </p:txBody>
      </p:sp>
      <p:sp>
        <p:nvSpPr>
          <p:cNvPr id="31" name="Multidocument 30">
            <a:extLst>
              <a:ext uri="{FF2B5EF4-FFF2-40B4-BE49-F238E27FC236}">
                <a16:creationId xmlns:a16="http://schemas.microsoft.com/office/drawing/2014/main" id="{62971064-AE09-52D7-B5E7-44EEB5766296}"/>
              </a:ext>
            </a:extLst>
          </p:cNvPr>
          <p:cNvSpPr/>
          <p:nvPr/>
        </p:nvSpPr>
        <p:spPr bwMode="auto">
          <a:xfrm>
            <a:off x="437101" y="1939485"/>
            <a:ext cx="1201479" cy="956930"/>
          </a:xfrm>
          <a:prstGeom prst="flowChartMultidocument">
            <a:avLst/>
          </a:prstGeom>
          <a:solidFill>
            <a:schemeClr val="bg1">
              <a:lumMod val="95000"/>
            </a:schemeClr>
          </a:solidFill>
          <a:ln>
            <a:solidFill>
              <a:schemeClr val="accent1">
                <a:lumMod val="75000"/>
              </a:schemeClr>
            </a:solidFill>
            <a:headEnd/>
            <a:tailEnd/>
          </a:ln>
        </p:spPr>
        <p:style>
          <a:lnRef idx="1">
            <a:schemeClr val="accent1"/>
          </a:lnRef>
          <a:fillRef idx="2">
            <a:schemeClr val="accent1"/>
          </a:fillRef>
          <a:effectRef idx="1">
            <a:schemeClr val="accent1"/>
          </a:effectRef>
          <a:fontRef idx="minor">
            <a:schemeClr val="dk1"/>
          </a:fontRef>
        </p:style>
        <p:txBody>
          <a:bodyPr rtlCol="0" anchor="ctr">
            <a:prstTxWarp prst="textNoShape">
              <a:avLst/>
            </a:prstTxWarp>
          </a:bodyPr>
          <a:lstStyle/>
          <a:p>
            <a:pPr algn="ctr">
              <a:spcBef>
                <a:spcPct val="0"/>
              </a:spcBef>
            </a:pPr>
            <a:r>
              <a:rPr lang="en-US" sz="1600" err="1">
                <a:solidFill>
                  <a:srgbClr val="000000"/>
                </a:solidFill>
              </a:rPr>
              <a:t>foo.cpp</a:t>
            </a:r>
            <a:endParaRPr lang="en-US" sz="1600">
              <a:solidFill>
                <a:srgbClr val="000000"/>
              </a:solidFill>
            </a:endParaRPr>
          </a:p>
        </p:txBody>
      </p:sp>
      <p:sp>
        <p:nvSpPr>
          <p:cNvPr id="32" name="Rectangle: Rounded Corners 4">
            <a:extLst>
              <a:ext uri="{FF2B5EF4-FFF2-40B4-BE49-F238E27FC236}">
                <a16:creationId xmlns:a16="http://schemas.microsoft.com/office/drawing/2014/main" id="{F4600432-8ABE-C8DD-571F-C4AB001227E4}"/>
              </a:ext>
            </a:extLst>
          </p:cNvPr>
          <p:cNvSpPr/>
          <p:nvPr/>
        </p:nvSpPr>
        <p:spPr bwMode="auto">
          <a:xfrm>
            <a:off x="7767150" y="4650722"/>
            <a:ext cx="1729316" cy="813583"/>
          </a:xfrm>
          <a:prstGeom prst="roundRect">
            <a:avLst/>
          </a:prstGeom>
          <a:solidFill>
            <a:schemeClr val="accent1">
              <a:lumMod val="40000"/>
              <a:lumOff val="60000"/>
            </a:schemeClr>
          </a:solidFill>
          <a:ln>
            <a:solidFill>
              <a:schemeClr val="accent1">
                <a:lumMod val="75000"/>
              </a:schemeClr>
            </a:solidFill>
            <a:headEnd/>
            <a:tailEnd/>
          </a:ln>
        </p:spPr>
        <p:style>
          <a:lnRef idx="1">
            <a:schemeClr val="accent1"/>
          </a:lnRef>
          <a:fillRef idx="2">
            <a:schemeClr val="accent1"/>
          </a:fillRef>
          <a:effectRef idx="1">
            <a:schemeClr val="accent1"/>
          </a:effectRef>
          <a:fontRef idx="minor">
            <a:schemeClr val="dk1"/>
          </a:fontRef>
        </p:style>
        <p:txBody>
          <a:bodyPr lIns="91440" tIns="45720" rIns="91440" bIns="45720" rtlCol="0" anchor="ctr">
            <a:prstTxWarp prst="textNoShape">
              <a:avLst/>
            </a:prstTxWarp>
          </a:bodyPr>
          <a:lstStyle/>
          <a:p>
            <a:pPr algn="ctr">
              <a:spcBef>
                <a:spcPct val="0"/>
              </a:spcBef>
            </a:pPr>
            <a:r>
              <a:rPr lang="en-US" sz="1600">
                <a:solidFill>
                  <a:srgbClr val="000000"/>
                </a:solidFill>
                <a:cs typeface="Calibri" panose="020F0502020204030204"/>
              </a:rPr>
              <a:t>Why3find</a:t>
            </a:r>
          </a:p>
        </p:txBody>
      </p:sp>
      <p:cxnSp>
        <p:nvCxnSpPr>
          <p:cNvPr id="34" name="Straight Arrow Connector 33">
            <a:extLst>
              <a:ext uri="{FF2B5EF4-FFF2-40B4-BE49-F238E27FC236}">
                <a16:creationId xmlns:a16="http://schemas.microsoft.com/office/drawing/2014/main" id="{799BCAFE-C3DF-D513-AD0F-C782195BD81E}"/>
              </a:ext>
            </a:extLst>
          </p:cNvPr>
          <p:cNvCxnSpPr>
            <a:cxnSpLocks/>
            <a:stCxn id="32" idx="0"/>
          </p:cNvCxnSpPr>
          <p:nvPr/>
        </p:nvCxnSpPr>
        <p:spPr>
          <a:xfrm flipV="1">
            <a:off x="8631808" y="3949107"/>
            <a:ext cx="0" cy="701615"/>
          </a:xfrm>
          <a:prstGeom prst="straightConnector1">
            <a:avLst/>
          </a:prstGeom>
          <a:ln w="28575" cmpd="sng">
            <a:solidFill>
              <a:schemeClr val="accent1">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2F37ACFC-50E4-BD6F-FFF2-149FD212736A}"/>
              </a:ext>
            </a:extLst>
          </p:cNvPr>
          <p:cNvSpPr txBox="1"/>
          <p:nvPr/>
        </p:nvSpPr>
        <p:spPr>
          <a:xfrm>
            <a:off x="9407109" y="3878581"/>
            <a:ext cx="1828797" cy="830997"/>
          </a:xfrm>
          <a:prstGeom prst="rect">
            <a:avLst/>
          </a:prstGeom>
          <a:noFill/>
        </p:spPr>
        <p:txBody>
          <a:bodyPr wrap="square" lIns="91440" tIns="45720" rIns="91440" bIns="45720" rtlCol="0" anchor="t">
            <a:spAutoFit/>
          </a:bodyPr>
          <a:lstStyle/>
          <a:p>
            <a:r>
              <a:rPr lang="en-US" sz="1200" i="1"/>
              <a:t>Parallel invocation of multiple SMT solvers</a:t>
            </a:r>
          </a:p>
          <a:p>
            <a:endParaRPr lang="en-US" sz="1200" i="1">
              <a:cs typeface="Calibri"/>
            </a:endParaRPr>
          </a:p>
          <a:p>
            <a:r>
              <a:rPr lang="en-US" sz="1200" i="1">
                <a:cs typeface="Calibri"/>
              </a:rPr>
              <a:t>Proof strategies</a:t>
            </a:r>
          </a:p>
        </p:txBody>
      </p:sp>
      <p:cxnSp>
        <p:nvCxnSpPr>
          <p:cNvPr id="37" name="Straight Arrow Connector 36">
            <a:extLst>
              <a:ext uri="{FF2B5EF4-FFF2-40B4-BE49-F238E27FC236}">
                <a16:creationId xmlns:a16="http://schemas.microsoft.com/office/drawing/2014/main" id="{684037B0-F4FE-6C51-C3FC-34C3CE4C30F8}"/>
              </a:ext>
            </a:extLst>
          </p:cNvPr>
          <p:cNvCxnSpPr>
            <a:cxnSpLocks/>
          </p:cNvCxnSpPr>
          <p:nvPr/>
        </p:nvCxnSpPr>
        <p:spPr>
          <a:xfrm flipV="1">
            <a:off x="8611699" y="2816993"/>
            <a:ext cx="1" cy="424680"/>
          </a:xfrm>
          <a:prstGeom prst="straightConnector1">
            <a:avLst/>
          </a:prstGeom>
          <a:ln w="28575" cmpd="sng">
            <a:solidFill>
              <a:schemeClr val="accent1">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B0E3FE8D-B533-13A6-D25A-DCAE191C68D9}"/>
              </a:ext>
            </a:extLst>
          </p:cNvPr>
          <p:cNvSpPr txBox="1"/>
          <p:nvPr/>
        </p:nvSpPr>
        <p:spPr>
          <a:xfrm>
            <a:off x="10249444" y="2166041"/>
            <a:ext cx="16933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rgbClr val="FF0000"/>
                </a:solidFill>
                <a:cs typeface="Calibri"/>
              </a:rPr>
              <a:t>Invalid</a:t>
            </a:r>
          </a:p>
        </p:txBody>
      </p:sp>
      <p:sp>
        <p:nvSpPr>
          <p:cNvPr id="39" name="TextBox 38">
            <a:extLst>
              <a:ext uri="{FF2B5EF4-FFF2-40B4-BE49-F238E27FC236}">
                <a16:creationId xmlns:a16="http://schemas.microsoft.com/office/drawing/2014/main" id="{F51F00A1-449D-F0CD-769A-E52D799A52B9}"/>
              </a:ext>
            </a:extLst>
          </p:cNvPr>
          <p:cNvSpPr txBox="1"/>
          <p:nvPr/>
        </p:nvSpPr>
        <p:spPr>
          <a:xfrm>
            <a:off x="10249444" y="2632924"/>
            <a:ext cx="16933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rgbClr val="0070C0"/>
                </a:solidFill>
                <a:cs typeface="Calibri"/>
              </a:rPr>
              <a:t>Timeout</a:t>
            </a:r>
          </a:p>
        </p:txBody>
      </p:sp>
      <p:cxnSp>
        <p:nvCxnSpPr>
          <p:cNvPr id="41" name="Straight Arrow Connector 40">
            <a:extLst>
              <a:ext uri="{FF2B5EF4-FFF2-40B4-BE49-F238E27FC236}">
                <a16:creationId xmlns:a16="http://schemas.microsoft.com/office/drawing/2014/main" id="{3662DF2E-7FF4-804B-ACFF-D0C8E30E03B7}"/>
              </a:ext>
            </a:extLst>
          </p:cNvPr>
          <p:cNvCxnSpPr>
            <a:stCxn id="6" idx="3"/>
          </p:cNvCxnSpPr>
          <p:nvPr/>
        </p:nvCxnSpPr>
        <p:spPr>
          <a:xfrm flipV="1">
            <a:off x="9586425" y="1883824"/>
            <a:ext cx="1163091" cy="333094"/>
          </a:xfrm>
          <a:prstGeom prst="straightConnector1">
            <a:avLst/>
          </a:prstGeom>
          <a:ln w="28575" cmpd="sng">
            <a:solidFill>
              <a:schemeClr val="accent1">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FC8F5FF2-8259-83BC-AB22-98015F74B113}"/>
              </a:ext>
            </a:extLst>
          </p:cNvPr>
          <p:cNvCxnSpPr>
            <a:stCxn id="6" idx="3"/>
          </p:cNvCxnSpPr>
          <p:nvPr/>
        </p:nvCxnSpPr>
        <p:spPr>
          <a:xfrm>
            <a:off x="9586425" y="2216918"/>
            <a:ext cx="1067398" cy="133789"/>
          </a:xfrm>
          <a:prstGeom prst="straightConnector1">
            <a:avLst/>
          </a:prstGeom>
          <a:ln w="28575" cmpd="sng">
            <a:solidFill>
              <a:schemeClr val="accent1">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AB5451E6-80FF-9477-4712-6B53396CBEEF}"/>
              </a:ext>
            </a:extLst>
          </p:cNvPr>
          <p:cNvCxnSpPr>
            <a:stCxn id="6" idx="3"/>
          </p:cNvCxnSpPr>
          <p:nvPr/>
        </p:nvCxnSpPr>
        <p:spPr>
          <a:xfrm>
            <a:off x="9586425" y="2216918"/>
            <a:ext cx="1035501" cy="566445"/>
          </a:xfrm>
          <a:prstGeom prst="straightConnector1">
            <a:avLst/>
          </a:prstGeom>
          <a:ln w="28575" cmpd="sng">
            <a:solidFill>
              <a:schemeClr val="accent1">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8" name="Elbow Connector 47">
            <a:extLst>
              <a:ext uri="{FF2B5EF4-FFF2-40B4-BE49-F238E27FC236}">
                <a16:creationId xmlns:a16="http://schemas.microsoft.com/office/drawing/2014/main" id="{67BCC75A-143E-DA9B-5E0A-CDBE5C632685}"/>
              </a:ext>
            </a:extLst>
          </p:cNvPr>
          <p:cNvCxnSpPr>
            <a:cxnSpLocks/>
            <a:stCxn id="24" idx="3"/>
            <a:endCxn id="29" idx="2"/>
          </p:cNvCxnSpPr>
          <p:nvPr/>
        </p:nvCxnSpPr>
        <p:spPr>
          <a:xfrm flipV="1">
            <a:off x="2979346" y="5342391"/>
            <a:ext cx="949775" cy="413494"/>
          </a:xfrm>
          <a:prstGeom prst="bentConnector2">
            <a:avLst/>
          </a:prstGeom>
          <a:ln w="28575" cmpd="sng">
            <a:solidFill>
              <a:schemeClr val="accent1">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ADB8D886-C2F8-B55B-C806-31D89F68376D}"/>
              </a:ext>
            </a:extLst>
          </p:cNvPr>
          <p:cNvCxnSpPr>
            <a:stCxn id="31" idx="3"/>
            <a:endCxn id="12" idx="1"/>
          </p:cNvCxnSpPr>
          <p:nvPr/>
        </p:nvCxnSpPr>
        <p:spPr>
          <a:xfrm flipV="1">
            <a:off x="1638580" y="2224472"/>
            <a:ext cx="1065649" cy="193478"/>
          </a:xfrm>
          <a:prstGeom prst="straightConnector1">
            <a:avLst/>
          </a:prstGeom>
          <a:ln w="28575" cmpd="sng">
            <a:solidFill>
              <a:schemeClr val="accent1">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6" name="Elbow Connector 55">
            <a:extLst>
              <a:ext uri="{FF2B5EF4-FFF2-40B4-BE49-F238E27FC236}">
                <a16:creationId xmlns:a16="http://schemas.microsoft.com/office/drawing/2014/main" id="{417FDD52-5D1E-41D4-B33C-3BD54C4CD049}"/>
              </a:ext>
            </a:extLst>
          </p:cNvPr>
          <p:cNvCxnSpPr>
            <a:stCxn id="19" idx="2"/>
            <a:endCxn id="15" idx="0"/>
          </p:cNvCxnSpPr>
          <p:nvPr/>
        </p:nvCxnSpPr>
        <p:spPr>
          <a:xfrm rot="5400000">
            <a:off x="2351482" y="3190407"/>
            <a:ext cx="1081179" cy="1311349"/>
          </a:xfrm>
          <a:prstGeom prst="bentConnector3">
            <a:avLst>
              <a:gd name="adj1" fmla="val 38199"/>
            </a:avLst>
          </a:prstGeom>
          <a:ln w="28575" cmpd="sng">
            <a:solidFill>
              <a:schemeClr val="accent1">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E281A5AC-C5AE-2F46-7C4D-99C939C70DA7}"/>
              </a:ext>
            </a:extLst>
          </p:cNvPr>
          <p:cNvCxnSpPr>
            <a:stCxn id="29" idx="3"/>
            <a:endCxn id="16" idx="1"/>
          </p:cNvCxnSpPr>
          <p:nvPr/>
        </p:nvCxnSpPr>
        <p:spPr>
          <a:xfrm flipV="1">
            <a:off x="4672071" y="5057513"/>
            <a:ext cx="228947" cy="5292"/>
          </a:xfrm>
          <a:prstGeom prst="straightConnector1">
            <a:avLst/>
          </a:prstGeom>
          <a:ln w="28575" cmpd="sng">
            <a:solidFill>
              <a:schemeClr val="accent1">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1685FBFD-6E88-60BF-C8DB-914771C73F02}"/>
              </a:ext>
            </a:extLst>
          </p:cNvPr>
          <p:cNvCxnSpPr>
            <a:stCxn id="16" idx="3"/>
            <a:endCxn id="32" idx="1"/>
          </p:cNvCxnSpPr>
          <p:nvPr/>
        </p:nvCxnSpPr>
        <p:spPr>
          <a:xfrm>
            <a:off x="6127297" y="5057513"/>
            <a:ext cx="1639853" cy="1"/>
          </a:xfrm>
          <a:prstGeom prst="straightConnector1">
            <a:avLst/>
          </a:prstGeom>
          <a:ln w="28575" cmpd="sng">
            <a:solidFill>
              <a:schemeClr val="accent1">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234DD055-8367-D944-F310-0A9EE749B5C5}"/>
              </a:ext>
            </a:extLst>
          </p:cNvPr>
          <p:cNvSpPr txBox="1"/>
          <p:nvPr/>
        </p:nvSpPr>
        <p:spPr>
          <a:xfrm>
            <a:off x="8638953" y="2894821"/>
            <a:ext cx="1828797" cy="276999"/>
          </a:xfrm>
          <a:prstGeom prst="rect">
            <a:avLst/>
          </a:prstGeom>
          <a:noFill/>
        </p:spPr>
        <p:txBody>
          <a:bodyPr wrap="square" rtlCol="0">
            <a:spAutoFit/>
          </a:bodyPr>
          <a:lstStyle/>
          <a:p>
            <a:r>
              <a:rPr lang="en-US" sz="1200"/>
              <a:t>SMT-LIB</a:t>
            </a:r>
          </a:p>
        </p:txBody>
      </p:sp>
      <p:cxnSp>
        <p:nvCxnSpPr>
          <p:cNvPr id="66" name="Straight Arrow Connector 65">
            <a:extLst>
              <a:ext uri="{FF2B5EF4-FFF2-40B4-BE49-F238E27FC236}">
                <a16:creationId xmlns:a16="http://schemas.microsoft.com/office/drawing/2014/main" id="{6234B0F0-FE9F-4C99-A058-21042413B98C}"/>
              </a:ext>
            </a:extLst>
          </p:cNvPr>
          <p:cNvCxnSpPr>
            <a:cxnSpLocks/>
          </p:cNvCxnSpPr>
          <p:nvPr/>
        </p:nvCxnSpPr>
        <p:spPr>
          <a:xfrm flipV="1">
            <a:off x="8443967" y="3949107"/>
            <a:ext cx="0" cy="701615"/>
          </a:xfrm>
          <a:prstGeom prst="straightConnector1">
            <a:avLst/>
          </a:prstGeom>
          <a:ln w="28575" cmpd="sng">
            <a:solidFill>
              <a:schemeClr val="accent1">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698B0003-81AF-2B9E-A1DE-592F8D957B3A}"/>
              </a:ext>
            </a:extLst>
          </p:cNvPr>
          <p:cNvCxnSpPr>
            <a:cxnSpLocks/>
          </p:cNvCxnSpPr>
          <p:nvPr/>
        </p:nvCxnSpPr>
        <p:spPr>
          <a:xfrm flipV="1">
            <a:off x="8816106" y="3949107"/>
            <a:ext cx="0" cy="701615"/>
          </a:xfrm>
          <a:prstGeom prst="straightConnector1">
            <a:avLst/>
          </a:prstGeom>
          <a:ln w="28575" cmpd="sng">
            <a:solidFill>
              <a:schemeClr val="accent1">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83823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A2AA886-7D64-A084-9A2B-D052F8278F73}"/>
              </a:ext>
            </a:extLst>
          </p:cNvPr>
          <p:cNvSpPr>
            <a:spLocks noGrp="1"/>
          </p:cNvSpPr>
          <p:nvPr>
            <p:ph idx="1"/>
          </p:nvPr>
        </p:nvSpPr>
        <p:spPr>
          <a:xfrm>
            <a:off x="217710" y="1399191"/>
            <a:ext cx="11765279" cy="4906889"/>
          </a:xfrm>
        </p:spPr>
        <p:txBody>
          <a:bodyPr vert="horz" lIns="0" tIns="0" rIns="0" bIns="0" rtlCol="0" anchor="t">
            <a:normAutofit fontScale="92500" lnSpcReduction="20000"/>
          </a:bodyPr>
          <a:lstStyle/>
          <a:p>
            <a:pPr>
              <a:lnSpc>
                <a:spcPct val="120000"/>
              </a:lnSpc>
              <a:spcBef>
                <a:spcPts val="0"/>
              </a:spcBef>
            </a:pPr>
            <a:r>
              <a:rPr lang="en-US" dirty="0">
                <a:latin typeface="Calibri"/>
                <a:cs typeface="Calibri"/>
              </a:rPr>
              <a:t>Templates</a:t>
            </a:r>
          </a:p>
          <a:p>
            <a:pPr>
              <a:lnSpc>
                <a:spcPct val="120000"/>
              </a:lnSpc>
              <a:spcBef>
                <a:spcPts val="0"/>
              </a:spcBef>
            </a:pPr>
            <a:r>
              <a:rPr lang="en-US" dirty="0">
                <a:latin typeface="Calibri"/>
                <a:cs typeface="Calibri"/>
              </a:rPr>
              <a:t>Classes</a:t>
            </a:r>
          </a:p>
          <a:p>
            <a:pPr>
              <a:lnSpc>
                <a:spcPct val="120000"/>
              </a:lnSpc>
              <a:spcBef>
                <a:spcPts val="0"/>
              </a:spcBef>
            </a:pPr>
            <a:r>
              <a:rPr lang="en-US" dirty="0">
                <a:latin typeface="Calibri"/>
                <a:cs typeface="Calibri"/>
              </a:rPr>
              <a:t>Loops</a:t>
            </a:r>
          </a:p>
          <a:p>
            <a:pPr>
              <a:lnSpc>
                <a:spcPct val="120000"/>
              </a:lnSpc>
              <a:spcBef>
                <a:spcPts val="0"/>
              </a:spcBef>
            </a:pPr>
            <a:r>
              <a:rPr lang="en-US" dirty="0">
                <a:latin typeface="Calibri"/>
                <a:cs typeface="Calibri"/>
              </a:rPr>
              <a:t>Conditionals</a:t>
            </a:r>
          </a:p>
          <a:p>
            <a:pPr>
              <a:lnSpc>
                <a:spcPct val="120000"/>
              </a:lnSpc>
              <a:spcBef>
                <a:spcPts val="0"/>
              </a:spcBef>
            </a:pPr>
            <a:r>
              <a:rPr lang="en-US" dirty="0">
                <a:latin typeface="Calibri"/>
                <a:cs typeface="Calibri"/>
              </a:rPr>
              <a:t>Pointers/arrays</a:t>
            </a:r>
            <a:endParaRPr lang="en-US" dirty="0"/>
          </a:p>
          <a:p>
            <a:pPr>
              <a:lnSpc>
                <a:spcPct val="120000"/>
              </a:lnSpc>
              <a:spcBef>
                <a:spcPts val="0"/>
              </a:spcBef>
              <a:buClr>
                <a:srgbClr val="376092"/>
              </a:buClr>
            </a:pPr>
            <a:r>
              <a:rPr lang="en-US" dirty="0">
                <a:latin typeface="Calibri"/>
                <a:cs typeface="Calibri"/>
              </a:rPr>
              <a:t>Simple metaprogramming</a:t>
            </a:r>
          </a:p>
          <a:p>
            <a:pPr>
              <a:lnSpc>
                <a:spcPct val="120000"/>
              </a:lnSpc>
              <a:spcBef>
                <a:spcPts val="0"/>
              </a:spcBef>
              <a:buClr>
                <a:srgbClr val="376092"/>
              </a:buClr>
            </a:pPr>
            <a:r>
              <a:rPr lang="en-US" dirty="0">
                <a:latin typeface="Calibri"/>
                <a:cs typeface="Calibri"/>
              </a:rPr>
              <a:t>Operator overloading</a:t>
            </a:r>
            <a:endParaRPr lang="en-US" dirty="0"/>
          </a:p>
          <a:p>
            <a:pPr>
              <a:lnSpc>
                <a:spcPct val="120000"/>
              </a:lnSpc>
              <a:spcBef>
                <a:spcPts val="0"/>
              </a:spcBef>
              <a:buClr>
                <a:srgbClr val="376092"/>
              </a:buClr>
            </a:pPr>
            <a:r>
              <a:rPr lang="en-US" dirty="0">
                <a:latin typeface="Calibri"/>
                <a:cs typeface="Calibri"/>
              </a:rPr>
              <a:t>Reference types</a:t>
            </a:r>
          </a:p>
          <a:p>
            <a:pPr>
              <a:lnSpc>
                <a:spcPct val="120000"/>
              </a:lnSpc>
              <a:spcBef>
                <a:spcPts val="0"/>
              </a:spcBef>
              <a:buClr>
                <a:srgbClr val="376092"/>
              </a:buClr>
            </a:pPr>
            <a:r>
              <a:rPr lang="en-US" dirty="0"/>
              <a:t>Single inheritance</a:t>
            </a:r>
          </a:p>
          <a:p>
            <a:endParaRPr lang="en-US" dirty="0"/>
          </a:p>
          <a:p>
            <a:r>
              <a:rPr lang="en-US" dirty="0">
                <a:latin typeface="Calibri"/>
                <a:cs typeface="Calibri"/>
              </a:rPr>
              <a:t>Missing: virtual functions, threading, models for standard library components, complex template metaprogramming, lambda functions, dynamic memory allocation.</a:t>
            </a:r>
            <a:endParaRPr lang="en-US" dirty="0">
              <a:latin typeface="Calibri"/>
              <a:ea typeface="Calibri"/>
              <a:cs typeface="Calibri"/>
            </a:endParaRPr>
          </a:p>
          <a:p>
            <a:pPr lvl="1"/>
            <a:r>
              <a:rPr lang="en-US" dirty="0">
                <a:latin typeface="Calibri"/>
                <a:cs typeface="Calibri"/>
              </a:rPr>
              <a:t>Some of these are on the near-term </a:t>
            </a:r>
            <a:r>
              <a:rPr lang="en-US" dirty="0" err="1">
                <a:latin typeface="Calibri"/>
                <a:cs typeface="Calibri"/>
              </a:rPr>
              <a:t>todo</a:t>
            </a:r>
            <a:r>
              <a:rPr lang="en-US" dirty="0">
                <a:latin typeface="Calibri"/>
                <a:cs typeface="Calibri"/>
              </a:rPr>
              <a:t> list: models for standard library, virtual functions.</a:t>
            </a:r>
            <a:endParaRPr lang="en-US" dirty="0"/>
          </a:p>
          <a:p>
            <a:pPr lvl="1"/>
            <a:r>
              <a:rPr lang="en-US" dirty="0">
                <a:latin typeface="Calibri"/>
                <a:cs typeface="Calibri"/>
              </a:rPr>
              <a:t>Some are not (e.g., sophisticated template metaprogramming, lambdas, dynamic memory allocation, threading).</a:t>
            </a:r>
            <a:endParaRPr lang="en-US" dirty="0">
              <a:latin typeface="Calibri"/>
              <a:ea typeface="Calibri"/>
              <a:cs typeface="Calibri"/>
            </a:endParaRPr>
          </a:p>
        </p:txBody>
      </p:sp>
      <p:sp>
        <p:nvSpPr>
          <p:cNvPr id="3" name="Title 2">
            <a:extLst>
              <a:ext uri="{FF2B5EF4-FFF2-40B4-BE49-F238E27FC236}">
                <a16:creationId xmlns:a16="http://schemas.microsoft.com/office/drawing/2014/main" id="{513EB974-8674-530A-227E-2D4F2D58591A}"/>
              </a:ext>
            </a:extLst>
          </p:cNvPr>
          <p:cNvSpPr>
            <a:spLocks noGrp="1"/>
          </p:cNvSpPr>
          <p:nvPr>
            <p:ph type="title"/>
          </p:nvPr>
        </p:nvSpPr>
        <p:spPr/>
        <p:txBody>
          <a:bodyPr/>
          <a:lstStyle/>
          <a:p>
            <a:r>
              <a:rPr lang="en-US"/>
              <a:t>Supported C++</a:t>
            </a:r>
          </a:p>
        </p:txBody>
      </p:sp>
    </p:spTree>
    <p:extLst>
      <p:ext uri="{BB962C8B-B14F-4D97-AF65-F5344CB8AC3E}">
        <p14:creationId xmlns:p14="http://schemas.microsoft.com/office/powerpoint/2010/main" val="1579063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DF9EF13-A6D2-AB35-829F-2B3B6926987B}"/>
              </a:ext>
            </a:extLst>
          </p:cNvPr>
          <p:cNvSpPr>
            <a:spLocks noGrp="1"/>
          </p:cNvSpPr>
          <p:nvPr>
            <p:ph idx="1"/>
          </p:nvPr>
        </p:nvSpPr>
        <p:spPr/>
        <p:txBody>
          <a:bodyPr vert="horz" lIns="0" tIns="0" rIns="0" bIns="0" rtlCol="0" anchor="t">
            <a:normAutofit/>
          </a:bodyPr>
          <a:lstStyle/>
          <a:p>
            <a:r>
              <a:rPr lang="en-US">
                <a:latin typeface="Calibri"/>
                <a:cs typeface="Calibri"/>
              </a:rPr>
              <a:t>We have developed an in-house parser library which is capable of parsing our annotation language.</a:t>
            </a:r>
          </a:p>
          <a:p>
            <a:r>
              <a:rPr lang="en-US">
                <a:latin typeface="Calibri"/>
                <a:cs typeface="Calibri"/>
              </a:rPr>
              <a:t>Rich enough to specify preconditions, postconditions, loop invariants, in-code assertions, lemmas, axioms, and more.</a:t>
            </a:r>
          </a:p>
          <a:p>
            <a:r>
              <a:rPr lang="en-US">
                <a:latin typeface="Calibri"/>
                <a:cs typeface="Calibri"/>
              </a:rPr>
              <a:t>Seamlessly translates into the same IR that the SAGE AST is translated into, greatly simplifying the design of the backend and Why3 generation.</a:t>
            </a:r>
          </a:p>
          <a:p>
            <a:r>
              <a:rPr lang="en-US">
                <a:latin typeface="Calibri"/>
                <a:cs typeface="Calibri"/>
              </a:rPr>
              <a:t>Annotations are provided through pragma statements.</a:t>
            </a:r>
          </a:p>
          <a:p>
            <a:pPr lvl="1"/>
            <a:r>
              <a:rPr lang="en-US">
                <a:latin typeface="Calibri"/>
                <a:cs typeface="Calibri"/>
              </a:rPr>
              <a:t>By using pragmas, the EDG frontend that ROSE uses can remain unchanged.</a:t>
            </a:r>
          </a:p>
          <a:p>
            <a:pPr lvl="1"/>
            <a:r>
              <a:rPr lang="en-US">
                <a:latin typeface="Calibri"/>
                <a:cs typeface="Calibri"/>
              </a:rPr>
              <a:t>Additionally, the same source file may be used for both verification and compilation, since compilers ignore pragmas they don’t recognize.</a:t>
            </a:r>
          </a:p>
        </p:txBody>
      </p:sp>
      <p:sp>
        <p:nvSpPr>
          <p:cNvPr id="3" name="Title 2">
            <a:extLst>
              <a:ext uri="{FF2B5EF4-FFF2-40B4-BE49-F238E27FC236}">
                <a16:creationId xmlns:a16="http://schemas.microsoft.com/office/drawing/2014/main" id="{C76D7DB4-F23F-9057-8FCD-51729098151B}"/>
              </a:ext>
            </a:extLst>
          </p:cNvPr>
          <p:cNvSpPr>
            <a:spLocks noGrp="1"/>
          </p:cNvSpPr>
          <p:nvPr>
            <p:ph type="title"/>
          </p:nvPr>
        </p:nvSpPr>
        <p:spPr/>
        <p:txBody>
          <a:bodyPr vert="horz" lIns="0" tIns="45720" rIns="45720" bIns="45720" rtlCol="0" anchor="ctr" anchorCtr="0">
            <a:noAutofit/>
            <a:scene3d>
              <a:camera prst="orthographicFront"/>
              <a:lightRig rig="threePt" dir="t">
                <a:rot lat="0" lon="0" rev="4800000"/>
              </a:lightRig>
            </a:scene3d>
            <a:sp3d prstMaterial="matte"/>
          </a:bodyPr>
          <a:lstStyle/>
          <a:p>
            <a:r>
              <a:rPr lang="en-US">
                <a:latin typeface="Calibri"/>
                <a:ea typeface="Calibri"/>
                <a:cs typeface="Calibri"/>
              </a:rPr>
              <a:t>Custom Annotation Language</a:t>
            </a:r>
          </a:p>
        </p:txBody>
      </p:sp>
    </p:spTree>
    <p:extLst>
      <p:ext uri="{BB962C8B-B14F-4D97-AF65-F5344CB8AC3E}">
        <p14:creationId xmlns:p14="http://schemas.microsoft.com/office/powerpoint/2010/main" val="1628736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2EE7C6-EFCC-46E9-E0C8-A4ACFE78DDFA}"/>
              </a:ext>
            </a:extLst>
          </p:cNvPr>
          <p:cNvSpPr>
            <a:spLocks noGrp="1"/>
          </p:cNvSpPr>
          <p:nvPr>
            <p:ph type="title"/>
          </p:nvPr>
        </p:nvSpPr>
        <p:spPr/>
        <p:txBody>
          <a:bodyPr vert="horz" lIns="0" tIns="45720" rIns="45720" bIns="45720" rtlCol="0" anchor="ctr" anchorCtr="0">
            <a:noAutofit/>
            <a:scene3d>
              <a:camera prst="orthographicFront"/>
              <a:lightRig rig="threePt" dir="t">
                <a:rot lat="0" lon="0" rev="4800000"/>
              </a:lightRig>
            </a:scene3d>
            <a:sp3d prstMaterial="matte"/>
          </a:bodyPr>
          <a:lstStyle/>
          <a:p>
            <a:r>
              <a:rPr lang="en-US">
                <a:latin typeface="Calibri"/>
                <a:ea typeface="Calibri"/>
                <a:cs typeface="Calibri"/>
              </a:rPr>
              <a:t>Example: Basic arithmetic functions</a:t>
            </a:r>
            <a:endParaRPr lang="en-US"/>
          </a:p>
        </p:txBody>
      </p:sp>
      <p:sp>
        <p:nvSpPr>
          <p:cNvPr id="5" name="TextBox 4">
            <a:extLst>
              <a:ext uri="{FF2B5EF4-FFF2-40B4-BE49-F238E27FC236}">
                <a16:creationId xmlns:a16="http://schemas.microsoft.com/office/drawing/2014/main" id="{13D85099-3F00-9C3C-8DCA-BA5DC8530B8F}"/>
              </a:ext>
            </a:extLst>
          </p:cNvPr>
          <p:cNvSpPr txBox="1"/>
          <p:nvPr/>
        </p:nvSpPr>
        <p:spPr>
          <a:xfrm>
            <a:off x="250370" y="1839685"/>
            <a:ext cx="11810999" cy="41163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20000"/>
              </a:lnSpc>
              <a:spcBef>
                <a:spcPts val="1800"/>
              </a:spcBef>
            </a:pPr>
            <a:r>
              <a:rPr lang="en-US" sz="2100" b="1" dirty="0">
                <a:solidFill>
                  <a:srgbClr val="5620F4"/>
                </a:solidFill>
                <a:latin typeface="Menlo"/>
              </a:rPr>
              <a:t>#pragma castor requires is_sint32(a + b) </a:t>
            </a:r>
            <a:r>
              <a:rPr lang="en-US" sz="1600" i="1" dirty="0">
                <a:solidFill>
                  <a:schemeClr val="bg1">
                    <a:lumMod val="49000"/>
                  </a:schemeClr>
                </a:solidFill>
                <a:latin typeface="Menlo"/>
              </a:rPr>
              <a:t>// require that a + b doesn't overflow</a:t>
            </a:r>
          </a:p>
          <a:p>
            <a:pPr>
              <a:lnSpc>
                <a:spcPct val="20000"/>
              </a:lnSpc>
              <a:spcBef>
                <a:spcPts val="1800"/>
              </a:spcBef>
            </a:pPr>
            <a:r>
              <a:rPr lang="en-US" sz="2100" b="1" dirty="0">
                <a:solidFill>
                  <a:srgbClr val="5620F4"/>
                </a:solidFill>
                <a:latin typeface="Menlo"/>
              </a:rPr>
              <a:t>#pragma castor ensures a == old(a) + b</a:t>
            </a:r>
            <a:endParaRPr lang="en-US" sz="2100" dirty="0">
              <a:latin typeface="Menlo"/>
            </a:endParaRPr>
          </a:p>
          <a:p>
            <a:pPr>
              <a:lnSpc>
                <a:spcPct val="20000"/>
              </a:lnSpc>
              <a:spcBef>
                <a:spcPts val="1800"/>
              </a:spcBef>
            </a:pPr>
            <a:r>
              <a:rPr lang="en-US" sz="2100" b="1" dirty="0">
                <a:solidFill>
                  <a:srgbClr val="5620F4"/>
                </a:solidFill>
                <a:latin typeface="Menlo"/>
              </a:rPr>
              <a:t>#pragma castor writes a</a:t>
            </a:r>
          </a:p>
          <a:p>
            <a:pPr>
              <a:lnSpc>
                <a:spcPct val="20000"/>
              </a:lnSpc>
              <a:spcBef>
                <a:spcPts val="1800"/>
              </a:spcBef>
            </a:pPr>
            <a:r>
              <a:rPr lang="en-US" sz="2100" b="1" dirty="0">
                <a:solidFill>
                  <a:srgbClr val="39C026"/>
                </a:solidFill>
                <a:latin typeface="Menlo"/>
              </a:rPr>
              <a:t>void</a:t>
            </a:r>
            <a:r>
              <a:rPr lang="en-US" sz="2100" dirty="0">
                <a:latin typeface="Menlo"/>
              </a:rPr>
              <a:t> add(</a:t>
            </a:r>
            <a:r>
              <a:rPr lang="en-US" sz="2100" b="1" dirty="0">
                <a:solidFill>
                  <a:srgbClr val="39C026"/>
                </a:solidFill>
                <a:latin typeface="Menlo"/>
              </a:rPr>
              <a:t>int</a:t>
            </a:r>
            <a:r>
              <a:rPr lang="en-US" sz="2100" dirty="0">
                <a:latin typeface="Menlo"/>
              </a:rPr>
              <a:t>&amp; a, </a:t>
            </a:r>
            <a:r>
              <a:rPr lang="en-US" sz="2100" b="1" dirty="0">
                <a:solidFill>
                  <a:srgbClr val="39C026"/>
                </a:solidFill>
                <a:latin typeface="Menlo"/>
              </a:rPr>
              <a:t>const int</a:t>
            </a:r>
            <a:r>
              <a:rPr lang="en-US" sz="2100" dirty="0">
                <a:latin typeface="Menlo"/>
              </a:rPr>
              <a:t>&amp; b)</a:t>
            </a:r>
          </a:p>
          <a:p>
            <a:pPr>
              <a:lnSpc>
                <a:spcPct val="20000"/>
              </a:lnSpc>
              <a:spcBef>
                <a:spcPts val="1800"/>
              </a:spcBef>
            </a:pPr>
            <a:r>
              <a:rPr lang="en-US" sz="2100" dirty="0">
                <a:latin typeface="Menlo"/>
              </a:rPr>
              <a:t>{</a:t>
            </a:r>
          </a:p>
          <a:p>
            <a:pPr>
              <a:lnSpc>
                <a:spcPct val="20000"/>
              </a:lnSpc>
              <a:spcBef>
                <a:spcPts val="1800"/>
              </a:spcBef>
            </a:pPr>
            <a:r>
              <a:rPr lang="en-US" sz="2100" dirty="0">
                <a:latin typeface="Menlo"/>
              </a:rPr>
              <a:t>        a += b;</a:t>
            </a:r>
          </a:p>
          <a:p>
            <a:pPr>
              <a:lnSpc>
                <a:spcPct val="20000"/>
              </a:lnSpc>
              <a:spcBef>
                <a:spcPts val="1800"/>
              </a:spcBef>
            </a:pPr>
            <a:r>
              <a:rPr lang="en-US" sz="2100" dirty="0">
                <a:latin typeface="Menlo"/>
              </a:rPr>
              <a:t>}</a:t>
            </a:r>
          </a:p>
          <a:p>
            <a:pPr>
              <a:lnSpc>
                <a:spcPct val="20000"/>
              </a:lnSpc>
              <a:spcBef>
                <a:spcPts val="1800"/>
              </a:spcBef>
            </a:pPr>
            <a:endParaRPr lang="en-US" sz="2100" dirty="0">
              <a:ea typeface="Calibri"/>
              <a:cs typeface="Calibri"/>
            </a:endParaRPr>
          </a:p>
          <a:p>
            <a:pPr>
              <a:lnSpc>
                <a:spcPct val="20000"/>
              </a:lnSpc>
              <a:spcBef>
                <a:spcPts val="1800"/>
              </a:spcBef>
            </a:pPr>
            <a:r>
              <a:rPr lang="en-US" sz="2100" b="1" dirty="0">
                <a:solidFill>
                  <a:srgbClr val="5620F4"/>
                </a:solidFill>
                <a:latin typeface="Menlo"/>
              </a:rPr>
              <a:t>#pragma castor </a:t>
            </a:r>
            <a:r>
              <a:rPr lang="en-US" sz="2100" b="1" dirty="0">
                <a:solidFill>
                  <a:srgbClr val="561FF4"/>
                </a:solidFill>
                <a:latin typeface="Menlo"/>
              </a:rPr>
              <a:t>ensures</a:t>
            </a:r>
            <a:r>
              <a:rPr lang="en-US" sz="2100" b="1" dirty="0">
                <a:solidFill>
                  <a:srgbClr val="5620F4"/>
                </a:solidFill>
                <a:latin typeface="Menlo"/>
              </a:rPr>
              <a:t> result == x / </a:t>
            </a:r>
            <a:r>
              <a:rPr lang="en-US" sz="2100" b="1" dirty="0">
                <a:solidFill>
                  <a:srgbClr val="DB27DA"/>
                </a:solidFill>
                <a:latin typeface="Menlo"/>
              </a:rPr>
              <a:t>2</a:t>
            </a:r>
          </a:p>
          <a:p>
            <a:pPr>
              <a:lnSpc>
                <a:spcPct val="20000"/>
              </a:lnSpc>
              <a:spcBef>
                <a:spcPts val="1800"/>
              </a:spcBef>
            </a:pPr>
            <a:r>
              <a:rPr lang="en-US" sz="2100" b="1" dirty="0">
                <a:solidFill>
                  <a:srgbClr val="561FF4"/>
                </a:solidFill>
                <a:latin typeface="Menlo"/>
              </a:rPr>
              <a:t>#pragma castor </a:t>
            </a:r>
            <a:r>
              <a:rPr lang="en-US" sz="2100" b="1" dirty="0" err="1">
                <a:solidFill>
                  <a:srgbClr val="561FF4"/>
                </a:solidFill>
                <a:latin typeface="Menlo"/>
              </a:rPr>
              <a:t>no_write</a:t>
            </a:r>
            <a:endParaRPr lang="en-US" sz="2100" dirty="0">
              <a:solidFill>
                <a:srgbClr val="561FF4"/>
              </a:solidFill>
              <a:latin typeface="Menlo"/>
            </a:endParaRPr>
          </a:p>
          <a:p>
            <a:pPr>
              <a:lnSpc>
                <a:spcPct val="20000"/>
              </a:lnSpc>
              <a:spcBef>
                <a:spcPts val="1800"/>
              </a:spcBef>
            </a:pPr>
            <a:r>
              <a:rPr lang="en-US" sz="2100" b="1" dirty="0">
                <a:solidFill>
                  <a:srgbClr val="39C026"/>
                </a:solidFill>
                <a:latin typeface="Menlo"/>
              </a:rPr>
              <a:t>unsigned int</a:t>
            </a:r>
            <a:r>
              <a:rPr lang="en-US" sz="2100" dirty="0">
                <a:latin typeface="Menlo"/>
              </a:rPr>
              <a:t> </a:t>
            </a:r>
            <a:r>
              <a:rPr lang="en-US" sz="2100" dirty="0" err="1">
                <a:latin typeface="Menlo"/>
              </a:rPr>
              <a:t>shift_right</a:t>
            </a:r>
            <a:r>
              <a:rPr lang="en-US" sz="2100" dirty="0">
                <a:latin typeface="Menlo"/>
              </a:rPr>
              <a:t>(</a:t>
            </a:r>
            <a:r>
              <a:rPr lang="en-US" sz="2100" b="1" dirty="0">
                <a:solidFill>
                  <a:srgbClr val="39C026"/>
                </a:solidFill>
                <a:latin typeface="Menlo"/>
              </a:rPr>
              <a:t>unsigned int</a:t>
            </a:r>
            <a:r>
              <a:rPr lang="en-US" sz="2100" dirty="0">
                <a:latin typeface="Menlo"/>
              </a:rPr>
              <a:t> x)</a:t>
            </a:r>
          </a:p>
          <a:p>
            <a:pPr>
              <a:lnSpc>
                <a:spcPct val="20000"/>
              </a:lnSpc>
              <a:spcBef>
                <a:spcPts val="1800"/>
              </a:spcBef>
            </a:pPr>
            <a:r>
              <a:rPr lang="en-US" sz="2100" dirty="0">
                <a:latin typeface="Menlo"/>
              </a:rPr>
              <a:t>{</a:t>
            </a:r>
          </a:p>
          <a:p>
            <a:pPr>
              <a:lnSpc>
                <a:spcPct val="20000"/>
              </a:lnSpc>
              <a:spcBef>
                <a:spcPts val="1800"/>
              </a:spcBef>
            </a:pPr>
            <a:r>
              <a:rPr lang="en-US" sz="2100" dirty="0">
                <a:latin typeface="Menlo"/>
              </a:rPr>
              <a:t>        </a:t>
            </a:r>
            <a:r>
              <a:rPr lang="en-US" sz="2100" b="1" dirty="0">
                <a:solidFill>
                  <a:srgbClr val="AAAB25"/>
                </a:solidFill>
                <a:latin typeface="Menlo"/>
              </a:rPr>
              <a:t>return</a:t>
            </a:r>
            <a:r>
              <a:rPr lang="en-US" sz="2100" dirty="0">
                <a:latin typeface="Menlo"/>
              </a:rPr>
              <a:t> x &gt;&gt; </a:t>
            </a:r>
            <a:r>
              <a:rPr lang="en-US" sz="2100" b="1" dirty="0">
                <a:solidFill>
                  <a:srgbClr val="DB27DA"/>
                </a:solidFill>
                <a:latin typeface="Menlo"/>
              </a:rPr>
              <a:t>1</a:t>
            </a:r>
            <a:r>
              <a:rPr lang="en-US" sz="2100" dirty="0">
                <a:latin typeface="Menlo"/>
              </a:rPr>
              <a:t>;</a:t>
            </a:r>
          </a:p>
          <a:p>
            <a:pPr algn="l">
              <a:lnSpc>
                <a:spcPct val="20000"/>
              </a:lnSpc>
              <a:spcBef>
                <a:spcPts val="1800"/>
              </a:spcBef>
            </a:pPr>
            <a:r>
              <a:rPr lang="en-US" sz="2100" dirty="0">
                <a:latin typeface="Menlo"/>
              </a:rPr>
              <a:t>}</a:t>
            </a:r>
            <a:endParaRPr lang="en-US" dirty="0"/>
          </a:p>
        </p:txBody>
      </p:sp>
    </p:spTree>
    <p:extLst>
      <p:ext uri="{BB962C8B-B14F-4D97-AF65-F5344CB8AC3E}">
        <p14:creationId xmlns:p14="http://schemas.microsoft.com/office/powerpoint/2010/main" val="3372569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381FC35-49B2-3D90-B227-992C73AA1B9F}"/>
              </a:ext>
            </a:extLst>
          </p:cNvPr>
          <p:cNvSpPr>
            <a:spLocks noGrp="1"/>
          </p:cNvSpPr>
          <p:nvPr>
            <p:ph idx="1"/>
          </p:nvPr>
        </p:nvSpPr>
        <p:spPr>
          <a:xfrm>
            <a:off x="609600" y="1441524"/>
            <a:ext cx="11290300" cy="4906889"/>
          </a:xfrm>
        </p:spPr>
        <p:txBody>
          <a:bodyPr vert="horz" lIns="0" tIns="0" rIns="0" bIns="0" rtlCol="0" anchor="t">
            <a:normAutofit fontScale="92500" lnSpcReduction="10000"/>
          </a:bodyPr>
          <a:lstStyle/>
          <a:p>
            <a:pPr marL="0" indent="0">
              <a:spcBef>
                <a:spcPts val="0"/>
              </a:spcBef>
              <a:buNone/>
            </a:pPr>
            <a:r>
              <a:rPr lang="en-US" b="1" dirty="0">
                <a:solidFill>
                  <a:srgbClr val="5620F4"/>
                </a:solidFill>
                <a:effectLst/>
                <a:latin typeface="Menlo" panose="020B0609030804020204" pitchFamily="49" charset="0"/>
              </a:rPr>
              <a:t>#pragma castor invariant valid(a, b) /\ separated(a, b)</a:t>
            </a:r>
            <a:endParaRPr lang="en-US" dirty="0">
              <a:solidFill>
                <a:srgbClr val="5620F4"/>
              </a:solidFill>
              <a:effectLst/>
              <a:latin typeface="Menlo" panose="020B0609030804020204" pitchFamily="49" charset="0"/>
            </a:endParaRPr>
          </a:p>
          <a:p>
            <a:pPr marL="0" indent="0">
              <a:spcBef>
                <a:spcPts val="0"/>
              </a:spcBef>
              <a:buNone/>
            </a:pPr>
            <a:r>
              <a:rPr lang="en-US" b="1" dirty="0">
                <a:solidFill>
                  <a:srgbClr val="5620F4"/>
                </a:solidFill>
                <a:effectLst/>
                <a:latin typeface="Menlo" panose="020B0609030804020204" pitchFamily="49" charset="0"/>
              </a:rPr>
              <a:t>#pragma castor ensures *a == old(*b) /\ *b == old(*a)</a:t>
            </a:r>
            <a:endParaRPr lang="en-US" dirty="0">
              <a:solidFill>
                <a:srgbClr val="5620F4"/>
              </a:solidFill>
              <a:effectLst/>
              <a:latin typeface="Menlo" panose="020B0609030804020204" pitchFamily="49" charset="0"/>
            </a:endParaRPr>
          </a:p>
          <a:p>
            <a:pPr marL="0" indent="0">
              <a:spcBef>
                <a:spcPts val="0"/>
              </a:spcBef>
              <a:buNone/>
            </a:pPr>
            <a:r>
              <a:rPr lang="en-US" b="1" dirty="0">
                <a:solidFill>
                  <a:srgbClr val="5620F4"/>
                </a:solidFill>
                <a:effectLst/>
                <a:latin typeface="Menlo" panose="020B0609030804020204" pitchFamily="49" charset="0"/>
              </a:rPr>
              <a:t>#pragma castor writes *a, *b</a:t>
            </a:r>
            <a:endParaRPr lang="en-US" dirty="0">
              <a:solidFill>
                <a:srgbClr val="5620F4"/>
              </a:solidFill>
              <a:effectLst/>
              <a:latin typeface="Menlo" panose="020B0609030804020204" pitchFamily="49" charset="0"/>
            </a:endParaRPr>
          </a:p>
          <a:p>
            <a:pPr marL="0" indent="0">
              <a:spcBef>
                <a:spcPts val="0"/>
              </a:spcBef>
              <a:buNone/>
            </a:pPr>
            <a:r>
              <a:rPr lang="en-US" b="1" dirty="0">
                <a:solidFill>
                  <a:srgbClr val="39C026"/>
                </a:solidFill>
                <a:effectLst/>
                <a:latin typeface="Menlo" panose="020B0609030804020204" pitchFamily="49" charset="0"/>
              </a:rPr>
              <a:t>template</a:t>
            </a:r>
            <a:r>
              <a:rPr lang="en-US" dirty="0">
                <a:solidFill>
                  <a:srgbClr val="000000"/>
                </a:solidFill>
                <a:effectLst/>
                <a:latin typeface="Menlo" panose="020B0609030804020204" pitchFamily="49" charset="0"/>
              </a:rPr>
              <a:t> &lt;</a:t>
            </a:r>
            <a:r>
              <a:rPr lang="en-US" b="1" dirty="0" err="1">
                <a:solidFill>
                  <a:srgbClr val="39C026"/>
                </a:solidFill>
                <a:effectLst/>
                <a:latin typeface="Menlo" panose="020B0609030804020204" pitchFamily="49" charset="0"/>
              </a:rPr>
              <a:t>typename</a:t>
            </a:r>
            <a:r>
              <a:rPr lang="en-US" dirty="0">
                <a:solidFill>
                  <a:srgbClr val="000000"/>
                </a:solidFill>
                <a:effectLst/>
                <a:latin typeface="Menlo" panose="020B0609030804020204" pitchFamily="49" charset="0"/>
              </a:rPr>
              <a:t> T&gt;</a:t>
            </a:r>
            <a:endParaRPr lang="en-US" dirty="0">
              <a:solidFill>
                <a:srgbClr val="39C026"/>
              </a:solidFill>
              <a:effectLst/>
              <a:latin typeface="Menlo" panose="020B0609030804020204" pitchFamily="49" charset="0"/>
            </a:endParaRPr>
          </a:p>
          <a:p>
            <a:pPr marL="0" indent="0">
              <a:spcBef>
                <a:spcPts val="0"/>
              </a:spcBef>
              <a:buNone/>
            </a:pPr>
            <a:r>
              <a:rPr lang="en-US" b="1" dirty="0">
                <a:solidFill>
                  <a:srgbClr val="39C026"/>
                </a:solidFill>
                <a:effectLst/>
                <a:latin typeface="Menlo" panose="020B0609030804020204" pitchFamily="49" charset="0"/>
              </a:rPr>
              <a:t>void</a:t>
            </a:r>
            <a:r>
              <a:rPr lang="en-US" dirty="0">
                <a:solidFill>
                  <a:srgbClr val="000000"/>
                </a:solidFill>
                <a:effectLst/>
                <a:latin typeface="Menlo" panose="020B0609030804020204" pitchFamily="49" charset="0"/>
              </a:rPr>
              <a:t> swap(T* a, T* b)</a:t>
            </a:r>
          </a:p>
          <a:p>
            <a:pPr marL="0" indent="0">
              <a:spcBef>
                <a:spcPts val="0"/>
              </a:spcBef>
              <a:buNone/>
            </a:pPr>
            <a:r>
              <a:rPr lang="en-US" dirty="0">
                <a:solidFill>
                  <a:srgbClr val="000000"/>
                </a:solidFill>
                <a:effectLst/>
                <a:latin typeface="Menlo" panose="020B0609030804020204" pitchFamily="49" charset="0"/>
              </a:rPr>
              <a:t>{</a:t>
            </a:r>
          </a:p>
          <a:p>
            <a:pPr marL="0" indent="0">
              <a:spcBef>
                <a:spcPts val="0"/>
              </a:spcBef>
              <a:buNone/>
            </a:pPr>
            <a:r>
              <a:rPr lang="en-US" dirty="0">
                <a:solidFill>
                  <a:srgbClr val="000000"/>
                </a:solidFill>
                <a:effectLst/>
                <a:latin typeface="Menlo" panose="020B0609030804020204" pitchFamily="49" charset="0"/>
              </a:rPr>
              <a:t>        </a:t>
            </a:r>
            <a:r>
              <a:rPr lang="en-US" b="1" dirty="0">
                <a:solidFill>
                  <a:srgbClr val="39C026"/>
                </a:solidFill>
                <a:effectLst/>
                <a:latin typeface="Menlo" panose="020B0609030804020204" pitchFamily="49" charset="0"/>
              </a:rPr>
              <a:t>auto</a:t>
            </a:r>
            <a:r>
              <a:rPr lang="en-US" dirty="0">
                <a:solidFill>
                  <a:srgbClr val="000000"/>
                </a:solidFill>
                <a:effectLst/>
                <a:latin typeface="Menlo" panose="020B0609030804020204" pitchFamily="49" charset="0"/>
              </a:rPr>
              <a:t> temp = *a;</a:t>
            </a:r>
          </a:p>
          <a:p>
            <a:pPr marL="0" indent="0">
              <a:spcBef>
                <a:spcPts val="0"/>
              </a:spcBef>
              <a:buNone/>
            </a:pPr>
            <a:r>
              <a:rPr lang="en-US" dirty="0">
                <a:solidFill>
                  <a:srgbClr val="000000"/>
                </a:solidFill>
                <a:effectLst/>
                <a:latin typeface="Menlo" panose="020B0609030804020204" pitchFamily="49" charset="0"/>
              </a:rPr>
              <a:t>        *a = *b;</a:t>
            </a:r>
          </a:p>
          <a:p>
            <a:pPr marL="0" indent="0">
              <a:spcBef>
                <a:spcPts val="0"/>
              </a:spcBef>
              <a:buNone/>
            </a:pPr>
            <a:r>
              <a:rPr lang="en-US" dirty="0">
                <a:solidFill>
                  <a:srgbClr val="000000"/>
                </a:solidFill>
                <a:effectLst/>
                <a:latin typeface="Menlo" panose="020B0609030804020204" pitchFamily="49" charset="0"/>
              </a:rPr>
              <a:t>        *b = temp;</a:t>
            </a:r>
          </a:p>
          <a:p>
            <a:pPr marL="0" indent="0">
              <a:spcBef>
                <a:spcPts val="0"/>
              </a:spcBef>
              <a:buNone/>
            </a:pPr>
            <a:r>
              <a:rPr lang="en-US" dirty="0">
                <a:solidFill>
                  <a:srgbClr val="000000"/>
                </a:solidFill>
                <a:effectLst/>
                <a:latin typeface="Menlo" panose="020B0609030804020204" pitchFamily="49" charset="0"/>
              </a:rPr>
              <a:t>}</a:t>
            </a:r>
          </a:p>
          <a:p>
            <a:pPr marL="0" indent="0">
              <a:spcBef>
                <a:spcPts val="0"/>
              </a:spcBef>
              <a:buNone/>
            </a:pPr>
            <a:endParaRPr lang="en-US" dirty="0">
              <a:solidFill>
                <a:srgbClr val="000000"/>
              </a:solidFill>
              <a:effectLst/>
              <a:latin typeface="Menlo" panose="020B0609030804020204" pitchFamily="49" charset="0"/>
            </a:endParaRPr>
          </a:p>
          <a:p>
            <a:pPr marL="0" indent="0">
              <a:spcBef>
                <a:spcPts val="0"/>
              </a:spcBef>
              <a:buNone/>
            </a:pPr>
            <a:r>
              <a:rPr lang="en-US" i="1" dirty="0">
                <a:solidFill>
                  <a:schemeClr val="bg1">
                    <a:lumMod val="50000"/>
                  </a:schemeClr>
                </a:solidFill>
                <a:effectLst/>
                <a:latin typeface="Menlo" panose="020B0609030804020204" pitchFamily="49" charset="0"/>
              </a:rPr>
              <a:t>// instantiate for a couple of types</a:t>
            </a:r>
          </a:p>
          <a:p>
            <a:pPr marL="0" indent="0">
              <a:spcBef>
                <a:spcPts val="0"/>
              </a:spcBef>
              <a:buNone/>
            </a:pPr>
            <a:r>
              <a:rPr lang="en-US" i="1" dirty="0">
                <a:solidFill>
                  <a:schemeClr val="bg1">
                    <a:lumMod val="50000"/>
                  </a:schemeClr>
                </a:solidFill>
                <a:effectLst/>
                <a:latin typeface="Menlo" panose="020B0609030804020204" pitchFamily="49" charset="0"/>
              </a:rPr>
              <a:t>// both functions are individually verified</a:t>
            </a:r>
          </a:p>
          <a:p>
            <a:pPr marL="0" indent="0">
              <a:spcBef>
                <a:spcPts val="0"/>
              </a:spcBef>
              <a:buNone/>
            </a:pPr>
            <a:r>
              <a:rPr lang="en-US" b="1" dirty="0">
                <a:solidFill>
                  <a:srgbClr val="39C026"/>
                </a:solidFill>
                <a:effectLst/>
                <a:latin typeface="Menlo" panose="020B0609030804020204" pitchFamily="49" charset="0"/>
              </a:rPr>
              <a:t>template</a:t>
            </a:r>
            <a:r>
              <a:rPr lang="en-US" dirty="0">
                <a:solidFill>
                  <a:srgbClr val="000000"/>
                </a:solidFill>
                <a:effectLst/>
                <a:latin typeface="Menlo" panose="020B0609030804020204" pitchFamily="49" charset="0"/>
              </a:rPr>
              <a:t> </a:t>
            </a:r>
            <a:r>
              <a:rPr lang="en-US" b="1" dirty="0">
                <a:solidFill>
                  <a:srgbClr val="39C026"/>
                </a:solidFill>
                <a:effectLst/>
                <a:latin typeface="Menlo" panose="020B0609030804020204" pitchFamily="49" charset="0"/>
              </a:rPr>
              <a:t>void</a:t>
            </a:r>
            <a:r>
              <a:rPr lang="en-US" dirty="0">
                <a:solidFill>
                  <a:srgbClr val="000000"/>
                </a:solidFill>
                <a:effectLst/>
                <a:latin typeface="Menlo" panose="020B0609030804020204" pitchFamily="49" charset="0"/>
              </a:rPr>
              <a:t> swap&lt;</a:t>
            </a:r>
            <a:r>
              <a:rPr lang="en-US" b="1" dirty="0">
                <a:solidFill>
                  <a:srgbClr val="39C026"/>
                </a:solidFill>
                <a:effectLst/>
                <a:latin typeface="Menlo" panose="020B0609030804020204" pitchFamily="49" charset="0"/>
              </a:rPr>
              <a:t>int</a:t>
            </a:r>
            <a:r>
              <a:rPr lang="en-US" dirty="0">
                <a:solidFill>
                  <a:srgbClr val="000000"/>
                </a:solidFill>
                <a:effectLst/>
                <a:latin typeface="Menlo" panose="020B0609030804020204" pitchFamily="49" charset="0"/>
              </a:rPr>
              <a:t>&gt;(</a:t>
            </a:r>
            <a:r>
              <a:rPr lang="en-US" b="1" dirty="0">
                <a:solidFill>
                  <a:srgbClr val="39C026"/>
                </a:solidFill>
                <a:effectLst/>
                <a:latin typeface="Menlo" panose="020B0609030804020204" pitchFamily="49" charset="0"/>
              </a:rPr>
              <a:t>int</a:t>
            </a:r>
            <a:r>
              <a:rPr lang="en-US" dirty="0">
                <a:solidFill>
                  <a:srgbClr val="000000"/>
                </a:solidFill>
                <a:effectLst/>
                <a:latin typeface="Menlo" panose="020B0609030804020204" pitchFamily="49" charset="0"/>
              </a:rPr>
              <a:t>* a, </a:t>
            </a:r>
            <a:r>
              <a:rPr lang="en-US" b="1" dirty="0">
                <a:solidFill>
                  <a:srgbClr val="39C026"/>
                </a:solidFill>
                <a:effectLst/>
                <a:latin typeface="Menlo" panose="020B0609030804020204" pitchFamily="49" charset="0"/>
              </a:rPr>
              <a:t>int</a:t>
            </a:r>
            <a:r>
              <a:rPr lang="en-US" dirty="0">
                <a:solidFill>
                  <a:srgbClr val="000000"/>
                </a:solidFill>
                <a:effectLst/>
                <a:latin typeface="Menlo" panose="020B0609030804020204" pitchFamily="49" charset="0"/>
              </a:rPr>
              <a:t>* b);</a:t>
            </a:r>
            <a:endParaRPr lang="en-US" dirty="0">
              <a:solidFill>
                <a:srgbClr val="39C026"/>
              </a:solidFill>
              <a:effectLst/>
              <a:latin typeface="Menlo" panose="020B0609030804020204" pitchFamily="49" charset="0"/>
            </a:endParaRPr>
          </a:p>
          <a:p>
            <a:pPr marL="0" indent="0">
              <a:spcBef>
                <a:spcPts val="0"/>
              </a:spcBef>
              <a:buNone/>
            </a:pPr>
            <a:r>
              <a:rPr lang="en-US" b="1" dirty="0">
                <a:solidFill>
                  <a:srgbClr val="39C026"/>
                </a:solidFill>
                <a:effectLst/>
                <a:latin typeface="Menlo" panose="020B0609030804020204" pitchFamily="49" charset="0"/>
              </a:rPr>
              <a:t>template</a:t>
            </a:r>
            <a:r>
              <a:rPr lang="en-US" dirty="0">
                <a:solidFill>
                  <a:srgbClr val="000000"/>
                </a:solidFill>
                <a:effectLst/>
                <a:latin typeface="Menlo" panose="020B0609030804020204" pitchFamily="49" charset="0"/>
              </a:rPr>
              <a:t> </a:t>
            </a:r>
            <a:r>
              <a:rPr lang="en-US" b="1" dirty="0">
                <a:solidFill>
                  <a:srgbClr val="39C026"/>
                </a:solidFill>
                <a:effectLst/>
                <a:latin typeface="Menlo" panose="020B0609030804020204" pitchFamily="49" charset="0"/>
              </a:rPr>
              <a:t>void</a:t>
            </a:r>
            <a:r>
              <a:rPr lang="en-US" dirty="0">
                <a:solidFill>
                  <a:srgbClr val="000000"/>
                </a:solidFill>
                <a:effectLst/>
                <a:latin typeface="Menlo" panose="020B0609030804020204" pitchFamily="49" charset="0"/>
              </a:rPr>
              <a:t> swap&lt;</a:t>
            </a:r>
            <a:r>
              <a:rPr lang="en-US" b="1" dirty="0">
                <a:solidFill>
                  <a:srgbClr val="39C026"/>
                </a:solidFill>
                <a:effectLst/>
                <a:latin typeface="Menlo" panose="020B0609030804020204" pitchFamily="49" charset="0"/>
              </a:rPr>
              <a:t>short</a:t>
            </a:r>
            <a:r>
              <a:rPr lang="en-US" dirty="0">
                <a:solidFill>
                  <a:srgbClr val="000000"/>
                </a:solidFill>
                <a:effectLst/>
                <a:latin typeface="Menlo" panose="020B0609030804020204" pitchFamily="49" charset="0"/>
              </a:rPr>
              <a:t>&gt;(</a:t>
            </a:r>
            <a:r>
              <a:rPr lang="en-US" b="1" dirty="0">
                <a:solidFill>
                  <a:srgbClr val="39C026"/>
                </a:solidFill>
                <a:effectLst/>
                <a:latin typeface="Menlo" panose="020B0609030804020204" pitchFamily="49" charset="0"/>
              </a:rPr>
              <a:t>short</a:t>
            </a:r>
            <a:r>
              <a:rPr lang="en-US" dirty="0">
                <a:solidFill>
                  <a:srgbClr val="000000"/>
                </a:solidFill>
                <a:effectLst/>
                <a:latin typeface="Menlo" panose="020B0609030804020204" pitchFamily="49" charset="0"/>
              </a:rPr>
              <a:t>* a, </a:t>
            </a:r>
            <a:r>
              <a:rPr lang="en-US" b="1" dirty="0">
                <a:solidFill>
                  <a:srgbClr val="39C026"/>
                </a:solidFill>
                <a:effectLst/>
                <a:latin typeface="Menlo" panose="020B0609030804020204" pitchFamily="49" charset="0"/>
              </a:rPr>
              <a:t>short</a:t>
            </a:r>
            <a:r>
              <a:rPr lang="en-US" dirty="0">
                <a:solidFill>
                  <a:srgbClr val="000000"/>
                </a:solidFill>
                <a:effectLst/>
                <a:latin typeface="Menlo" panose="020B0609030804020204" pitchFamily="49" charset="0"/>
              </a:rPr>
              <a:t>* b);</a:t>
            </a:r>
            <a:endParaRPr lang="en-US" i="1" dirty="0">
              <a:solidFill>
                <a:schemeClr val="bg1">
                  <a:lumMod val="50000"/>
                </a:schemeClr>
              </a:solidFill>
            </a:endParaRPr>
          </a:p>
        </p:txBody>
      </p:sp>
      <p:sp>
        <p:nvSpPr>
          <p:cNvPr id="3" name="Title 2">
            <a:extLst>
              <a:ext uri="{FF2B5EF4-FFF2-40B4-BE49-F238E27FC236}">
                <a16:creationId xmlns:a16="http://schemas.microsoft.com/office/drawing/2014/main" id="{002EE7C6-EFCC-46E9-E0C8-A4ACFE78DDFA}"/>
              </a:ext>
            </a:extLst>
          </p:cNvPr>
          <p:cNvSpPr>
            <a:spLocks noGrp="1"/>
          </p:cNvSpPr>
          <p:nvPr>
            <p:ph type="title"/>
          </p:nvPr>
        </p:nvSpPr>
        <p:spPr/>
        <p:txBody>
          <a:bodyPr/>
          <a:lstStyle/>
          <a:p>
            <a:r>
              <a:rPr lang="en-US"/>
              <a:t>Example: Templates and pointer swapping</a:t>
            </a:r>
          </a:p>
        </p:txBody>
      </p:sp>
    </p:spTree>
    <p:extLst>
      <p:ext uri="{BB962C8B-B14F-4D97-AF65-F5344CB8AC3E}">
        <p14:creationId xmlns:p14="http://schemas.microsoft.com/office/powerpoint/2010/main" val="1775282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E6869-35E3-93AB-8103-A13D3FB09A1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6CFA87-36BE-D112-BD31-74771FF8F533}"/>
              </a:ext>
            </a:extLst>
          </p:cNvPr>
          <p:cNvSpPr>
            <a:spLocks noGrp="1"/>
          </p:cNvSpPr>
          <p:nvPr>
            <p:ph idx="1"/>
          </p:nvPr>
        </p:nvSpPr>
        <p:spPr>
          <a:xfrm>
            <a:off x="76200" y="2059503"/>
            <a:ext cx="5803900" cy="4906889"/>
          </a:xfrm>
        </p:spPr>
        <p:txBody>
          <a:bodyPr vert="horz" lIns="0" tIns="0" rIns="0" bIns="0" rtlCol="0" anchor="t">
            <a:noAutofit/>
          </a:bodyPr>
          <a:lstStyle/>
          <a:p>
            <a:pPr marL="0" indent="0">
              <a:spcBef>
                <a:spcPts val="0"/>
              </a:spcBef>
              <a:buNone/>
            </a:pPr>
            <a:r>
              <a:rPr lang="en-US" sz="1150" b="1" dirty="0">
                <a:solidFill>
                  <a:srgbClr val="39C026"/>
                </a:solidFill>
                <a:effectLst/>
                <a:latin typeface="Menlo"/>
                <a:cs typeface="Calibri"/>
              </a:rPr>
              <a:t>class</a:t>
            </a:r>
            <a:r>
              <a:rPr lang="en-US" sz="1150" dirty="0">
                <a:solidFill>
                  <a:srgbClr val="000000"/>
                </a:solidFill>
                <a:effectLst/>
                <a:latin typeface="Menlo"/>
                <a:cs typeface="Calibri"/>
              </a:rPr>
              <a:t> Rectangle {</a:t>
            </a:r>
          </a:p>
          <a:p>
            <a:pPr marL="0" indent="0">
              <a:spcBef>
                <a:spcPts val="0"/>
              </a:spcBef>
              <a:buNone/>
            </a:pPr>
            <a:r>
              <a:rPr lang="en-US" sz="1150" dirty="0">
                <a:solidFill>
                  <a:srgbClr val="000000"/>
                </a:solidFill>
                <a:effectLst/>
                <a:latin typeface="Menlo"/>
                <a:cs typeface="Calibri"/>
              </a:rPr>
              <a:t>        </a:t>
            </a:r>
            <a:r>
              <a:rPr lang="en-US" sz="1150" b="1" dirty="0">
                <a:solidFill>
                  <a:srgbClr val="39C026"/>
                </a:solidFill>
                <a:effectLst/>
                <a:latin typeface="Menlo"/>
                <a:cs typeface="Calibri"/>
              </a:rPr>
              <a:t>unsigned</a:t>
            </a:r>
            <a:r>
              <a:rPr lang="en-US" sz="1150" dirty="0">
                <a:solidFill>
                  <a:srgbClr val="000000"/>
                </a:solidFill>
                <a:effectLst/>
                <a:latin typeface="Menlo"/>
                <a:cs typeface="Calibri"/>
              </a:rPr>
              <a:t> </a:t>
            </a:r>
            <a:r>
              <a:rPr lang="en-US" sz="1150" b="1" dirty="0">
                <a:solidFill>
                  <a:srgbClr val="39C026"/>
                </a:solidFill>
                <a:effectLst/>
                <a:latin typeface="Menlo"/>
                <a:cs typeface="Calibri"/>
              </a:rPr>
              <a:t>int</a:t>
            </a:r>
            <a:r>
              <a:rPr lang="en-US" sz="1150" dirty="0">
                <a:solidFill>
                  <a:srgbClr val="000000"/>
                </a:solidFill>
                <a:effectLst/>
                <a:latin typeface="Menlo"/>
                <a:cs typeface="Calibri"/>
              </a:rPr>
              <a:t> side1_length;</a:t>
            </a:r>
          </a:p>
          <a:p>
            <a:pPr marL="0" indent="0">
              <a:spcBef>
                <a:spcPts val="0"/>
              </a:spcBef>
              <a:buNone/>
            </a:pPr>
            <a:r>
              <a:rPr lang="en-US" sz="1150" dirty="0">
                <a:solidFill>
                  <a:srgbClr val="000000"/>
                </a:solidFill>
                <a:effectLst/>
                <a:latin typeface="Menlo"/>
                <a:cs typeface="Calibri"/>
              </a:rPr>
              <a:t>        </a:t>
            </a:r>
            <a:r>
              <a:rPr lang="en-US" sz="1150" b="1" dirty="0">
                <a:solidFill>
                  <a:srgbClr val="39C026"/>
                </a:solidFill>
                <a:effectLst/>
                <a:latin typeface="Menlo"/>
                <a:cs typeface="Calibri"/>
              </a:rPr>
              <a:t>unsigned</a:t>
            </a:r>
            <a:r>
              <a:rPr lang="en-US" sz="1150" dirty="0">
                <a:solidFill>
                  <a:srgbClr val="000000"/>
                </a:solidFill>
                <a:effectLst/>
                <a:latin typeface="Menlo"/>
                <a:cs typeface="Calibri"/>
              </a:rPr>
              <a:t> </a:t>
            </a:r>
            <a:r>
              <a:rPr lang="en-US" sz="1150" b="1" dirty="0">
                <a:solidFill>
                  <a:srgbClr val="39C026"/>
                </a:solidFill>
                <a:effectLst/>
                <a:latin typeface="Menlo"/>
                <a:cs typeface="Calibri"/>
              </a:rPr>
              <a:t>int</a:t>
            </a:r>
            <a:r>
              <a:rPr lang="en-US" sz="1150" dirty="0">
                <a:solidFill>
                  <a:srgbClr val="000000"/>
                </a:solidFill>
                <a:effectLst/>
                <a:latin typeface="Menlo"/>
                <a:cs typeface="Calibri"/>
              </a:rPr>
              <a:t> side2_length;</a:t>
            </a:r>
          </a:p>
          <a:p>
            <a:pPr marL="0" indent="0">
              <a:spcBef>
                <a:spcPts val="0"/>
              </a:spcBef>
              <a:buNone/>
            </a:pPr>
            <a:r>
              <a:rPr lang="en-US" sz="1150" b="1" dirty="0">
                <a:solidFill>
                  <a:srgbClr val="AAAB25"/>
                </a:solidFill>
                <a:effectLst/>
                <a:latin typeface="Menlo"/>
                <a:cs typeface="Calibri"/>
              </a:rPr>
              <a:t>public</a:t>
            </a:r>
            <a:r>
              <a:rPr lang="en-US" sz="1150" dirty="0">
                <a:solidFill>
                  <a:srgbClr val="000000"/>
                </a:solidFill>
                <a:effectLst/>
                <a:latin typeface="Menlo"/>
                <a:cs typeface="Calibri"/>
              </a:rPr>
              <a:t>:</a:t>
            </a:r>
            <a:endParaRPr lang="en-US" sz="1150" dirty="0">
              <a:solidFill>
                <a:srgbClr val="AAAB25"/>
              </a:solidFill>
              <a:effectLst/>
              <a:latin typeface="Menlo"/>
              <a:cs typeface="Calibri"/>
            </a:endParaRPr>
          </a:p>
          <a:p>
            <a:pPr marL="0" indent="0">
              <a:spcBef>
                <a:spcPts val="0"/>
              </a:spcBef>
              <a:buNone/>
            </a:pPr>
            <a:r>
              <a:rPr lang="en-US" sz="1150" dirty="0">
                <a:solidFill>
                  <a:srgbClr val="000000"/>
                </a:solidFill>
                <a:effectLst/>
                <a:latin typeface="Menlo"/>
                <a:cs typeface="Calibri"/>
              </a:rPr>
              <a:t>        </a:t>
            </a:r>
            <a:r>
              <a:rPr lang="en-US" sz="1150" b="1" dirty="0">
                <a:solidFill>
                  <a:srgbClr val="5620F4"/>
                </a:solidFill>
                <a:effectLst/>
                <a:latin typeface="Menlo"/>
                <a:cs typeface="Calibri"/>
              </a:rPr>
              <a:t>#pragma castor invariant valid(</a:t>
            </a:r>
            <a:r>
              <a:rPr lang="en-US" sz="1150" b="1" dirty="0">
                <a:solidFill>
                  <a:srgbClr val="AAAB25"/>
                </a:solidFill>
                <a:effectLst/>
                <a:latin typeface="Menlo"/>
                <a:cs typeface="Calibri"/>
              </a:rPr>
              <a:t>this</a:t>
            </a:r>
            <a:r>
              <a:rPr lang="en-US" sz="1150" b="1" dirty="0">
                <a:solidFill>
                  <a:srgbClr val="5620F4"/>
                </a:solidFill>
                <a:effectLst/>
                <a:latin typeface="Menlo"/>
                <a:cs typeface="Calibri"/>
              </a:rPr>
              <a:t>)</a:t>
            </a:r>
            <a:endParaRPr lang="en-US" sz="1150" dirty="0">
              <a:solidFill>
                <a:srgbClr val="5620F4"/>
              </a:solidFill>
              <a:effectLst/>
              <a:latin typeface="Menlo"/>
              <a:cs typeface="Calibri"/>
            </a:endParaRPr>
          </a:p>
          <a:p>
            <a:pPr marL="0" indent="0">
              <a:spcBef>
                <a:spcPts val="0"/>
              </a:spcBef>
              <a:buNone/>
            </a:pPr>
            <a:r>
              <a:rPr lang="en-US" sz="1150" dirty="0">
                <a:solidFill>
                  <a:srgbClr val="000000"/>
                </a:solidFill>
                <a:effectLst/>
                <a:latin typeface="Menlo"/>
                <a:cs typeface="Calibri"/>
              </a:rPr>
              <a:t>        </a:t>
            </a:r>
            <a:r>
              <a:rPr lang="en-US" sz="1150" b="1" dirty="0">
                <a:solidFill>
                  <a:srgbClr val="5620F4"/>
                </a:solidFill>
                <a:effectLst/>
                <a:latin typeface="Menlo"/>
                <a:cs typeface="Calibri"/>
              </a:rPr>
              <a:t>#pragma castor ensures </a:t>
            </a:r>
            <a:r>
              <a:rPr lang="en-US" sz="1150" b="1" dirty="0">
                <a:solidFill>
                  <a:srgbClr val="AAAB25"/>
                </a:solidFill>
                <a:effectLst/>
                <a:latin typeface="Menlo"/>
                <a:cs typeface="Calibri"/>
              </a:rPr>
              <a:t>this</a:t>
            </a:r>
            <a:r>
              <a:rPr lang="en-US" sz="1150" b="1" dirty="0">
                <a:solidFill>
                  <a:srgbClr val="5620F4"/>
                </a:solidFill>
                <a:effectLst/>
                <a:latin typeface="Menlo"/>
                <a:cs typeface="Calibri"/>
              </a:rPr>
              <a:t>-&gt;side1_length == side1</a:t>
            </a:r>
            <a:endParaRPr lang="en-US" sz="1150" dirty="0">
              <a:solidFill>
                <a:srgbClr val="5620F4"/>
              </a:solidFill>
              <a:effectLst/>
              <a:latin typeface="Menlo"/>
              <a:cs typeface="Calibri"/>
            </a:endParaRPr>
          </a:p>
          <a:p>
            <a:pPr marL="0" indent="0">
              <a:spcBef>
                <a:spcPts val="0"/>
              </a:spcBef>
              <a:buNone/>
            </a:pPr>
            <a:r>
              <a:rPr lang="en-US" sz="1150" dirty="0">
                <a:solidFill>
                  <a:srgbClr val="000000"/>
                </a:solidFill>
                <a:effectLst/>
                <a:latin typeface="Menlo"/>
                <a:cs typeface="Calibri"/>
              </a:rPr>
              <a:t>        </a:t>
            </a:r>
            <a:r>
              <a:rPr lang="en-US" sz="1150" b="1" dirty="0">
                <a:solidFill>
                  <a:srgbClr val="5620F4"/>
                </a:solidFill>
                <a:effectLst/>
                <a:latin typeface="Menlo"/>
                <a:cs typeface="Calibri"/>
              </a:rPr>
              <a:t>#pragma castor ensures </a:t>
            </a:r>
            <a:r>
              <a:rPr lang="en-US" sz="1150" b="1" dirty="0">
                <a:solidFill>
                  <a:srgbClr val="AAAB25"/>
                </a:solidFill>
                <a:effectLst/>
                <a:latin typeface="Menlo"/>
                <a:cs typeface="Calibri"/>
              </a:rPr>
              <a:t>this</a:t>
            </a:r>
            <a:r>
              <a:rPr lang="en-US" sz="1150" b="1" dirty="0">
                <a:solidFill>
                  <a:srgbClr val="5620F4"/>
                </a:solidFill>
                <a:effectLst/>
                <a:latin typeface="Menlo"/>
                <a:cs typeface="Calibri"/>
              </a:rPr>
              <a:t>-&gt;side2_length == side2</a:t>
            </a:r>
            <a:endParaRPr lang="en-US" sz="1150" dirty="0">
              <a:solidFill>
                <a:srgbClr val="5620F4"/>
              </a:solidFill>
              <a:effectLst/>
              <a:latin typeface="Menlo"/>
              <a:cs typeface="Calibri"/>
            </a:endParaRPr>
          </a:p>
          <a:p>
            <a:pPr marL="0" indent="0">
              <a:spcBef>
                <a:spcPts val="0"/>
              </a:spcBef>
              <a:buNone/>
            </a:pPr>
            <a:r>
              <a:rPr lang="en-US" sz="1150" dirty="0">
                <a:solidFill>
                  <a:srgbClr val="000000"/>
                </a:solidFill>
                <a:effectLst/>
                <a:latin typeface="Menlo"/>
                <a:cs typeface="Calibri"/>
              </a:rPr>
              <a:t>        </a:t>
            </a:r>
            <a:r>
              <a:rPr lang="en-US" sz="1150" b="1" dirty="0">
                <a:solidFill>
                  <a:srgbClr val="5620F4"/>
                </a:solidFill>
                <a:effectLst/>
                <a:latin typeface="Menlo"/>
                <a:cs typeface="Calibri"/>
              </a:rPr>
              <a:t>#pragma castor writes </a:t>
            </a:r>
            <a:r>
              <a:rPr lang="en-US" sz="1150" b="1" dirty="0">
                <a:solidFill>
                  <a:srgbClr val="AAAB25"/>
                </a:solidFill>
                <a:effectLst/>
                <a:latin typeface="Menlo"/>
                <a:cs typeface="Calibri"/>
              </a:rPr>
              <a:t>this</a:t>
            </a:r>
            <a:r>
              <a:rPr lang="en-US" sz="1150" b="1" dirty="0">
                <a:solidFill>
                  <a:srgbClr val="5620F4"/>
                </a:solidFill>
                <a:effectLst/>
                <a:latin typeface="Menlo"/>
                <a:cs typeface="Calibri"/>
              </a:rPr>
              <a:t>-&gt;side1_length, \</a:t>
            </a:r>
          </a:p>
          <a:p>
            <a:pPr marL="0" indent="0">
              <a:spcBef>
                <a:spcPts val="0"/>
              </a:spcBef>
              <a:buNone/>
            </a:pPr>
            <a:r>
              <a:rPr lang="en-US" sz="1150" b="1" dirty="0">
                <a:solidFill>
                  <a:srgbClr val="5620F4"/>
                </a:solidFill>
                <a:latin typeface="Menlo"/>
                <a:cs typeface="Calibri"/>
              </a:rPr>
              <a:t>                              </a:t>
            </a:r>
            <a:r>
              <a:rPr lang="en-US" sz="1150" b="1" dirty="0">
                <a:solidFill>
                  <a:srgbClr val="AAAB25"/>
                </a:solidFill>
                <a:effectLst/>
                <a:latin typeface="Menlo"/>
                <a:cs typeface="Calibri"/>
              </a:rPr>
              <a:t>this</a:t>
            </a:r>
            <a:r>
              <a:rPr lang="en-US" sz="1150" b="1" dirty="0">
                <a:solidFill>
                  <a:srgbClr val="5620F4"/>
                </a:solidFill>
                <a:effectLst/>
                <a:latin typeface="Menlo"/>
                <a:cs typeface="Calibri"/>
              </a:rPr>
              <a:t>-&gt;side2_length</a:t>
            </a:r>
            <a:endParaRPr lang="en-US" sz="1150" dirty="0">
              <a:solidFill>
                <a:srgbClr val="5620F4"/>
              </a:solidFill>
              <a:effectLst/>
              <a:latin typeface="Menlo"/>
              <a:cs typeface="Calibri"/>
            </a:endParaRPr>
          </a:p>
          <a:p>
            <a:pPr marL="0" indent="0">
              <a:spcBef>
                <a:spcPts val="0"/>
              </a:spcBef>
              <a:buNone/>
            </a:pPr>
            <a:r>
              <a:rPr lang="en-US" sz="1150" dirty="0">
                <a:solidFill>
                  <a:srgbClr val="000000"/>
                </a:solidFill>
                <a:effectLst/>
                <a:latin typeface="Menlo"/>
                <a:cs typeface="Calibri"/>
              </a:rPr>
              <a:t>        Rectangle(</a:t>
            </a:r>
            <a:r>
              <a:rPr lang="en-US" sz="1150" b="1" dirty="0">
                <a:solidFill>
                  <a:srgbClr val="39C026"/>
                </a:solidFill>
                <a:effectLst/>
                <a:latin typeface="Menlo"/>
                <a:cs typeface="Calibri"/>
              </a:rPr>
              <a:t>unsigned</a:t>
            </a:r>
            <a:r>
              <a:rPr lang="en-US" sz="1150" dirty="0">
                <a:solidFill>
                  <a:srgbClr val="000000"/>
                </a:solidFill>
                <a:effectLst/>
                <a:latin typeface="Menlo"/>
                <a:cs typeface="Calibri"/>
              </a:rPr>
              <a:t> </a:t>
            </a:r>
            <a:r>
              <a:rPr lang="en-US" sz="1150" b="1" dirty="0">
                <a:solidFill>
                  <a:srgbClr val="39C026"/>
                </a:solidFill>
                <a:effectLst/>
                <a:latin typeface="Menlo"/>
                <a:cs typeface="Calibri"/>
              </a:rPr>
              <a:t>int</a:t>
            </a:r>
            <a:r>
              <a:rPr lang="en-US" sz="1150" dirty="0">
                <a:solidFill>
                  <a:srgbClr val="000000"/>
                </a:solidFill>
                <a:effectLst/>
                <a:latin typeface="Menlo"/>
                <a:cs typeface="Calibri"/>
              </a:rPr>
              <a:t> side1, </a:t>
            </a:r>
            <a:r>
              <a:rPr lang="en-US" sz="1150" b="1" dirty="0">
                <a:solidFill>
                  <a:srgbClr val="39C026"/>
                </a:solidFill>
                <a:effectLst/>
                <a:latin typeface="Menlo"/>
                <a:cs typeface="Calibri"/>
              </a:rPr>
              <a:t>unsigned</a:t>
            </a:r>
            <a:r>
              <a:rPr lang="en-US" sz="1150" dirty="0">
                <a:solidFill>
                  <a:srgbClr val="000000"/>
                </a:solidFill>
                <a:effectLst/>
                <a:latin typeface="Menlo"/>
                <a:cs typeface="Calibri"/>
              </a:rPr>
              <a:t> </a:t>
            </a:r>
            <a:r>
              <a:rPr lang="en-US" sz="1150" b="1" dirty="0">
                <a:solidFill>
                  <a:srgbClr val="39C026"/>
                </a:solidFill>
                <a:effectLst/>
                <a:latin typeface="Menlo"/>
                <a:cs typeface="Calibri"/>
              </a:rPr>
              <a:t>int</a:t>
            </a:r>
            <a:r>
              <a:rPr lang="en-US" sz="1150" dirty="0">
                <a:solidFill>
                  <a:srgbClr val="000000"/>
                </a:solidFill>
                <a:effectLst/>
                <a:latin typeface="Menlo"/>
                <a:cs typeface="Calibri"/>
              </a:rPr>
              <a:t> side2)</a:t>
            </a:r>
          </a:p>
          <a:p>
            <a:pPr marL="0" indent="0">
              <a:spcBef>
                <a:spcPts val="0"/>
              </a:spcBef>
              <a:buNone/>
            </a:pPr>
            <a:r>
              <a:rPr lang="en-US" sz="1150" dirty="0">
                <a:solidFill>
                  <a:srgbClr val="000000"/>
                </a:solidFill>
                <a:effectLst/>
                <a:latin typeface="Menlo"/>
                <a:cs typeface="Calibri"/>
              </a:rPr>
              <a:t>                : side1_length(side1), side2_length(side2) { }</a:t>
            </a:r>
            <a:br>
              <a:rPr lang="en-US" sz="1150" dirty="0">
                <a:effectLst/>
                <a:latin typeface="Menlo" panose="020B0609030804020204" pitchFamily="49" charset="0"/>
              </a:rPr>
            </a:br>
            <a:endParaRPr lang="en-US" sz="1150" dirty="0">
              <a:solidFill>
                <a:srgbClr val="000000"/>
              </a:solidFill>
              <a:effectLst/>
              <a:latin typeface="Menlo" panose="020B0609030804020204" pitchFamily="49" charset="0"/>
            </a:endParaRPr>
          </a:p>
          <a:p>
            <a:pPr marL="0" indent="0">
              <a:spcBef>
                <a:spcPts val="0"/>
              </a:spcBef>
              <a:buNone/>
            </a:pPr>
            <a:r>
              <a:rPr lang="en-US" sz="1150" dirty="0">
                <a:solidFill>
                  <a:srgbClr val="000000"/>
                </a:solidFill>
                <a:effectLst/>
                <a:latin typeface="Menlo"/>
                <a:cs typeface="Calibri"/>
              </a:rPr>
              <a:t>        </a:t>
            </a:r>
            <a:r>
              <a:rPr lang="en-US" sz="1150" b="1" dirty="0">
                <a:solidFill>
                  <a:srgbClr val="5620F4"/>
                </a:solidFill>
                <a:effectLst/>
                <a:latin typeface="Menlo"/>
                <a:cs typeface="Calibri"/>
              </a:rPr>
              <a:t>#pragma castor invariant valid(</a:t>
            </a:r>
            <a:r>
              <a:rPr lang="en-US" sz="1150" b="1" dirty="0">
                <a:solidFill>
                  <a:srgbClr val="AAAB25"/>
                </a:solidFill>
                <a:effectLst/>
                <a:latin typeface="Menlo"/>
                <a:cs typeface="Calibri"/>
              </a:rPr>
              <a:t>this</a:t>
            </a:r>
            <a:r>
              <a:rPr lang="en-US" sz="1150" b="1" dirty="0">
                <a:solidFill>
                  <a:srgbClr val="5620F4"/>
                </a:solidFill>
                <a:effectLst/>
                <a:latin typeface="Menlo"/>
                <a:cs typeface="Calibri"/>
              </a:rPr>
              <a:t>)</a:t>
            </a:r>
            <a:r>
              <a:rPr lang="en-US" sz="1150" dirty="0">
                <a:solidFill>
                  <a:srgbClr val="5620F4"/>
                </a:solidFill>
                <a:effectLst/>
                <a:latin typeface="Menlo"/>
                <a:cs typeface="Calibri"/>
              </a:rPr>
              <a:t> </a:t>
            </a:r>
          </a:p>
          <a:p>
            <a:pPr marL="0" indent="0">
              <a:spcBef>
                <a:spcPts val="0"/>
              </a:spcBef>
              <a:buNone/>
            </a:pPr>
            <a:r>
              <a:rPr lang="en-US" sz="1150" dirty="0">
                <a:solidFill>
                  <a:srgbClr val="000000"/>
                </a:solidFill>
                <a:effectLst/>
                <a:latin typeface="Menlo"/>
                <a:cs typeface="Calibri"/>
              </a:rPr>
              <a:t>        </a:t>
            </a:r>
            <a:r>
              <a:rPr lang="en-US" sz="1150" b="1" dirty="0">
                <a:solidFill>
                  <a:srgbClr val="5620F4"/>
                </a:solidFill>
                <a:effectLst/>
                <a:latin typeface="Menlo"/>
                <a:cs typeface="Calibri"/>
              </a:rPr>
              <a:t>#pragma castor ensures result == \</a:t>
            </a:r>
          </a:p>
          <a:p>
            <a:pPr marL="0" indent="0">
              <a:spcBef>
                <a:spcPts val="0"/>
              </a:spcBef>
              <a:buNone/>
            </a:pPr>
            <a:r>
              <a:rPr lang="en-US" sz="1150" b="1" dirty="0">
                <a:solidFill>
                  <a:srgbClr val="5620F4"/>
                </a:solidFill>
                <a:latin typeface="Menlo"/>
                <a:cs typeface="Calibri"/>
              </a:rPr>
              <a:t>                                  </a:t>
            </a:r>
            <a:r>
              <a:rPr lang="en-US" sz="1150" b="1" dirty="0">
                <a:solidFill>
                  <a:srgbClr val="DB27DA"/>
                </a:solidFill>
                <a:effectLst/>
                <a:latin typeface="Menlo"/>
                <a:cs typeface="Calibri"/>
              </a:rPr>
              <a:t>2</a:t>
            </a:r>
            <a:r>
              <a:rPr lang="en-US" sz="1150" b="1" dirty="0">
                <a:solidFill>
                  <a:srgbClr val="5620F4"/>
                </a:solidFill>
                <a:effectLst/>
                <a:latin typeface="Menlo"/>
                <a:cs typeface="Calibri"/>
              </a:rPr>
              <a:t> * </a:t>
            </a:r>
            <a:r>
              <a:rPr lang="en-US" sz="1150" b="1" dirty="0">
                <a:solidFill>
                  <a:srgbClr val="AAAB25"/>
                </a:solidFill>
                <a:effectLst/>
                <a:latin typeface="Menlo"/>
                <a:cs typeface="Calibri"/>
              </a:rPr>
              <a:t>this</a:t>
            </a:r>
            <a:r>
              <a:rPr lang="en-US" sz="1150" b="1" dirty="0">
                <a:solidFill>
                  <a:srgbClr val="5620F4"/>
                </a:solidFill>
                <a:effectLst/>
                <a:latin typeface="Menlo"/>
                <a:cs typeface="Calibri"/>
              </a:rPr>
              <a:t>-&gt;side1_length + </a:t>
            </a:r>
            <a:r>
              <a:rPr lang="en-US" sz="1150" b="1" dirty="0">
                <a:solidFill>
                  <a:srgbClr val="5620F4"/>
                </a:solidFill>
                <a:latin typeface="Menlo"/>
                <a:cs typeface="Calibri"/>
              </a:rPr>
              <a:t>\</a:t>
            </a:r>
            <a:endParaRPr lang="en-US" sz="1150" dirty="0">
              <a:solidFill>
                <a:srgbClr val="5620F4"/>
              </a:solidFill>
              <a:latin typeface="Menlo"/>
              <a:cs typeface="Calibri"/>
            </a:endParaRPr>
          </a:p>
          <a:p>
            <a:pPr marL="0" indent="0">
              <a:spcBef>
                <a:spcPts val="0"/>
              </a:spcBef>
              <a:buNone/>
            </a:pPr>
            <a:r>
              <a:rPr lang="en-US" sz="1150" b="1" dirty="0">
                <a:solidFill>
                  <a:srgbClr val="DB27DA"/>
                </a:solidFill>
                <a:latin typeface="Menlo"/>
                <a:cs typeface="Calibri"/>
              </a:rPr>
              <a:t>                                  </a:t>
            </a:r>
            <a:r>
              <a:rPr lang="en-US" sz="1150" b="1" dirty="0">
                <a:solidFill>
                  <a:srgbClr val="DB27DA"/>
                </a:solidFill>
                <a:effectLst/>
                <a:latin typeface="Menlo"/>
                <a:cs typeface="Calibri"/>
              </a:rPr>
              <a:t>2</a:t>
            </a:r>
            <a:r>
              <a:rPr lang="en-US" sz="1150" b="1" dirty="0">
                <a:solidFill>
                  <a:srgbClr val="5620F4"/>
                </a:solidFill>
                <a:effectLst/>
                <a:latin typeface="Menlo"/>
                <a:cs typeface="Calibri"/>
              </a:rPr>
              <a:t> * </a:t>
            </a:r>
            <a:r>
              <a:rPr lang="en-US" sz="1150" b="1" dirty="0">
                <a:solidFill>
                  <a:srgbClr val="AAAB25"/>
                </a:solidFill>
                <a:effectLst/>
                <a:latin typeface="Menlo"/>
                <a:cs typeface="Calibri"/>
              </a:rPr>
              <a:t>this</a:t>
            </a:r>
            <a:r>
              <a:rPr lang="en-US" sz="1150" b="1" dirty="0">
                <a:solidFill>
                  <a:srgbClr val="5620F4"/>
                </a:solidFill>
                <a:effectLst/>
                <a:latin typeface="Menlo"/>
                <a:cs typeface="Calibri"/>
              </a:rPr>
              <a:t>-&gt;side2_length</a:t>
            </a:r>
            <a:endParaRPr lang="en-US" sz="1150" dirty="0">
              <a:solidFill>
                <a:srgbClr val="5620F4"/>
              </a:solidFill>
              <a:effectLst/>
              <a:latin typeface="Menlo"/>
              <a:cs typeface="Calibri"/>
            </a:endParaRPr>
          </a:p>
          <a:p>
            <a:pPr marL="0" indent="0">
              <a:spcBef>
                <a:spcPts val="0"/>
              </a:spcBef>
              <a:buNone/>
            </a:pPr>
            <a:r>
              <a:rPr lang="en-US" sz="1150" dirty="0">
                <a:solidFill>
                  <a:srgbClr val="000000"/>
                </a:solidFill>
                <a:effectLst/>
                <a:latin typeface="Menlo"/>
                <a:cs typeface="Calibri"/>
              </a:rPr>
              <a:t>        </a:t>
            </a:r>
            <a:r>
              <a:rPr lang="en-US" sz="1150" b="1" dirty="0">
                <a:solidFill>
                  <a:srgbClr val="5620F4"/>
                </a:solidFill>
                <a:effectLst/>
                <a:latin typeface="Menlo"/>
                <a:cs typeface="Calibri"/>
              </a:rPr>
              <a:t>#pragma castor </a:t>
            </a:r>
            <a:r>
              <a:rPr lang="en-US" sz="1150" b="1" dirty="0" err="1">
                <a:solidFill>
                  <a:srgbClr val="5620F4"/>
                </a:solidFill>
                <a:effectLst/>
                <a:latin typeface="Menlo"/>
                <a:cs typeface="Calibri"/>
              </a:rPr>
              <a:t>no_write</a:t>
            </a:r>
            <a:endParaRPr lang="en-US" sz="1150" dirty="0">
              <a:solidFill>
                <a:srgbClr val="5620F4"/>
              </a:solidFill>
              <a:effectLst/>
              <a:latin typeface="Menlo"/>
              <a:cs typeface="Calibri"/>
            </a:endParaRPr>
          </a:p>
          <a:p>
            <a:pPr marL="0" indent="0">
              <a:spcBef>
                <a:spcPts val="0"/>
              </a:spcBef>
              <a:buNone/>
            </a:pPr>
            <a:r>
              <a:rPr lang="en-US" sz="1150" dirty="0">
                <a:solidFill>
                  <a:srgbClr val="000000"/>
                </a:solidFill>
                <a:effectLst/>
                <a:latin typeface="Menlo"/>
                <a:cs typeface="Calibri"/>
              </a:rPr>
              <a:t>        </a:t>
            </a:r>
            <a:r>
              <a:rPr lang="en-US" sz="1150" b="1" dirty="0">
                <a:solidFill>
                  <a:srgbClr val="39C026"/>
                </a:solidFill>
                <a:effectLst/>
                <a:latin typeface="Menlo"/>
                <a:cs typeface="Calibri"/>
              </a:rPr>
              <a:t>unsigned</a:t>
            </a:r>
            <a:r>
              <a:rPr lang="en-US" sz="1150" dirty="0">
                <a:solidFill>
                  <a:srgbClr val="000000"/>
                </a:solidFill>
                <a:effectLst/>
                <a:latin typeface="Menlo"/>
                <a:cs typeface="Calibri"/>
              </a:rPr>
              <a:t> </a:t>
            </a:r>
            <a:r>
              <a:rPr lang="en-US" sz="1150" b="1" dirty="0">
                <a:solidFill>
                  <a:srgbClr val="39C026"/>
                </a:solidFill>
                <a:effectLst/>
                <a:latin typeface="Menlo"/>
                <a:cs typeface="Calibri"/>
              </a:rPr>
              <a:t>long</a:t>
            </a:r>
            <a:r>
              <a:rPr lang="en-US" sz="1150" dirty="0">
                <a:solidFill>
                  <a:srgbClr val="000000"/>
                </a:solidFill>
                <a:effectLst/>
                <a:latin typeface="Menlo"/>
                <a:cs typeface="Calibri"/>
              </a:rPr>
              <a:t> </a:t>
            </a:r>
            <a:r>
              <a:rPr lang="en-US" sz="1150" dirty="0" err="1">
                <a:solidFill>
                  <a:srgbClr val="000000"/>
                </a:solidFill>
                <a:effectLst/>
                <a:latin typeface="Menlo"/>
                <a:cs typeface="Calibri"/>
              </a:rPr>
              <a:t>get_perimeter</a:t>
            </a:r>
            <a:r>
              <a:rPr lang="en-US" sz="1150" dirty="0">
                <a:solidFill>
                  <a:srgbClr val="000000"/>
                </a:solidFill>
                <a:effectLst/>
                <a:latin typeface="Menlo"/>
                <a:cs typeface="Calibri"/>
              </a:rPr>
              <a:t>() {</a:t>
            </a:r>
          </a:p>
          <a:p>
            <a:pPr marL="0" indent="0">
              <a:spcBef>
                <a:spcPts val="0"/>
              </a:spcBef>
              <a:buNone/>
            </a:pPr>
            <a:r>
              <a:rPr lang="en-US" sz="1150" dirty="0">
                <a:solidFill>
                  <a:srgbClr val="000000"/>
                </a:solidFill>
                <a:effectLst/>
                <a:latin typeface="Menlo"/>
                <a:cs typeface="Calibri"/>
              </a:rPr>
              <a:t>                </a:t>
            </a:r>
            <a:r>
              <a:rPr lang="en-US" sz="1150" b="1" dirty="0">
                <a:solidFill>
                  <a:srgbClr val="AAAB25"/>
                </a:solidFill>
                <a:effectLst/>
                <a:latin typeface="Menlo"/>
                <a:cs typeface="Calibri"/>
              </a:rPr>
              <a:t>return</a:t>
            </a:r>
            <a:r>
              <a:rPr lang="en-US" sz="1150" dirty="0">
                <a:solidFill>
                  <a:srgbClr val="000000"/>
                </a:solidFill>
                <a:effectLst/>
                <a:latin typeface="Menlo"/>
                <a:cs typeface="Calibri"/>
              </a:rPr>
              <a:t> </a:t>
            </a:r>
            <a:r>
              <a:rPr lang="en-US" sz="1150" b="1" dirty="0">
                <a:solidFill>
                  <a:srgbClr val="DB27DA"/>
                </a:solidFill>
                <a:latin typeface="Menlo"/>
                <a:cs typeface="Calibri"/>
              </a:rPr>
              <a:t>2</a:t>
            </a:r>
            <a:r>
              <a:rPr lang="en-US" sz="1150" dirty="0">
                <a:solidFill>
                  <a:srgbClr val="000000"/>
                </a:solidFill>
                <a:effectLst/>
                <a:latin typeface="Menlo"/>
                <a:cs typeface="Calibri"/>
              </a:rPr>
              <a:t> * side1_length + </a:t>
            </a:r>
            <a:r>
              <a:rPr lang="en-US" sz="1150" b="1" dirty="0">
                <a:solidFill>
                  <a:srgbClr val="DB27DA"/>
                </a:solidFill>
                <a:latin typeface="Menlo"/>
                <a:cs typeface="Calibri"/>
              </a:rPr>
              <a:t>2</a:t>
            </a:r>
            <a:r>
              <a:rPr lang="en-US" sz="1150" dirty="0">
                <a:solidFill>
                  <a:srgbClr val="000000"/>
                </a:solidFill>
                <a:effectLst/>
                <a:latin typeface="Menlo"/>
                <a:cs typeface="Calibri"/>
              </a:rPr>
              <a:t> * side2_length;</a:t>
            </a:r>
          </a:p>
          <a:p>
            <a:pPr marL="0" indent="0">
              <a:spcBef>
                <a:spcPts val="0"/>
              </a:spcBef>
              <a:buNone/>
            </a:pPr>
            <a:r>
              <a:rPr lang="en-US" sz="1150" dirty="0">
                <a:solidFill>
                  <a:srgbClr val="000000"/>
                </a:solidFill>
                <a:effectLst/>
                <a:latin typeface="Menlo"/>
                <a:cs typeface="Calibri"/>
              </a:rPr>
              <a:t>        }</a:t>
            </a:r>
          </a:p>
          <a:p>
            <a:pPr marL="0" indent="0">
              <a:spcBef>
                <a:spcPts val="0"/>
              </a:spcBef>
              <a:buNone/>
            </a:pPr>
            <a:r>
              <a:rPr lang="en-US" sz="1150" dirty="0">
                <a:solidFill>
                  <a:srgbClr val="000000"/>
                </a:solidFill>
                <a:effectLst/>
                <a:latin typeface="Menlo"/>
                <a:cs typeface="Calibri"/>
              </a:rPr>
              <a:t>};</a:t>
            </a:r>
            <a:endParaRPr lang="en-US" sz="1150" dirty="0">
              <a:solidFill>
                <a:srgbClr val="000000"/>
              </a:solidFill>
              <a:effectLst/>
              <a:latin typeface="Menlo" panose="020B0609030804020204" pitchFamily="49" charset="0"/>
            </a:endParaRPr>
          </a:p>
        </p:txBody>
      </p:sp>
      <p:sp>
        <p:nvSpPr>
          <p:cNvPr id="3" name="Title 2">
            <a:extLst>
              <a:ext uri="{FF2B5EF4-FFF2-40B4-BE49-F238E27FC236}">
                <a16:creationId xmlns:a16="http://schemas.microsoft.com/office/drawing/2014/main" id="{A4FE9BF2-B37E-A77C-FFF6-7F114FEFE8B7}"/>
              </a:ext>
            </a:extLst>
          </p:cNvPr>
          <p:cNvSpPr>
            <a:spLocks noGrp="1"/>
          </p:cNvSpPr>
          <p:nvPr>
            <p:ph type="title"/>
          </p:nvPr>
        </p:nvSpPr>
        <p:spPr/>
        <p:txBody>
          <a:bodyPr/>
          <a:lstStyle/>
          <a:p>
            <a:r>
              <a:rPr lang="en-US"/>
              <a:t>Example: Classes and inheritance</a:t>
            </a:r>
          </a:p>
        </p:txBody>
      </p:sp>
      <p:sp>
        <p:nvSpPr>
          <p:cNvPr id="7" name="Content Placeholder 1">
            <a:extLst>
              <a:ext uri="{FF2B5EF4-FFF2-40B4-BE49-F238E27FC236}">
                <a16:creationId xmlns:a16="http://schemas.microsoft.com/office/drawing/2014/main" id="{8D76D7A2-D4E8-B2FE-EAE5-C8E219E06F64}"/>
              </a:ext>
            </a:extLst>
          </p:cNvPr>
          <p:cNvSpPr txBox="1">
            <a:spLocks/>
          </p:cNvSpPr>
          <p:nvPr/>
        </p:nvSpPr>
        <p:spPr>
          <a:xfrm>
            <a:off x="5954484" y="2059503"/>
            <a:ext cx="6228443" cy="4906889"/>
          </a:xfrm>
          <a:prstGeom prst="rect">
            <a:avLst/>
          </a:prstGeom>
        </p:spPr>
        <p:txBody>
          <a:bodyPr vert="horz" lIns="0" tIns="0" rIns="0" bIns="0" rtlCol="0" anchor="t">
            <a:noAutofit/>
          </a:bodyPr>
          <a:lstStyle>
            <a:lvl1pPr marL="285750" indent="-228600" algn="l" rtl="0" eaLnBrk="1" latinLnBrk="0" hangingPunct="1">
              <a:spcBef>
                <a:spcPts val="1800"/>
              </a:spcBef>
              <a:spcAft>
                <a:spcPts val="0"/>
              </a:spcAft>
              <a:buClr>
                <a:schemeClr val="accent1">
                  <a:lumMod val="75000"/>
                </a:schemeClr>
              </a:buClr>
              <a:buSzPct val="90000"/>
              <a:buFont typeface="Wingdings" charset="2"/>
              <a:buChar char="§"/>
              <a:tabLst/>
              <a:defRPr kumimoji="0" sz="2400" b="0" kern="1200">
                <a:solidFill>
                  <a:schemeClr val="tx1"/>
                </a:solidFill>
                <a:latin typeface="Calibri" panose="020F0502020204030204" pitchFamily="34" charset="0"/>
                <a:ea typeface="+mn-ea"/>
                <a:cs typeface="Calibri" panose="020F0502020204030204" pitchFamily="34" charset="0"/>
              </a:defRPr>
            </a:lvl1pPr>
            <a:lvl2pPr marL="628650" indent="-285750" algn="l" rtl="0" eaLnBrk="1" latinLnBrk="0" hangingPunct="1">
              <a:spcBef>
                <a:spcPts val="0"/>
              </a:spcBef>
              <a:spcAft>
                <a:spcPts val="0"/>
              </a:spcAft>
              <a:buClrTx/>
              <a:buSzPct val="90000"/>
              <a:buFont typeface="Calibri" panose="020F0502020204030204" pitchFamily="34" charset="0"/>
              <a:buChar char="—"/>
              <a:defRPr kumimoji="0" sz="2000" kern="1200">
                <a:solidFill>
                  <a:schemeClr val="tx1"/>
                </a:solidFill>
                <a:latin typeface="Calibri" panose="020F0502020204030204" pitchFamily="34" charset="0"/>
                <a:ea typeface="+mn-ea"/>
                <a:cs typeface="Calibri" panose="020F0502020204030204" pitchFamily="34" charset="0"/>
              </a:defRPr>
            </a:lvl2pPr>
            <a:lvl3pPr marL="800100" indent="-171450" algn="l" rtl="0" eaLnBrk="1" latinLnBrk="0" hangingPunct="1">
              <a:spcBef>
                <a:spcPts val="0"/>
              </a:spcBef>
              <a:spcAft>
                <a:spcPts val="0"/>
              </a:spcAft>
              <a:buClrTx/>
              <a:buSzPct val="90000"/>
              <a:buFont typeface="Arial" panose="020B0604020202020204" pitchFamily="34" charset="0"/>
              <a:buChar char="•"/>
              <a:defRPr kumimoji="0" sz="1800" kern="1200">
                <a:solidFill>
                  <a:schemeClr val="tx1"/>
                </a:solidFill>
                <a:latin typeface="Calibri" panose="020F0502020204030204" pitchFamily="34" charset="0"/>
                <a:ea typeface="+mn-ea"/>
                <a:cs typeface="Calibri" panose="020F0502020204030204" pitchFamily="34" charset="0"/>
              </a:defRPr>
            </a:lvl3pPr>
            <a:lvl4pPr marL="1028700" indent="-171450" algn="l" rtl="0" eaLnBrk="1" latinLnBrk="0" hangingPunct="1">
              <a:spcBef>
                <a:spcPts val="0"/>
              </a:spcBef>
              <a:spcAft>
                <a:spcPts val="0"/>
              </a:spcAft>
              <a:buClrTx/>
              <a:buSzPct val="100000"/>
              <a:buFont typeface="Lucida Grande"/>
              <a:buChar char="–"/>
              <a:defRPr kumimoji="0" sz="1600" kern="1200">
                <a:solidFill>
                  <a:schemeClr val="tx1"/>
                </a:solidFill>
                <a:latin typeface="Calibri" panose="020F0502020204030204" pitchFamily="34" charset="0"/>
                <a:ea typeface="+mn-ea"/>
                <a:cs typeface="Calibri" panose="020F0502020204030204" pitchFamily="34" charset="0"/>
              </a:defRPr>
            </a:lvl4pPr>
            <a:lvl5pPr marL="1257300" indent="-171450" algn="l" rtl="0" eaLnBrk="1" latinLnBrk="0" hangingPunct="1">
              <a:spcBef>
                <a:spcPts val="0"/>
              </a:spcBef>
              <a:spcAft>
                <a:spcPts val="0"/>
              </a:spcAft>
              <a:buClrTx/>
              <a:buFont typeface="Arial"/>
              <a:buChar char="•"/>
              <a:tabLst>
                <a:tab pos="1200150" algn="l"/>
              </a:tabLst>
              <a:defRPr kumimoji="0" lang="en-US" sz="1600" kern="1200">
                <a:solidFill>
                  <a:schemeClr val="tx1"/>
                </a:solidFill>
                <a:latin typeface="Calibri" panose="020F0502020204030204" pitchFamily="34" charset="0"/>
                <a:ea typeface="+mn-ea"/>
                <a:cs typeface="Calibri" panose="020F0502020204030204"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lstStyle>
          <a:p>
            <a:pPr marL="0" indent="0" defTabSz="914400">
              <a:spcBef>
                <a:spcPts val="0"/>
              </a:spcBef>
              <a:buFont typeface="Wingdings" charset="2"/>
              <a:buNone/>
            </a:pPr>
            <a:r>
              <a:rPr lang="en-US" sz="1150" b="1" dirty="0">
                <a:solidFill>
                  <a:srgbClr val="39C026"/>
                </a:solidFill>
                <a:latin typeface="Menlo"/>
                <a:cs typeface="Calibri"/>
              </a:rPr>
              <a:t>class</a:t>
            </a:r>
            <a:r>
              <a:rPr lang="en-US" sz="1150" dirty="0">
                <a:solidFill>
                  <a:srgbClr val="000000"/>
                </a:solidFill>
                <a:latin typeface="Menlo"/>
                <a:cs typeface="Calibri"/>
              </a:rPr>
              <a:t> Square : </a:t>
            </a:r>
            <a:r>
              <a:rPr lang="en-US" sz="1150" b="1" dirty="0">
                <a:solidFill>
                  <a:srgbClr val="AAAB25"/>
                </a:solidFill>
                <a:latin typeface="Menlo"/>
                <a:cs typeface="Calibri"/>
              </a:rPr>
              <a:t>public</a:t>
            </a:r>
            <a:r>
              <a:rPr lang="en-US" sz="1150" dirty="0">
                <a:solidFill>
                  <a:srgbClr val="000000"/>
                </a:solidFill>
                <a:latin typeface="Menlo"/>
                <a:cs typeface="Calibri"/>
              </a:rPr>
              <a:t> Rectangle {</a:t>
            </a:r>
            <a:endParaRPr lang="en-US" sz="1150" dirty="0">
              <a:latin typeface="Menlo"/>
              <a:cs typeface="Calibri"/>
            </a:endParaRPr>
          </a:p>
          <a:p>
            <a:pPr marL="0" indent="0" defTabSz="914400">
              <a:spcBef>
                <a:spcPts val="0"/>
              </a:spcBef>
              <a:buNone/>
            </a:pPr>
            <a:r>
              <a:rPr lang="en-US" sz="1150" i="1" dirty="0">
                <a:solidFill>
                  <a:schemeClr val="bg1">
                    <a:lumMod val="49000"/>
                  </a:schemeClr>
                </a:solidFill>
                <a:latin typeface="Menlo"/>
                <a:cs typeface="Calibri"/>
              </a:rPr>
              <a:t>    /*  unsigned int side1_length; -- inherited from Rectangle  */</a:t>
            </a:r>
            <a:endParaRPr lang="en-US" sz="1150" i="1" dirty="0">
              <a:solidFill>
                <a:schemeClr val="bg1">
                  <a:lumMod val="49000"/>
                </a:schemeClr>
              </a:solidFill>
              <a:ea typeface="Calibri"/>
              <a:cs typeface="Calibri"/>
            </a:endParaRPr>
          </a:p>
          <a:p>
            <a:pPr marL="0" indent="0" defTabSz="914400">
              <a:spcBef>
                <a:spcPts val="0"/>
              </a:spcBef>
              <a:buNone/>
            </a:pPr>
            <a:r>
              <a:rPr lang="en-US" sz="1150" i="1" dirty="0">
                <a:solidFill>
                  <a:schemeClr val="bg1">
                    <a:lumMod val="49000"/>
                  </a:schemeClr>
                </a:solidFill>
                <a:latin typeface="Menlo"/>
                <a:cs typeface="Calibri"/>
              </a:rPr>
              <a:t>    /*  unsigned int side2_length; -- inherited from Rectangle  */</a:t>
            </a:r>
            <a:endParaRPr lang="en-US" sz="1150" i="1" dirty="0">
              <a:solidFill>
                <a:schemeClr val="bg1">
                  <a:lumMod val="49000"/>
                </a:schemeClr>
              </a:solidFill>
              <a:cs typeface="Calibri"/>
            </a:endParaRPr>
          </a:p>
          <a:p>
            <a:pPr marL="0" indent="0" defTabSz="914400">
              <a:spcBef>
                <a:spcPts val="0"/>
              </a:spcBef>
              <a:buFont typeface="Wingdings" charset="2"/>
              <a:buNone/>
            </a:pPr>
            <a:r>
              <a:rPr lang="en-US" sz="1150" b="1" dirty="0">
                <a:solidFill>
                  <a:srgbClr val="AAAB25"/>
                </a:solidFill>
                <a:latin typeface="Menlo"/>
                <a:cs typeface="Calibri"/>
              </a:rPr>
              <a:t>public</a:t>
            </a:r>
            <a:r>
              <a:rPr lang="en-US" sz="1150" dirty="0">
                <a:solidFill>
                  <a:srgbClr val="000000"/>
                </a:solidFill>
                <a:latin typeface="Menlo"/>
                <a:cs typeface="Calibri"/>
              </a:rPr>
              <a:t>:</a:t>
            </a:r>
            <a:endParaRPr lang="en-US" sz="1150" dirty="0">
              <a:solidFill>
                <a:srgbClr val="AAAB25"/>
              </a:solidFill>
              <a:latin typeface="Menlo"/>
              <a:cs typeface="Calibri"/>
            </a:endParaRPr>
          </a:p>
          <a:p>
            <a:pPr marL="0" indent="0" defTabSz="914400">
              <a:spcBef>
                <a:spcPts val="0"/>
              </a:spcBef>
              <a:buFont typeface="Wingdings" charset="2"/>
              <a:buNone/>
            </a:pPr>
            <a:r>
              <a:rPr lang="en-US" sz="1150" dirty="0">
                <a:solidFill>
                  <a:srgbClr val="000000"/>
                </a:solidFill>
                <a:latin typeface="Menlo"/>
                <a:cs typeface="Calibri"/>
              </a:rPr>
              <a:t>        </a:t>
            </a:r>
            <a:r>
              <a:rPr lang="en-US" sz="1150" b="1" dirty="0">
                <a:solidFill>
                  <a:srgbClr val="5620F4"/>
                </a:solidFill>
                <a:latin typeface="Menlo"/>
                <a:cs typeface="Calibri"/>
              </a:rPr>
              <a:t>#pragma castor invariant valid(</a:t>
            </a:r>
            <a:r>
              <a:rPr lang="en-US" sz="1150" b="1" dirty="0">
                <a:solidFill>
                  <a:srgbClr val="AAAB25"/>
                </a:solidFill>
                <a:latin typeface="Menlo"/>
                <a:cs typeface="Calibri"/>
              </a:rPr>
              <a:t>this</a:t>
            </a:r>
            <a:r>
              <a:rPr lang="en-US" sz="1150" b="1" dirty="0">
                <a:solidFill>
                  <a:srgbClr val="5620F4"/>
                </a:solidFill>
                <a:latin typeface="Menlo"/>
                <a:cs typeface="Calibri"/>
              </a:rPr>
              <a:t>)</a:t>
            </a:r>
            <a:endParaRPr lang="en-US" sz="1150" dirty="0">
              <a:solidFill>
                <a:srgbClr val="5620F4"/>
              </a:solidFill>
              <a:latin typeface="Menlo"/>
              <a:cs typeface="Calibri"/>
            </a:endParaRPr>
          </a:p>
          <a:p>
            <a:pPr marL="0" indent="0" defTabSz="914400">
              <a:spcBef>
                <a:spcPts val="0"/>
              </a:spcBef>
              <a:buFont typeface="Wingdings" charset="2"/>
              <a:buNone/>
            </a:pPr>
            <a:r>
              <a:rPr lang="en-US" sz="1150" dirty="0">
                <a:solidFill>
                  <a:srgbClr val="000000"/>
                </a:solidFill>
                <a:latin typeface="Menlo"/>
                <a:cs typeface="Calibri"/>
              </a:rPr>
              <a:t>        </a:t>
            </a:r>
            <a:r>
              <a:rPr lang="en-US" sz="1150" b="1" dirty="0">
                <a:solidFill>
                  <a:srgbClr val="5620F4"/>
                </a:solidFill>
                <a:latin typeface="Menlo"/>
                <a:cs typeface="Calibri"/>
              </a:rPr>
              <a:t>#pragma castor ensures </a:t>
            </a:r>
            <a:r>
              <a:rPr lang="en-US" sz="1150" b="1" dirty="0">
                <a:solidFill>
                  <a:srgbClr val="AAAB25"/>
                </a:solidFill>
                <a:latin typeface="Menlo"/>
                <a:cs typeface="Calibri"/>
              </a:rPr>
              <a:t>this</a:t>
            </a:r>
            <a:r>
              <a:rPr lang="en-US" sz="1150" b="1" dirty="0">
                <a:solidFill>
                  <a:srgbClr val="5620F4"/>
                </a:solidFill>
                <a:latin typeface="Menlo"/>
                <a:cs typeface="Calibri"/>
              </a:rPr>
              <a:t>-&gt;side1_length == side</a:t>
            </a:r>
            <a:endParaRPr lang="en-US" sz="1150" dirty="0">
              <a:solidFill>
                <a:srgbClr val="5620F4"/>
              </a:solidFill>
              <a:latin typeface="Menlo"/>
              <a:cs typeface="Calibri"/>
            </a:endParaRPr>
          </a:p>
          <a:p>
            <a:pPr marL="0" indent="0" defTabSz="914400">
              <a:spcBef>
                <a:spcPts val="0"/>
              </a:spcBef>
              <a:buFont typeface="Wingdings" charset="2"/>
              <a:buNone/>
            </a:pPr>
            <a:r>
              <a:rPr lang="en-US" sz="1150" dirty="0">
                <a:solidFill>
                  <a:srgbClr val="000000"/>
                </a:solidFill>
                <a:latin typeface="Menlo"/>
                <a:cs typeface="Calibri"/>
              </a:rPr>
              <a:t>        </a:t>
            </a:r>
            <a:r>
              <a:rPr lang="en-US" sz="1150" b="1" dirty="0">
                <a:solidFill>
                  <a:srgbClr val="5620F4"/>
                </a:solidFill>
                <a:latin typeface="Menlo"/>
                <a:cs typeface="Calibri"/>
              </a:rPr>
              <a:t>#pragma castor ensures </a:t>
            </a:r>
            <a:r>
              <a:rPr lang="en-US" sz="1150" b="1" dirty="0">
                <a:solidFill>
                  <a:srgbClr val="AAAB25"/>
                </a:solidFill>
                <a:latin typeface="Menlo"/>
                <a:cs typeface="Calibri"/>
              </a:rPr>
              <a:t>this</a:t>
            </a:r>
            <a:r>
              <a:rPr lang="en-US" sz="1150" b="1" dirty="0">
                <a:solidFill>
                  <a:srgbClr val="5620F4"/>
                </a:solidFill>
                <a:latin typeface="Menlo"/>
                <a:cs typeface="Calibri"/>
              </a:rPr>
              <a:t>-&gt;side2_length == side</a:t>
            </a:r>
            <a:endParaRPr lang="en-US" sz="1150" dirty="0">
              <a:solidFill>
                <a:srgbClr val="5620F4"/>
              </a:solidFill>
              <a:latin typeface="Menlo"/>
              <a:cs typeface="Calibri"/>
            </a:endParaRPr>
          </a:p>
          <a:p>
            <a:pPr marL="0" indent="0" defTabSz="914400">
              <a:spcBef>
                <a:spcPts val="0"/>
              </a:spcBef>
              <a:buFont typeface="Wingdings" charset="2"/>
              <a:buNone/>
            </a:pPr>
            <a:r>
              <a:rPr lang="en-US" sz="1150" dirty="0">
                <a:solidFill>
                  <a:srgbClr val="000000"/>
                </a:solidFill>
                <a:latin typeface="Menlo"/>
                <a:cs typeface="Calibri"/>
              </a:rPr>
              <a:t>        </a:t>
            </a:r>
            <a:r>
              <a:rPr lang="en-US" sz="1150" b="1" dirty="0">
                <a:solidFill>
                  <a:srgbClr val="5620F4"/>
                </a:solidFill>
                <a:latin typeface="Menlo"/>
                <a:cs typeface="Calibri"/>
              </a:rPr>
              <a:t>#pragma castor writes </a:t>
            </a:r>
            <a:r>
              <a:rPr lang="en-US" sz="1150" b="1" dirty="0">
                <a:solidFill>
                  <a:srgbClr val="AAAB25"/>
                </a:solidFill>
                <a:latin typeface="Menlo"/>
                <a:cs typeface="Calibri"/>
              </a:rPr>
              <a:t>this</a:t>
            </a:r>
            <a:r>
              <a:rPr lang="en-US" sz="1150" b="1" dirty="0">
                <a:solidFill>
                  <a:srgbClr val="5620F4"/>
                </a:solidFill>
                <a:latin typeface="Menlo"/>
                <a:cs typeface="Calibri"/>
              </a:rPr>
              <a:t>-&gt;side1_length, \</a:t>
            </a:r>
          </a:p>
          <a:p>
            <a:pPr marL="0" indent="0" defTabSz="914400">
              <a:spcBef>
                <a:spcPts val="0"/>
              </a:spcBef>
              <a:buFont typeface="Wingdings" charset="2"/>
              <a:buNone/>
            </a:pPr>
            <a:r>
              <a:rPr lang="en-US" sz="1150" b="1" dirty="0">
                <a:solidFill>
                  <a:srgbClr val="5620F4"/>
                </a:solidFill>
                <a:latin typeface="Menlo"/>
                <a:cs typeface="Calibri"/>
              </a:rPr>
              <a:t>                              </a:t>
            </a:r>
            <a:r>
              <a:rPr lang="en-US" sz="1150" b="1" dirty="0">
                <a:solidFill>
                  <a:srgbClr val="AAAB25"/>
                </a:solidFill>
                <a:latin typeface="Menlo"/>
                <a:cs typeface="Calibri"/>
              </a:rPr>
              <a:t>this</a:t>
            </a:r>
            <a:r>
              <a:rPr lang="en-US" sz="1150" b="1" dirty="0">
                <a:solidFill>
                  <a:srgbClr val="5620F4"/>
                </a:solidFill>
                <a:latin typeface="Menlo"/>
                <a:cs typeface="Calibri"/>
              </a:rPr>
              <a:t>-&gt;side2_length</a:t>
            </a:r>
            <a:endParaRPr lang="en-US" sz="1150" dirty="0">
              <a:solidFill>
                <a:srgbClr val="5620F4"/>
              </a:solidFill>
              <a:latin typeface="Menlo"/>
              <a:cs typeface="Calibri"/>
            </a:endParaRPr>
          </a:p>
          <a:p>
            <a:pPr marL="0" indent="0" defTabSz="914400">
              <a:spcBef>
                <a:spcPts val="0"/>
              </a:spcBef>
              <a:buNone/>
            </a:pPr>
            <a:r>
              <a:rPr lang="en-US" sz="1150" dirty="0">
                <a:solidFill>
                  <a:srgbClr val="000000"/>
                </a:solidFill>
                <a:latin typeface="Menlo"/>
                <a:cs typeface="Calibri"/>
              </a:rPr>
              <a:t>        Square(</a:t>
            </a:r>
            <a:r>
              <a:rPr lang="en-US" sz="1150" b="1" dirty="0">
                <a:solidFill>
                  <a:srgbClr val="39C026"/>
                </a:solidFill>
                <a:latin typeface="Menlo"/>
                <a:cs typeface="Calibri"/>
              </a:rPr>
              <a:t>unsigned</a:t>
            </a:r>
            <a:r>
              <a:rPr lang="en-US" sz="1150" dirty="0">
                <a:solidFill>
                  <a:srgbClr val="000000"/>
                </a:solidFill>
                <a:latin typeface="Menlo"/>
                <a:cs typeface="Calibri"/>
              </a:rPr>
              <a:t> </a:t>
            </a:r>
            <a:r>
              <a:rPr lang="en-US" sz="1150" b="1" dirty="0">
                <a:solidFill>
                  <a:srgbClr val="39C026"/>
                </a:solidFill>
                <a:latin typeface="Menlo"/>
                <a:cs typeface="Calibri"/>
              </a:rPr>
              <a:t>int</a:t>
            </a:r>
            <a:r>
              <a:rPr lang="en-US" sz="1150" dirty="0">
                <a:solidFill>
                  <a:srgbClr val="000000"/>
                </a:solidFill>
                <a:latin typeface="Menlo"/>
                <a:cs typeface="Calibri"/>
              </a:rPr>
              <a:t> side)</a:t>
            </a:r>
            <a:endParaRPr lang="en-US" sz="1150" dirty="0">
              <a:solidFill>
                <a:srgbClr val="000000"/>
              </a:solidFill>
              <a:latin typeface="Menlo" panose="020B0609030804020204" pitchFamily="49" charset="0"/>
            </a:endParaRPr>
          </a:p>
          <a:p>
            <a:pPr marL="0" indent="0" defTabSz="914400">
              <a:spcBef>
                <a:spcPts val="0"/>
              </a:spcBef>
              <a:buNone/>
            </a:pPr>
            <a:r>
              <a:rPr lang="en-US" sz="1150" dirty="0">
                <a:solidFill>
                  <a:srgbClr val="000000"/>
                </a:solidFill>
                <a:latin typeface="Menlo"/>
                <a:cs typeface="Calibri"/>
              </a:rPr>
              <a:t>                : Rectangle(side, side) { }</a:t>
            </a:r>
            <a:br>
              <a:rPr lang="en-US" sz="1150" dirty="0">
                <a:latin typeface="Menlo" panose="020B0609030804020204" pitchFamily="49" charset="0"/>
              </a:rPr>
            </a:br>
            <a:endParaRPr lang="en-US" sz="1150" dirty="0">
              <a:solidFill>
                <a:srgbClr val="000000"/>
              </a:solidFill>
              <a:latin typeface="Menlo" panose="020B0609030804020204" pitchFamily="49" charset="0"/>
            </a:endParaRPr>
          </a:p>
          <a:p>
            <a:pPr marL="0" indent="0" defTabSz="914400">
              <a:spcBef>
                <a:spcPts val="0"/>
              </a:spcBef>
              <a:buFont typeface="Wingdings" charset="2"/>
              <a:buNone/>
            </a:pPr>
            <a:r>
              <a:rPr lang="en-US" sz="1150" dirty="0">
                <a:solidFill>
                  <a:srgbClr val="000000"/>
                </a:solidFill>
                <a:latin typeface="Menlo"/>
                <a:cs typeface="Calibri"/>
              </a:rPr>
              <a:t>        </a:t>
            </a:r>
            <a:r>
              <a:rPr lang="en-US" sz="1150" b="1" dirty="0">
                <a:solidFill>
                  <a:srgbClr val="5620F4"/>
                </a:solidFill>
                <a:latin typeface="Menlo"/>
                <a:cs typeface="Calibri"/>
              </a:rPr>
              <a:t>#pragma castor invariant valid(</a:t>
            </a:r>
            <a:r>
              <a:rPr lang="en-US" sz="1150" b="1" dirty="0">
                <a:solidFill>
                  <a:srgbClr val="AAAB25"/>
                </a:solidFill>
                <a:latin typeface="Menlo"/>
                <a:cs typeface="Calibri"/>
              </a:rPr>
              <a:t>this</a:t>
            </a:r>
            <a:r>
              <a:rPr lang="en-US" sz="1150" b="1" dirty="0">
                <a:solidFill>
                  <a:srgbClr val="5620F4"/>
                </a:solidFill>
                <a:latin typeface="Menlo"/>
                <a:cs typeface="Calibri"/>
              </a:rPr>
              <a:t>)</a:t>
            </a:r>
            <a:r>
              <a:rPr lang="en-US" sz="1150" dirty="0">
                <a:solidFill>
                  <a:srgbClr val="5620F4"/>
                </a:solidFill>
                <a:latin typeface="Menlo"/>
                <a:cs typeface="Calibri"/>
              </a:rPr>
              <a:t> </a:t>
            </a:r>
          </a:p>
          <a:p>
            <a:pPr marL="0" indent="0" defTabSz="914400">
              <a:spcBef>
                <a:spcPts val="0"/>
              </a:spcBef>
              <a:buNone/>
            </a:pPr>
            <a:r>
              <a:rPr lang="en-US" sz="1150" dirty="0">
                <a:solidFill>
                  <a:srgbClr val="000000"/>
                </a:solidFill>
                <a:latin typeface="Menlo"/>
                <a:cs typeface="Calibri"/>
              </a:rPr>
              <a:t>        </a:t>
            </a:r>
            <a:r>
              <a:rPr lang="en-US" sz="1150" b="1" dirty="0">
                <a:solidFill>
                  <a:srgbClr val="5620F4"/>
                </a:solidFill>
                <a:latin typeface="Menlo"/>
                <a:cs typeface="Calibri"/>
              </a:rPr>
              <a:t>#pragma castor invariant </a:t>
            </a:r>
            <a:r>
              <a:rPr lang="en-US" sz="1150" b="1" dirty="0">
                <a:solidFill>
                  <a:srgbClr val="AAAB25"/>
                </a:solidFill>
                <a:latin typeface="Menlo"/>
                <a:cs typeface="Calibri"/>
              </a:rPr>
              <a:t>this</a:t>
            </a:r>
            <a:r>
              <a:rPr lang="en-US" sz="1150" b="1" dirty="0">
                <a:solidFill>
                  <a:srgbClr val="5620F4"/>
                </a:solidFill>
                <a:latin typeface="Menlo"/>
                <a:cs typeface="Calibri"/>
              </a:rPr>
              <a:t>-&gt;side1_length == \</a:t>
            </a:r>
          </a:p>
          <a:p>
            <a:pPr marL="0" indent="0" defTabSz="914400">
              <a:spcBef>
                <a:spcPts val="0"/>
              </a:spcBef>
              <a:buNone/>
            </a:pPr>
            <a:r>
              <a:rPr lang="en-US" sz="1150" b="1" dirty="0">
                <a:solidFill>
                  <a:srgbClr val="5620F4"/>
                </a:solidFill>
                <a:latin typeface="Menlo"/>
                <a:cs typeface="Calibri"/>
              </a:rPr>
              <a:t>                                 </a:t>
            </a:r>
            <a:r>
              <a:rPr lang="en-US" sz="1150" b="1" dirty="0">
                <a:solidFill>
                  <a:srgbClr val="AAAB25"/>
                </a:solidFill>
                <a:latin typeface="Menlo"/>
                <a:cs typeface="Calibri"/>
              </a:rPr>
              <a:t>this</a:t>
            </a:r>
            <a:r>
              <a:rPr lang="en-US" sz="1150" b="1" dirty="0">
                <a:solidFill>
                  <a:srgbClr val="5620F4"/>
                </a:solidFill>
                <a:latin typeface="Menlo"/>
                <a:cs typeface="Calibri"/>
              </a:rPr>
              <a:t>-&gt;side2_length</a:t>
            </a:r>
            <a:endParaRPr lang="en-US" sz="1150" dirty="0">
              <a:solidFill>
                <a:srgbClr val="5620F4"/>
              </a:solidFill>
              <a:latin typeface="Menlo"/>
              <a:cs typeface="Calibri"/>
            </a:endParaRPr>
          </a:p>
          <a:p>
            <a:pPr marL="0" indent="0" defTabSz="914400">
              <a:spcBef>
                <a:spcPts val="0"/>
              </a:spcBef>
              <a:buFont typeface="Wingdings" charset="2"/>
              <a:buNone/>
            </a:pPr>
            <a:r>
              <a:rPr lang="en-US" sz="1150" dirty="0">
                <a:solidFill>
                  <a:srgbClr val="000000"/>
                </a:solidFill>
                <a:latin typeface="Menlo"/>
                <a:cs typeface="Calibri"/>
              </a:rPr>
              <a:t>        </a:t>
            </a:r>
            <a:r>
              <a:rPr lang="en-US" sz="1150" b="1" dirty="0">
                <a:solidFill>
                  <a:srgbClr val="5620F4"/>
                </a:solidFill>
                <a:latin typeface="Menlo"/>
                <a:cs typeface="Calibri"/>
              </a:rPr>
              <a:t>#pragma castor ensures exists uint32: x. x * </a:t>
            </a:r>
            <a:r>
              <a:rPr lang="en-US" sz="1150" b="1" dirty="0">
                <a:solidFill>
                  <a:srgbClr val="DB27DA"/>
                </a:solidFill>
                <a:latin typeface="Menlo"/>
                <a:cs typeface="Calibri"/>
              </a:rPr>
              <a:t>4</a:t>
            </a:r>
            <a:r>
              <a:rPr lang="en-US" sz="1150" b="1" dirty="0">
                <a:solidFill>
                  <a:srgbClr val="5620F4"/>
                </a:solidFill>
                <a:latin typeface="Menlo"/>
                <a:cs typeface="Calibri"/>
              </a:rPr>
              <a:t> == result</a:t>
            </a:r>
            <a:endParaRPr lang="en-US" sz="1150" dirty="0">
              <a:solidFill>
                <a:srgbClr val="5620F4"/>
              </a:solidFill>
              <a:latin typeface="Menlo"/>
              <a:cs typeface="Calibri"/>
            </a:endParaRPr>
          </a:p>
          <a:p>
            <a:pPr marL="0" indent="0" defTabSz="914400">
              <a:spcBef>
                <a:spcPts val="0"/>
              </a:spcBef>
              <a:buFont typeface="Wingdings" charset="2"/>
              <a:buNone/>
            </a:pPr>
            <a:r>
              <a:rPr lang="en-US" sz="1150" dirty="0">
                <a:solidFill>
                  <a:srgbClr val="000000"/>
                </a:solidFill>
                <a:latin typeface="Menlo"/>
                <a:cs typeface="Calibri"/>
              </a:rPr>
              <a:t>        </a:t>
            </a:r>
            <a:r>
              <a:rPr lang="en-US" sz="1150" b="1" dirty="0">
                <a:solidFill>
                  <a:srgbClr val="5620F4"/>
                </a:solidFill>
                <a:latin typeface="Menlo"/>
                <a:cs typeface="Calibri"/>
              </a:rPr>
              <a:t>#pragma castor </a:t>
            </a:r>
            <a:r>
              <a:rPr lang="en-US" sz="1150" b="1" dirty="0" err="1">
                <a:solidFill>
                  <a:srgbClr val="5620F4"/>
                </a:solidFill>
                <a:latin typeface="Menlo"/>
                <a:cs typeface="Calibri"/>
              </a:rPr>
              <a:t>no_write</a:t>
            </a:r>
            <a:endParaRPr lang="en-US" sz="1150" dirty="0">
              <a:solidFill>
                <a:srgbClr val="5620F4"/>
              </a:solidFill>
              <a:latin typeface="Menlo"/>
              <a:cs typeface="Calibri"/>
            </a:endParaRPr>
          </a:p>
          <a:p>
            <a:pPr marL="0" indent="0" defTabSz="914400">
              <a:spcBef>
                <a:spcPts val="0"/>
              </a:spcBef>
              <a:buFont typeface="Wingdings" charset="2"/>
              <a:buNone/>
            </a:pPr>
            <a:r>
              <a:rPr lang="en-US" sz="1150" dirty="0">
                <a:solidFill>
                  <a:srgbClr val="000000"/>
                </a:solidFill>
                <a:latin typeface="Menlo"/>
                <a:cs typeface="Calibri"/>
              </a:rPr>
              <a:t>        </a:t>
            </a:r>
            <a:r>
              <a:rPr lang="en-US" sz="1150" b="1" dirty="0">
                <a:solidFill>
                  <a:srgbClr val="39C026"/>
                </a:solidFill>
                <a:latin typeface="Menlo"/>
                <a:cs typeface="Calibri"/>
              </a:rPr>
              <a:t>unsigned</a:t>
            </a:r>
            <a:r>
              <a:rPr lang="en-US" sz="1150" dirty="0">
                <a:solidFill>
                  <a:srgbClr val="000000"/>
                </a:solidFill>
                <a:latin typeface="Menlo"/>
                <a:cs typeface="Calibri"/>
              </a:rPr>
              <a:t> </a:t>
            </a:r>
            <a:r>
              <a:rPr lang="en-US" sz="1150" b="1" dirty="0">
                <a:solidFill>
                  <a:srgbClr val="39C026"/>
                </a:solidFill>
                <a:latin typeface="Menlo"/>
                <a:cs typeface="Calibri"/>
              </a:rPr>
              <a:t>long</a:t>
            </a:r>
            <a:r>
              <a:rPr lang="en-US" sz="1150" dirty="0">
                <a:solidFill>
                  <a:srgbClr val="000000"/>
                </a:solidFill>
                <a:latin typeface="Menlo"/>
                <a:cs typeface="Calibri"/>
              </a:rPr>
              <a:t> </a:t>
            </a:r>
            <a:r>
              <a:rPr lang="en-US" sz="1150" dirty="0" err="1">
                <a:solidFill>
                  <a:srgbClr val="000000"/>
                </a:solidFill>
                <a:latin typeface="Menlo"/>
                <a:cs typeface="Calibri"/>
              </a:rPr>
              <a:t>get_perimeter</a:t>
            </a:r>
            <a:r>
              <a:rPr lang="en-US" sz="1150" dirty="0">
                <a:solidFill>
                  <a:srgbClr val="000000"/>
                </a:solidFill>
                <a:latin typeface="Menlo"/>
                <a:cs typeface="Calibri"/>
              </a:rPr>
              <a:t>() {</a:t>
            </a:r>
          </a:p>
          <a:p>
            <a:pPr marL="0" indent="0" defTabSz="914400">
              <a:spcBef>
                <a:spcPts val="0"/>
              </a:spcBef>
              <a:buFont typeface="Wingdings" charset="2"/>
              <a:buNone/>
            </a:pPr>
            <a:r>
              <a:rPr lang="en-US" sz="1150" dirty="0">
                <a:solidFill>
                  <a:srgbClr val="000000"/>
                </a:solidFill>
                <a:latin typeface="Menlo"/>
                <a:cs typeface="Calibri"/>
              </a:rPr>
              <a:t>                </a:t>
            </a:r>
            <a:r>
              <a:rPr lang="en-US" sz="1150" b="1" dirty="0">
                <a:solidFill>
                  <a:srgbClr val="AAAB25"/>
                </a:solidFill>
                <a:latin typeface="Menlo"/>
                <a:cs typeface="Calibri"/>
              </a:rPr>
              <a:t>return</a:t>
            </a:r>
            <a:r>
              <a:rPr lang="en-US" sz="1150" dirty="0">
                <a:solidFill>
                  <a:srgbClr val="000000"/>
                </a:solidFill>
                <a:latin typeface="Menlo"/>
                <a:cs typeface="Calibri"/>
              </a:rPr>
              <a:t> </a:t>
            </a:r>
            <a:r>
              <a:rPr lang="en-US" sz="1150" b="1" dirty="0">
                <a:solidFill>
                  <a:srgbClr val="AAAB25"/>
                </a:solidFill>
                <a:latin typeface="Menlo"/>
                <a:cs typeface="Calibri"/>
              </a:rPr>
              <a:t>this</a:t>
            </a:r>
            <a:r>
              <a:rPr lang="en-US" sz="1150" dirty="0">
                <a:solidFill>
                  <a:srgbClr val="000000"/>
                </a:solidFill>
                <a:latin typeface="Menlo"/>
                <a:cs typeface="Calibri"/>
              </a:rPr>
              <a:t>-&gt;Rectangle::</a:t>
            </a:r>
            <a:r>
              <a:rPr lang="en-US" sz="1150" dirty="0" err="1">
                <a:solidFill>
                  <a:srgbClr val="000000"/>
                </a:solidFill>
                <a:latin typeface="Menlo"/>
                <a:cs typeface="Calibri"/>
              </a:rPr>
              <a:t>get_perimeter</a:t>
            </a:r>
            <a:r>
              <a:rPr lang="en-US" sz="1150" dirty="0">
                <a:solidFill>
                  <a:srgbClr val="000000"/>
                </a:solidFill>
                <a:latin typeface="Menlo"/>
                <a:cs typeface="Calibri"/>
              </a:rPr>
              <a:t>();</a:t>
            </a:r>
          </a:p>
          <a:p>
            <a:pPr marL="0" indent="0" defTabSz="914400">
              <a:spcBef>
                <a:spcPts val="0"/>
              </a:spcBef>
              <a:buFont typeface="Wingdings" charset="2"/>
              <a:buNone/>
            </a:pPr>
            <a:r>
              <a:rPr lang="en-US" sz="1150" dirty="0">
                <a:solidFill>
                  <a:srgbClr val="000000"/>
                </a:solidFill>
                <a:latin typeface="Menlo"/>
                <a:cs typeface="Calibri"/>
              </a:rPr>
              <a:t>        }</a:t>
            </a:r>
          </a:p>
          <a:p>
            <a:pPr marL="0" indent="0" defTabSz="914400">
              <a:spcBef>
                <a:spcPts val="0"/>
              </a:spcBef>
              <a:buFont typeface="Wingdings" charset="2"/>
              <a:buNone/>
            </a:pPr>
            <a:r>
              <a:rPr lang="en-US" sz="1150" dirty="0">
                <a:solidFill>
                  <a:srgbClr val="000000"/>
                </a:solidFill>
                <a:latin typeface="Menlo"/>
                <a:cs typeface="Calibri"/>
              </a:rPr>
              <a:t>};</a:t>
            </a:r>
          </a:p>
        </p:txBody>
      </p:sp>
    </p:spTree>
    <p:extLst>
      <p:ext uri="{BB962C8B-B14F-4D97-AF65-F5344CB8AC3E}">
        <p14:creationId xmlns:p14="http://schemas.microsoft.com/office/powerpoint/2010/main" val="2167670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E6869-35E3-93AB-8103-A13D3FB09A11}"/>
            </a:ext>
          </a:extLst>
        </p:cNvPr>
        <p:cNvGrpSpPr/>
        <p:nvPr/>
      </p:nvGrpSpPr>
      <p:grpSpPr>
        <a:xfrm>
          <a:off x="0" y="0"/>
          <a:ext cx="0" cy="0"/>
          <a:chOff x="0" y="0"/>
          <a:chExt cx="0" cy="0"/>
        </a:xfrm>
      </p:grpSpPr>
      <p:sp>
        <p:nvSpPr>
          <p:cNvPr id="5" name="Flowchart: Alternate Process 4">
            <a:extLst>
              <a:ext uri="{FF2B5EF4-FFF2-40B4-BE49-F238E27FC236}">
                <a16:creationId xmlns:a16="http://schemas.microsoft.com/office/drawing/2014/main" id="{F716E054-618E-0BC8-76FC-D13F30147982}"/>
              </a:ext>
            </a:extLst>
          </p:cNvPr>
          <p:cNvSpPr/>
          <p:nvPr/>
        </p:nvSpPr>
        <p:spPr bwMode="auto">
          <a:xfrm>
            <a:off x="609598" y="4053405"/>
            <a:ext cx="8403773" cy="1581476"/>
          </a:xfrm>
          <a:prstGeom prst="flowChartAlternateProcess">
            <a:avLst/>
          </a:prstGeom>
          <a:gradFill flip="none" rotWithShape="1">
            <a:gsLst>
              <a:gs pos="0">
                <a:schemeClr val="bg1">
                  <a:lumMod val="65000"/>
                  <a:tint val="66000"/>
                  <a:satMod val="160000"/>
                </a:schemeClr>
              </a:gs>
              <a:gs pos="50000">
                <a:schemeClr val="bg1">
                  <a:lumMod val="65000"/>
                  <a:tint val="44500"/>
                  <a:satMod val="160000"/>
                </a:schemeClr>
              </a:gs>
              <a:gs pos="100000">
                <a:schemeClr val="bg1">
                  <a:lumMod val="65000"/>
                  <a:tint val="23500"/>
                  <a:satMod val="160000"/>
                </a:schemeClr>
              </a:gs>
            </a:gsLst>
            <a:lin ang="16200000" scaled="1"/>
            <a:tileRect/>
          </a:gradFill>
          <a:ln>
            <a:solidFill>
              <a:schemeClr val="accent1">
                <a:lumMod val="75000"/>
              </a:schemeClr>
            </a:solidFill>
            <a:headEnd/>
            <a:tailEnd/>
          </a:ln>
        </p:spPr>
        <p:style>
          <a:lnRef idx="1">
            <a:schemeClr val="accent1"/>
          </a:lnRef>
          <a:fillRef idx="2">
            <a:schemeClr val="accent1"/>
          </a:fillRef>
          <a:effectRef idx="1">
            <a:schemeClr val="accent1"/>
          </a:effectRef>
          <a:fontRef idx="minor">
            <a:schemeClr val="dk1"/>
          </a:fontRef>
        </p:style>
        <p:txBody>
          <a:bodyPr rtlCol="0" anchor="b">
            <a:prstTxWarp prst="textNoShape">
              <a:avLst/>
            </a:prstTxWarp>
          </a:bodyPr>
          <a:lstStyle/>
          <a:p>
            <a:pPr algn="ctr">
              <a:spcBef>
                <a:spcPct val="0"/>
              </a:spcBef>
            </a:pPr>
            <a:endParaRPr lang="en-US" sz="1600">
              <a:solidFill>
                <a:srgbClr val="000000"/>
              </a:solidFill>
            </a:endParaRPr>
          </a:p>
        </p:txBody>
      </p:sp>
      <p:sp>
        <p:nvSpPr>
          <p:cNvPr id="2" name="Content Placeholder 1">
            <a:extLst>
              <a:ext uri="{FF2B5EF4-FFF2-40B4-BE49-F238E27FC236}">
                <a16:creationId xmlns:a16="http://schemas.microsoft.com/office/drawing/2014/main" id="{816CFA87-36BE-D112-BD31-74771FF8F533}"/>
              </a:ext>
            </a:extLst>
          </p:cNvPr>
          <p:cNvSpPr>
            <a:spLocks noGrp="1"/>
          </p:cNvSpPr>
          <p:nvPr>
            <p:ph idx="1"/>
          </p:nvPr>
        </p:nvSpPr>
        <p:spPr>
          <a:xfrm>
            <a:off x="609600" y="1406360"/>
            <a:ext cx="11290300" cy="4906889"/>
          </a:xfrm>
        </p:spPr>
        <p:txBody>
          <a:bodyPr vert="horz" lIns="0" tIns="0" rIns="0" bIns="0" rtlCol="0" anchor="t">
            <a:noAutofit/>
          </a:bodyPr>
          <a:lstStyle/>
          <a:p>
            <a:pPr marL="0" indent="0">
              <a:spcBef>
                <a:spcPts val="0"/>
              </a:spcBef>
              <a:buNone/>
            </a:pPr>
            <a:r>
              <a:rPr lang="en-US" sz="1700" b="1" dirty="0">
                <a:solidFill>
                  <a:srgbClr val="39C026"/>
                </a:solidFill>
                <a:effectLst/>
                <a:latin typeface="Menlo"/>
                <a:cs typeface="Calibri"/>
              </a:rPr>
              <a:t>class</a:t>
            </a:r>
            <a:r>
              <a:rPr lang="en-US" sz="1700" dirty="0">
                <a:solidFill>
                  <a:srgbClr val="000000"/>
                </a:solidFill>
                <a:effectLst/>
                <a:latin typeface="Menlo"/>
                <a:cs typeface="Calibri"/>
              </a:rPr>
              <a:t> Rectangle {</a:t>
            </a:r>
          </a:p>
          <a:p>
            <a:pPr marL="0" indent="0">
              <a:spcBef>
                <a:spcPts val="0"/>
              </a:spcBef>
              <a:buNone/>
            </a:pPr>
            <a:r>
              <a:rPr lang="en-US" sz="1700" dirty="0">
                <a:solidFill>
                  <a:srgbClr val="000000"/>
                </a:solidFill>
                <a:effectLst/>
                <a:latin typeface="Menlo"/>
                <a:cs typeface="Calibri"/>
              </a:rPr>
              <a:t>        </a:t>
            </a:r>
            <a:r>
              <a:rPr lang="en-US" sz="1700" b="1" dirty="0">
                <a:solidFill>
                  <a:srgbClr val="5620F4"/>
                </a:solidFill>
                <a:effectLst/>
                <a:latin typeface="Menlo"/>
                <a:cs typeface="Calibri"/>
              </a:rPr>
              <a:t>#pragma castor invariant valid(</a:t>
            </a:r>
            <a:r>
              <a:rPr lang="en-US" sz="1700" b="1" dirty="0">
                <a:solidFill>
                  <a:srgbClr val="AAAB25"/>
                </a:solidFill>
                <a:effectLst/>
                <a:latin typeface="Menlo"/>
                <a:cs typeface="Calibri"/>
              </a:rPr>
              <a:t>this</a:t>
            </a:r>
            <a:r>
              <a:rPr lang="en-US" sz="1700" b="1" dirty="0">
                <a:solidFill>
                  <a:srgbClr val="5620F4"/>
                </a:solidFill>
                <a:effectLst/>
                <a:latin typeface="Menlo"/>
                <a:cs typeface="Calibri"/>
              </a:rPr>
              <a:t>)</a:t>
            </a:r>
            <a:r>
              <a:rPr lang="en-US" sz="1700" dirty="0">
                <a:solidFill>
                  <a:srgbClr val="5620F4"/>
                </a:solidFill>
                <a:effectLst/>
                <a:latin typeface="Menlo"/>
                <a:cs typeface="Calibri"/>
              </a:rPr>
              <a:t> </a:t>
            </a:r>
          </a:p>
          <a:p>
            <a:pPr marL="0" indent="0">
              <a:spcBef>
                <a:spcPts val="0"/>
              </a:spcBef>
              <a:buNone/>
            </a:pPr>
            <a:r>
              <a:rPr lang="en-US" sz="1700" dirty="0">
                <a:solidFill>
                  <a:srgbClr val="000000"/>
                </a:solidFill>
                <a:effectLst/>
                <a:latin typeface="Menlo"/>
                <a:cs typeface="Calibri"/>
              </a:rPr>
              <a:t>        </a:t>
            </a:r>
            <a:r>
              <a:rPr lang="en-US" sz="1700" b="1" dirty="0">
                <a:solidFill>
                  <a:srgbClr val="5620F4"/>
                </a:solidFill>
                <a:effectLst/>
                <a:latin typeface="Menlo"/>
                <a:cs typeface="Calibri"/>
              </a:rPr>
              <a:t>#pragma castor ensures result == </a:t>
            </a:r>
            <a:r>
              <a:rPr lang="en-US" sz="1700" b="1" dirty="0">
                <a:solidFill>
                  <a:srgbClr val="DB27DA"/>
                </a:solidFill>
                <a:effectLst/>
                <a:latin typeface="Menlo"/>
                <a:cs typeface="Calibri"/>
              </a:rPr>
              <a:t>2</a:t>
            </a:r>
            <a:r>
              <a:rPr lang="en-US" sz="1700" b="1" dirty="0">
                <a:solidFill>
                  <a:srgbClr val="5620F4"/>
                </a:solidFill>
                <a:effectLst/>
                <a:latin typeface="Menlo"/>
                <a:cs typeface="Calibri"/>
              </a:rPr>
              <a:t> * </a:t>
            </a:r>
            <a:r>
              <a:rPr lang="en-US" sz="1700" b="1" dirty="0">
                <a:solidFill>
                  <a:srgbClr val="AAAB25"/>
                </a:solidFill>
                <a:effectLst/>
                <a:latin typeface="Menlo"/>
                <a:cs typeface="Calibri"/>
              </a:rPr>
              <a:t>this</a:t>
            </a:r>
            <a:r>
              <a:rPr lang="en-US" sz="1700" b="1" dirty="0">
                <a:solidFill>
                  <a:srgbClr val="5620F4"/>
                </a:solidFill>
                <a:effectLst/>
                <a:latin typeface="Menlo"/>
                <a:cs typeface="Calibri"/>
              </a:rPr>
              <a:t>-&gt;side1_length + \</a:t>
            </a:r>
          </a:p>
          <a:p>
            <a:pPr marL="0" indent="0">
              <a:spcBef>
                <a:spcPts val="0"/>
              </a:spcBef>
              <a:buNone/>
            </a:pPr>
            <a:r>
              <a:rPr lang="en-US" sz="1700" b="1" dirty="0">
                <a:solidFill>
                  <a:srgbClr val="5620F4"/>
                </a:solidFill>
                <a:latin typeface="Menlo"/>
                <a:cs typeface="Calibri"/>
              </a:rPr>
              <a:t>                                         </a:t>
            </a:r>
            <a:r>
              <a:rPr lang="en-US" sz="1700" b="1" dirty="0">
                <a:solidFill>
                  <a:srgbClr val="DB27DA"/>
                </a:solidFill>
                <a:effectLst/>
                <a:latin typeface="Menlo"/>
                <a:cs typeface="Calibri"/>
              </a:rPr>
              <a:t>2</a:t>
            </a:r>
            <a:r>
              <a:rPr lang="en-US" sz="1700" b="1" dirty="0">
                <a:solidFill>
                  <a:srgbClr val="5620F4"/>
                </a:solidFill>
                <a:effectLst/>
                <a:latin typeface="Menlo"/>
                <a:cs typeface="Calibri"/>
              </a:rPr>
              <a:t> * </a:t>
            </a:r>
            <a:r>
              <a:rPr lang="en-US" sz="1700" b="1" dirty="0">
                <a:solidFill>
                  <a:srgbClr val="AAAB25"/>
                </a:solidFill>
                <a:effectLst/>
                <a:latin typeface="Menlo"/>
                <a:cs typeface="Calibri"/>
              </a:rPr>
              <a:t>this</a:t>
            </a:r>
            <a:r>
              <a:rPr lang="en-US" sz="1700" b="1" dirty="0">
                <a:solidFill>
                  <a:srgbClr val="5620F4"/>
                </a:solidFill>
                <a:effectLst/>
                <a:latin typeface="Menlo"/>
                <a:cs typeface="Calibri"/>
              </a:rPr>
              <a:t>-&gt;side2_length</a:t>
            </a:r>
            <a:endParaRPr lang="en-US" sz="1700" dirty="0">
              <a:solidFill>
                <a:srgbClr val="5620F4"/>
              </a:solidFill>
              <a:effectLst/>
              <a:latin typeface="Menlo"/>
              <a:cs typeface="Calibri"/>
            </a:endParaRPr>
          </a:p>
          <a:p>
            <a:pPr marL="0" indent="0">
              <a:spcBef>
                <a:spcPts val="0"/>
              </a:spcBef>
              <a:buNone/>
            </a:pPr>
            <a:r>
              <a:rPr lang="en-US" sz="1700" dirty="0">
                <a:solidFill>
                  <a:srgbClr val="000000"/>
                </a:solidFill>
                <a:effectLst/>
                <a:latin typeface="Menlo"/>
                <a:cs typeface="Calibri"/>
              </a:rPr>
              <a:t>        </a:t>
            </a:r>
            <a:r>
              <a:rPr lang="en-US" sz="1700" b="1" dirty="0">
                <a:solidFill>
                  <a:srgbClr val="5620F4"/>
                </a:solidFill>
                <a:effectLst/>
                <a:latin typeface="Menlo"/>
                <a:cs typeface="Calibri"/>
              </a:rPr>
              <a:t>#pragma castor </a:t>
            </a:r>
            <a:r>
              <a:rPr lang="en-US" sz="1700" b="1" dirty="0" err="1">
                <a:solidFill>
                  <a:srgbClr val="5620F4"/>
                </a:solidFill>
                <a:effectLst/>
                <a:latin typeface="Menlo"/>
                <a:cs typeface="Calibri"/>
              </a:rPr>
              <a:t>no_write</a:t>
            </a:r>
            <a:endParaRPr lang="en-US" sz="1700" dirty="0">
              <a:solidFill>
                <a:srgbClr val="5620F4"/>
              </a:solidFill>
              <a:effectLst/>
              <a:latin typeface="Menlo"/>
              <a:cs typeface="Calibri"/>
            </a:endParaRPr>
          </a:p>
          <a:p>
            <a:pPr marL="0" indent="0">
              <a:spcBef>
                <a:spcPts val="0"/>
              </a:spcBef>
              <a:buNone/>
            </a:pPr>
            <a:r>
              <a:rPr lang="en-US" sz="1700" dirty="0">
                <a:solidFill>
                  <a:srgbClr val="000000"/>
                </a:solidFill>
                <a:effectLst/>
                <a:latin typeface="Menlo"/>
                <a:cs typeface="Calibri"/>
              </a:rPr>
              <a:t>        </a:t>
            </a:r>
            <a:r>
              <a:rPr lang="en-US" sz="1700" b="1" dirty="0">
                <a:solidFill>
                  <a:srgbClr val="39C026"/>
                </a:solidFill>
                <a:effectLst/>
                <a:latin typeface="Menlo"/>
                <a:cs typeface="Calibri"/>
              </a:rPr>
              <a:t>unsigned</a:t>
            </a:r>
            <a:r>
              <a:rPr lang="en-US" sz="1700" dirty="0">
                <a:solidFill>
                  <a:srgbClr val="000000"/>
                </a:solidFill>
                <a:effectLst/>
                <a:latin typeface="Menlo"/>
                <a:cs typeface="Calibri"/>
              </a:rPr>
              <a:t> </a:t>
            </a:r>
            <a:r>
              <a:rPr lang="en-US" sz="1700" b="1" dirty="0">
                <a:solidFill>
                  <a:srgbClr val="39C026"/>
                </a:solidFill>
                <a:effectLst/>
                <a:latin typeface="Menlo"/>
                <a:cs typeface="Calibri"/>
              </a:rPr>
              <a:t>long</a:t>
            </a:r>
            <a:r>
              <a:rPr lang="en-US" sz="1700" dirty="0">
                <a:solidFill>
                  <a:srgbClr val="000000"/>
                </a:solidFill>
                <a:effectLst/>
                <a:latin typeface="Menlo"/>
                <a:cs typeface="Calibri"/>
              </a:rPr>
              <a:t> </a:t>
            </a:r>
            <a:r>
              <a:rPr lang="en-US" sz="1700" dirty="0" err="1">
                <a:solidFill>
                  <a:srgbClr val="000000"/>
                </a:solidFill>
                <a:effectLst/>
                <a:latin typeface="Menlo"/>
                <a:cs typeface="Calibri"/>
              </a:rPr>
              <a:t>get_perimeter</a:t>
            </a:r>
            <a:r>
              <a:rPr lang="en-US" sz="1700" dirty="0">
                <a:solidFill>
                  <a:srgbClr val="000000"/>
                </a:solidFill>
                <a:effectLst/>
                <a:latin typeface="Menlo"/>
                <a:cs typeface="Calibri"/>
              </a:rPr>
              <a:t>() {</a:t>
            </a:r>
          </a:p>
          <a:p>
            <a:pPr marL="0" indent="0">
              <a:spcBef>
                <a:spcPts val="0"/>
              </a:spcBef>
              <a:buNone/>
            </a:pPr>
            <a:r>
              <a:rPr lang="en-US" sz="1700" dirty="0">
                <a:solidFill>
                  <a:srgbClr val="000000"/>
                </a:solidFill>
                <a:effectLst/>
                <a:latin typeface="Menlo"/>
                <a:cs typeface="Calibri"/>
              </a:rPr>
              <a:t>                </a:t>
            </a:r>
            <a:r>
              <a:rPr lang="en-US" sz="1700" b="1" dirty="0">
                <a:solidFill>
                  <a:srgbClr val="AAAB25"/>
                </a:solidFill>
                <a:effectLst/>
                <a:latin typeface="Menlo"/>
                <a:cs typeface="Calibri"/>
              </a:rPr>
              <a:t>return</a:t>
            </a:r>
            <a:r>
              <a:rPr lang="en-US" sz="1700" dirty="0">
                <a:solidFill>
                  <a:srgbClr val="000000"/>
                </a:solidFill>
                <a:effectLst/>
                <a:latin typeface="Menlo"/>
                <a:cs typeface="Calibri"/>
              </a:rPr>
              <a:t> </a:t>
            </a:r>
            <a:r>
              <a:rPr lang="en-US" sz="1700" b="1" dirty="0">
                <a:solidFill>
                  <a:srgbClr val="DB27DA"/>
                </a:solidFill>
                <a:latin typeface="Menlo"/>
                <a:cs typeface="Calibri"/>
              </a:rPr>
              <a:t>2</a:t>
            </a:r>
            <a:r>
              <a:rPr lang="en-US" sz="1700" dirty="0">
                <a:solidFill>
                  <a:srgbClr val="000000"/>
                </a:solidFill>
                <a:effectLst/>
                <a:latin typeface="Menlo"/>
                <a:cs typeface="Calibri"/>
              </a:rPr>
              <a:t> * side1_length + </a:t>
            </a:r>
            <a:r>
              <a:rPr lang="en-US" sz="1700" b="1" dirty="0">
                <a:solidFill>
                  <a:srgbClr val="DB27DA"/>
                </a:solidFill>
                <a:latin typeface="Menlo"/>
                <a:cs typeface="Calibri"/>
              </a:rPr>
              <a:t>2</a:t>
            </a:r>
            <a:r>
              <a:rPr lang="en-US" sz="1700" dirty="0">
                <a:solidFill>
                  <a:srgbClr val="000000"/>
                </a:solidFill>
                <a:effectLst/>
                <a:latin typeface="Menlo"/>
                <a:cs typeface="Calibri"/>
              </a:rPr>
              <a:t> * side2_length;</a:t>
            </a:r>
          </a:p>
          <a:p>
            <a:pPr marL="0" indent="0">
              <a:spcBef>
                <a:spcPts val="0"/>
              </a:spcBef>
              <a:buNone/>
            </a:pPr>
            <a:r>
              <a:rPr lang="en-US" sz="1700" dirty="0">
                <a:solidFill>
                  <a:srgbClr val="000000"/>
                </a:solidFill>
                <a:effectLst/>
                <a:latin typeface="Menlo"/>
                <a:cs typeface="Calibri"/>
              </a:rPr>
              <a:t>        }</a:t>
            </a:r>
          </a:p>
          <a:p>
            <a:pPr marL="0" indent="0">
              <a:spcBef>
                <a:spcPts val="0"/>
              </a:spcBef>
              <a:buNone/>
            </a:pPr>
            <a:r>
              <a:rPr lang="en-US" sz="1700" dirty="0">
                <a:solidFill>
                  <a:srgbClr val="000000"/>
                </a:solidFill>
                <a:effectLst/>
                <a:latin typeface="Menlo"/>
                <a:cs typeface="Calibri"/>
              </a:rPr>
              <a:t>};</a:t>
            </a:r>
            <a:endParaRPr lang="en-US" sz="1700" dirty="0">
              <a:solidFill>
                <a:srgbClr val="000000"/>
              </a:solidFill>
              <a:effectLst/>
              <a:latin typeface="Menlo" panose="020B0609030804020204" pitchFamily="49" charset="0"/>
            </a:endParaRPr>
          </a:p>
        </p:txBody>
      </p:sp>
      <p:sp>
        <p:nvSpPr>
          <p:cNvPr id="3" name="Title 2">
            <a:extLst>
              <a:ext uri="{FF2B5EF4-FFF2-40B4-BE49-F238E27FC236}">
                <a16:creationId xmlns:a16="http://schemas.microsoft.com/office/drawing/2014/main" id="{A4FE9BF2-B37E-A77C-FFF6-7F114FEFE8B7}"/>
              </a:ext>
            </a:extLst>
          </p:cNvPr>
          <p:cNvSpPr>
            <a:spLocks noGrp="1"/>
          </p:cNvSpPr>
          <p:nvPr>
            <p:ph type="title"/>
          </p:nvPr>
        </p:nvSpPr>
        <p:spPr/>
        <p:txBody>
          <a:bodyPr/>
          <a:lstStyle/>
          <a:p>
            <a:r>
              <a:rPr lang="en-US"/>
              <a:t>Example: Classes and inheritance</a:t>
            </a:r>
          </a:p>
        </p:txBody>
      </p:sp>
      <p:sp>
        <p:nvSpPr>
          <p:cNvPr id="4" name="TextBox 3">
            <a:extLst>
              <a:ext uri="{FF2B5EF4-FFF2-40B4-BE49-F238E27FC236}">
                <a16:creationId xmlns:a16="http://schemas.microsoft.com/office/drawing/2014/main" id="{BB8BD0C6-783C-C87A-0D97-689205DAD07E}"/>
              </a:ext>
            </a:extLst>
          </p:cNvPr>
          <p:cNvSpPr txBox="1"/>
          <p:nvPr/>
        </p:nvSpPr>
        <p:spPr>
          <a:xfrm>
            <a:off x="609600" y="4196443"/>
            <a:ext cx="856705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This "ensures" clause for Rectangle::</a:t>
            </a:r>
            <a:r>
              <a:rPr lang="en-US" err="1">
                <a:ea typeface="Calibri"/>
                <a:cs typeface="Calibri"/>
              </a:rPr>
              <a:t>get_perimeter</a:t>
            </a:r>
            <a:r>
              <a:rPr lang="en-US">
                <a:ea typeface="Calibri"/>
                <a:cs typeface="Calibri"/>
              </a:rPr>
              <a:t> doesn't prove in this example. Why?</a:t>
            </a:r>
          </a:p>
          <a:p>
            <a:endParaRPr lang="en-US">
              <a:ea typeface="Calibri"/>
              <a:cs typeface="Calibri"/>
            </a:endParaRPr>
          </a:p>
        </p:txBody>
      </p:sp>
      <p:sp>
        <p:nvSpPr>
          <p:cNvPr id="7" name="Arrow: Bent 6">
            <a:extLst>
              <a:ext uri="{FF2B5EF4-FFF2-40B4-BE49-F238E27FC236}">
                <a16:creationId xmlns:a16="http://schemas.microsoft.com/office/drawing/2014/main" id="{8961E0B1-7654-1558-112E-405C43EAD4E5}"/>
              </a:ext>
            </a:extLst>
          </p:cNvPr>
          <p:cNvSpPr/>
          <p:nvPr/>
        </p:nvSpPr>
        <p:spPr bwMode="auto">
          <a:xfrm>
            <a:off x="1020481" y="1907450"/>
            <a:ext cx="552559" cy="2136866"/>
          </a:xfrm>
          <a:prstGeom prst="bentArrow">
            <a:avLst/>
          </a:prstGeom>
          <a:solidFill>
            <a:srgbClr val="FF0000"/>
          </a:solidFill>
          <a:ln>
            <a:solidFill>
              <a:schemeClr val="accent1">
                <a:lumMod val="75000"/>
              </a:schemeClr>
            </a:solidFill>
            <a:headEnd/>
            <a:tailEnd/>
          </a:ln>
        </p:spPr>
        <p:style>
          <a:lnRef idx="1">
            <a:schemeClr val="accent1"/>
          </a:lnRef>
          <a:fillRef idx="2">
            <a:schemeClr val="accent1"/>
          </a:fillRef>
          <a:effectRef idx="1">
            <a:schemeClr val="accent1"/>
          </a:effectRef>
          <a:fontRef idx="minor">
            <a:schemeClr val="dk1"/>
          </a:fontRef>
        </p:style>
        <p:txBody>
          <a:bodyPr rtlCol="0" anchor="b">
            <a:prstTxWarp prst="textNoShape">
              <a:avLst/>
            </a:prstTxWarp>
          </a:bodyPr>
          <a:lstStyle/>
          <a:p>
            <a:pPr algn="ctr">
              <a:spcBef>
                <a:spcPct val="0"/>
              </a:spcBef>
            </a:pPr>
            <a:endParaRPr lang="en-US" sz="1600">
              <a:solidFill>
                <a:srgbClr val="000000"/>
              </a:solidFill>
            </a:endParaRPr>
          </a:p>
        </p:txBody>
      </p:sp>
    </p:spTree>
    <p:extLst>
      <p:ext uri="{BB962C8B-B14F-4D97-AF65-F5344CB8AC3E}">
        <p14:creationId xmlns:p14="http://schemas.microsoft.com/office/powerpoint/2010/main" val="464826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E6869-35E3-93AB-8103-A13D3FB09A11}"/>
            </a:ext>
          </a:extLst>
        </p:cNvPr>
        <p:cNvGrpSpPr/>
        <p:nvPr/>
      </p:nvGrpSpPr>
      <p:grpSpPr>
        <a:xfrm>
          <a:off x="0" y="0"/>
          <a:ext cx="0" cy="0"/>
          <a:chOff x="0" y="0"/>
          <a:chExt cx="0" cy="0"/>
        </a:xfrm>
      </p:grpSpPr>
      <p:sp>
        <p:nvSpPr>
          <p:cNvPr id="5" name="Flowchart: Alternate Process 4">
            <a:extLst>
              <a:ext uri="{FF2B5EF4-FFF2-40B4-BE49-F238E27FC236}">
                <a16:creationId xmlns:a16="http://schemas.microsoft.com/office/drawing/2014/main" id="{F716E054-618E-0BC8-76FC-D13F30147982}"/>
              </a:ext>
            </a:extLst>
          </p:cNvPr>
          <p:cNvSpPr/>
          <p:nvPr/>
        </p:nvSpPr>
        <p:spPr bwMode="auto">
          <a:xfrm>
            <a:off x="609598" y="4053405"/>
            <a:ext cx="8403773" cy="1581476"/>
          </a:xfrm>
          <a:prstGeom prst="flowChartAlternateProcess">
            <a:avLst/>
          </a:prstGeom>
          <a:gradFill flip="none" rotWithShape="1">
            <a:gsLst>
              <a:gs pos="0">
                <a:schemeClr val="bg1">
                  <a:lumMod val="65000"/>
                  <a:tint val="66000"/>
                  <a:satMod val="160000"/>
                </a:schemeClr>
              </a:gs>
              <a:gs pos="50000">
                <a:schemeClr val="bg1">
                  <a:lumMod val="65000"/>
                  <a:tint val="44500"/>
                  <a:satMod val="160000"/>
                </a:schemeClr>
              </a:gs>
              <a:gs pos="100000">
                <a:schemeClr val="bg1">
                  <a:lumMod val="65000"/>
                  <a:tint val="23500"/>
                  <a:satMod val="160000"/>
                </a:schemeClr>
              </a:gs>
            </a:gsLst>
            <a:lin ang="16200000" scaled="1"/>
            <a:tileRect/>
          </a:gradFill>
          <a:ln>
            <a:solidFill>
              <a:schemeClr val="accent1">
                <a:lumMod val="75000"/>
              </a:schemeClr>
            </a:solidFill>
            <a:headEnd/>
            <a:tailEnd/>
          </a:ln>
        </p:spPr>
        <p:style>
          <a:lnRef idx="1">
            <a:schemeClr val="accent1"/>
          </a:lnRef>
          <a:fillRef idx="2">
            <a:schemeClr val="accent1"/>
          </a:fillRef>
          <a:effectRef idx="1">
            <a:schemeClr val="accent1"/>
          </a:effectRef>
          <a:fontRef idx="minor">
            <a:schemeClr val="dk1"/>
          </a:fontRef>
        </p:style>
        <p:txBody>
          <a:bodyPr rtlCol="0" anchor="b">
            <a:prstTxWarp prst="textNoShape">
              <a:avLst/>
            </a:prstTxWarp>
          </a:bodyPr>
          <a:lstStyle/>
          <a:p>
            <a:pPr algn="ctr">
              <a:spcBef>
                <a:spcPct val="0"/>
              </a:spcBef>
            </a:pPr>
            <a:endParaRPr lang="en-US" sz="1600">
              <a:solidFill>
                <a:srgbClr val="000000"/>
              </a:solidFill>
            </a:endParaRPr>
          </a:p>
        </p:txBody>
      </p:sp>
      <p:sp>
        <p:nvSpPr>
          <p:cNvPr id="2" name="Content Placeholder 1">
            <a:extLst>
              <a:ext uri="{FF2B5EF4-FFF2-40B4-BE49-F238E27FC236}">
                <a16:creationId xmlns:a16="http://schemas.microsoft.com/office/drawing/2014/main" id="{816CFA87-36BE-D112-BD31-74771FF8F533}"/>
              </a:ext>
            </a:extLst>
          </p:cNvPr>
          <p:cNvSpPr>
            <a:spLocks noGrp="1"/>
          </p:cNvSpPr>
          <p:nvPr>
            <p:ph idx="1"/>
          </p:nvPr>
        </p:nvSpPr>
        <p:spPr>
          <a:xfrm>
            <a:off x="609600" y="1406360"/>
            <a:ext cx="11290300" cy="4906889"/>
          </a:xfrm>
        </p:spPr>
        <p:txBody>
          <a:bodyPr vert="horz" lIns="0" tIns="0" rIns="0" bIns="0" rtlCol="0" anchor="t">
            <a:noAutofit/>
          </a:bodyPr>
          <a:lstStyle/>
          <a:p>
            <a:pPr marL="0" indent="0">
              <a:spcBef>
                <a:spcPts val="0"/>
              </a:spcBef>
              <a:buNone/>
            </a:pPr>
            <a:r>
              <a:rPr lang="en-US" sz="1700" b="1" dirty="0">
                <a:solidFill>
                  <a:srgbClr val="39C026"/>
                </a:solidFill>
                <a:effectLst/>
                <a:latin typeface="Menlo"/>
                <a:cs typeface="Calibri"/>
              </a:rPr>
              <a:t>class</a:t>
            </a:r>
            <a:r>
              <a:rPr lang="en-US" sz="1700" dirty="0">
                <a:solidFill>
                  <a:srgbClr val="000000"/>
                </a:solidFill>
                <a:effectLst/>
                <a:latin typeface="Menlo"/>
                <a:cs typeface="Calibri"/>
              </a:rPr>
              <a:t> Rectangle {</a:t>
            </a:r>
          </a:p>
          <a:p>
            <a:pPr marL="0" indent="0">
              <a:spcBef>
                <a:spcPts val="0"/>
              </a:spcBef>
              <a:buNone/>
            </a:pPr>
            <a:r>
              <a:rPr lang="en-US" sz="1700" dirty="0">
                <a:solidFill>
                  <a:srgbClr val="000000"/>
                </a:solidFill>
                <a:effectLst/>
                <a:latin typeface="Menlo"/>
                <a:cs typeface="Calibri"/>
              </a:rPr>
              <a:t>        </a:t>
            </a:r>
            <a:r>
              <a:rPr lang="en-US" sz="1700" b="1" dirty="0">
                <a:solidFill>
                  <a:srgbClr val="5620F4"/>
                </a:solidFill>
                <a:effectLst/>
                <a:latin typeface="Menlo"/>
                <a:cs typeface="Calibri"/>
              </a:rPr>
              <a:t>#pragma castor invariant valid(</a:t>
            </a:r>
            <a:r>
              <a:rPr lang="en-US" sz="1700" b="1" dirty="0">
                <a:solidFill>
                  <a:srgbClr val="AAAB25"/>
                </a:solidFill>
                <a:effectLst/>
                <a:latin typeface="Menlo"/>
                <a:cs typeface="Calibri"/>
              </a:rPr>
              <a:t>this</a:t>
            </a:r>
            <a:r>
              <a:rPr lang="en-US" sz="1700" b="1" dirty="0">
                <a:solidFill>
                  <a:srgbClr val="5620F4"/>
                </a:solidFill>
                <a:effectLst/>
                <a:latin typeface="Menlo"/>
                <a:cs typeface="Calibri"/>
              </a:rPr>
              <a:t>)</a:t>
            </a:r>
            <a:r>
              <a:rPr lang="en-US" sz="1700" dirty="0">
                <a:solidFill>
                  <a:srgbClr val="5620F4"/>
                </a:solidFill>
                <a:effectLst/>
                <a:latin typeface="Menlo"/>
                <a:cs typeface="Calibri"/>
              </a:rPr>
              <a:t> </a:t>
            </a:r>
          </a:p>
          <a:p>
            <a:pPr marL="0" indent="0">
              <a:spcBef>
                <a:spcPts val="0"/>
              </a:spcBef>
              <a:buNone/>
            </a:pPr>
            <a:r>
              <a:rPr lang="en-US" sz="1700" dirty="0">
                <a:solidFill>
                  <a:srgbClr val="000000"/>
                </a:solidFill>
                <a:effectLst/>
                <a:latin typeface="Menlo"/>
                <a:cs typeface="Calibri"/>
              </a:rPr>
              <a:t>        </a:t>
            </a:r>
            <a:r>
              <a:rPr lang="en-US" sz="1700" b="1" dirty="0">
                <a:solidFill>
                  <a:srgbClr val="5620F4"/>
                </a:solidFill>
                <a:effectLst/>
                <a:latin typeface="Menlo"/>
                <a:cs typeface="Calibri"/>
              </a:rPr>
              <a:t>#pragma castor ensures result == </a:t>
            </a:r>
            <a:r>
              <a:rPr lang="en-US" sz="1700" b="1" dirty="0">
                <a:solidFill>
                  <a:srgbClr val="DB27DA"/>
                </a:solidFill>
                <a:effectLst/>
                <a:latin typeface="Menlo"/>
                <a:cs typeface="Calibri"/>
              </a:rPr>
              <a:t>2</a:t>
            </a:r>
            <a:r>
              <a:rPr lang="en-US" sz="1700" b="1" dirty="0">
                <a:solidFill>
                  <a:srgbClr val="5620F4"/>
                </a:solidFill>
                <a:effectLst/>
                <a:latin typeface="Menlo"/>
                <a:cs typeface="Calibri"/>
              </a:rPr>
              <a:t> * </a:t>
            </a:r>
            <a:r>
              <a:rPr lang="en-US" sz="1700" b="1" dirty="0">
                <a:solidFill>
                  <a:srgbClr val="AAAB25"/>
                </a:solidFill>
                <a:effectLst/>
                <a:latin typeface="Menlo"/>
                <a:cs typeface="Calibri"/>
              </a:rPr>
              <a:t>this</a:t>
            </a:r>
            <a:r>
              <a:rPr lang="en-US" sz="1700" b="1" dirty="0">
                <a:solidFill>
                  <a:srgbClr val="5620F4"/>
                </a:solidFill>
                <a:effectLst/>
                <a:latin typeface="Menlo"/>
                <a:cs typeface="Calibri"/>
              </a:rPr>
              <a:t>-&gt;side1_length + \</a:t>
            </a:r>
          </a:p>
          <a:p>
            <a:pPr marL="0" indent="0">
              <a:spcBef>
                <a:spcPts val="0"/>
              </a:spcBef>
              <a:buNone/>
            </a:pPr>
            <a:r>
              <a:rPr lang="en-US" sz="1700" b="1" dirty="0">
                <a:solidFill>
                  <a:srgbClr val="5620F4"/>
                </a:solidFill>
                <a:latin typeface="Menlo"/>
                <a:cs typeface="Calibri"/>
              </a:rPr>
              <a:t>                                         </a:t>
            </a:r>
            <a:r>
              <a:rPr lang="en-US" sz="1700" b="1" dirty="0">
                <a:solidFill>
                  <a:srgbClr val="DB27DA"/>
                </a:solidFill>
                <a:effectLst/>
                <a:latin typeface="Menlo"/>
                <a:cs typeface="Calibri"/>
              </a:rPr>
              <a:t>2</a:t>
            </a:r>
            <a:r>
              <a:rPr lang="en-US" sz="1700" b="1" dirty="0">
                <a:solidFill>
                  <a:srgbClr val="5620F4"/>
                </a:solidFill>
                <a:effectLst/>
                <a:latin typeface="Menlo"/>
                <a:cs typeface="Calibri"/>
              </a:rPr>
              <a:t> * </a:t>
            </a:r>
            <a:r>
              <a:rPr lang="en-US" sz="1700" b="1" dirty="0">
                <a:solidFill>
                  <a:srgbClr val="AAAB25"/>
                </a:solidFill>
                <a:effectLst/>
                <a:latin typeface="Menlo"/>
                <a:cs typeface="Calibri"/>
              </a:rPr>
              <a:t>this</a:t>
            </a:r>
            <a:r>
              <a:rPr lang="en-US" sz="1700" b="1" dirty="0">
                <a:solidFill>
                  <a:srgbClr val="5620F4"/>
                </a:solidFill>
                <a:effectLst/>
                <a:latin typeface="Menlo"/>
                <a:cs typeface="Calibri"/>
              </a:rPr>
              <a:t>-&gt;side2_length</a:t>
            </a:r>
            <a:endParaRPr lang="en-US" sz="1700" dirty="0">
              <a:solidFill>
                <a:srgbClr val="5620F4"/>
              </a:solidFill>
              <a:effectLst/>
              <a:latin typeface="Menlo"/>
              <a:cs typeface="Calibri"/>
            </a:endParaRPr>
          </a:p>
          <a:p>
            <a:pPr marL="0" indent="0">
              <a:spcBef>
                <a:spcPts val="0"/>
              </a:spcBef>
              <a:buNone/>
            </a:pPr>
            <a:r>
              <a:rPr lang="en-US" sz="1700" dirty="0">
                <a:solidFill>
                  <a:srgbClr val="000000"/>
                </a:solidFill>
                <a:effectLst/>
                <a:latin typeface="Menlo"/>
                <a:cs typeface="Calibri"/>
              </a:rPr>
              <a:t>        </a:t>
            </a:r>
            <a:r>
              <a:rPr lang="en-US" sz="1700" b="1" dirty="0">
                <a:solidFill>
                  <a:srgbClr val="5620F4"/>
                </a:solidFill>
                <a:effectLst/>
                <a:latin typeface="Menlo"/>
                <a:cs typeface="Calibri"/>
              </a:rPr>
              <a:t>#pragma castor </a:t>
            </a:r>
            <a:r>
              <a:rPr lang="en-US" sz="1700" b="1" dirty="0" err="1">
                <a:solidFill>
                  <a:srgbClr val="5620F4"/>
                </a:solidFill>
                <a:effectLst/>
                <a:latin typeface="Menlo"/>
                <a:cs typeface="Calibri"/>
              </a:rPr>
              <a:t>no_write</a:t>
            </a:r>
            <a:endParaRPr lang="en-US" sz="1700" dirty="0">
              <a:solidFill>
                <a:srgbClr val="5620F4"/>
              </a:solidFill>
              <a:effectLst/>
              <a:latin typeface="Menlo"/>
              <a:cs typeface="Calibri"/>
            </a:endParaRPr>
          </a:p>
          <a:p>
            <a:pPr marL="0" indent="0">
              <a:spcBef>
                <a:spcPts val="0"/>
              </a:spcBef>
              <a:buNone/>
            </a:pPr>
            <a:r>
              <a:rPr lang="en-US" sz="1700" dirty="0">
                <a:solidFill>
                  <a:srgbClr val="000000"/>
                </a:solidFill>
                <a:effectLst/>
                <a:latin typeface="Menlo"/>
                <a:cs typeface="Calibri"/>
              </a:rPr>
              <a:t>        </a:t>
            </a:r>
            <a:r>
              <a:rPr lang="en-US" sz="1700" b="1" dirty="0">
                <a:solidFill>
                  <a:srgbClr val="39C026"/>
                </a:solidFill>
                <a:effectLst/>
                <a:latin typeface="Menlo"/>
                <a:cs typeface="Calibri"/>
              </a:rPr>
              <a:t>unsigned</a:t>
            </a:r>
            <a:r>
              <a:rPr lang="en-US" sz="1700" dirty="0">
                <a:solidFill>
                  <a:srgbClr val="000000"/>
                </a:solidFill>
                <a:effectLst/>
                <a:latin typeface="Menlo"/>
                <a:cs typeface="Calibri"/>
              </a:rPr>
              <a:t> </a:t>
            </a:r>
            <a:r>
              <a:rPr lang="en-US" sz="1700" b="1" dirty="0">
                <a:solidFill>
                  <a:srgbClr val="39C026"/>
                </a:solidFill>
                <a:effectLst/>
                <a:latin typeface="Menlo"/>
                <a:cs typeface="Calibri"/>
              </a:rPr>
              <a:t>long</a:t>
            </a:r>
            <a:r>
              <a:rPr lang="en-US" sz="1700" dirty="0">
                <a:solidFill>
                  <a:srgbClr val="000000"/>
                </a:solidFill>
                <a:effectLst/>
                <a:latin typeface="Menlo"/>
                <a:cs typeface="Calibri"/>
              </a:rPr>
              <a:t> </a:t>
            </a:r>
            <a:r>
              <a:rPr lang="en-US" sz="1700" dirty="0" err="1">
                <a:solidFill>
                  <a:srgbClr val="000000"/>
                </a:solidFill>
                <a:effectLst/>
                <a:latin typeface="Menlo"/>
                <a:cs typeface="Calibri"/>
              </a:rPr>
              <a:t>get_perimeter</a:t>
            </a:r>
            <a:r>
              <a:rPr lang="en-US" sz="1700" dirty="0">
                <a:solidFill>
                  <a:srgbClr val="000000"/>
                </a:solidFill>
                <a:effectLst/>
                <a:latin typeface="Menlo"/>
                <a:cs typeface="Calibri"/>
              </a:rPr>
              <a:t>() {</a:t>
            </a:r>
          </a:p>
          <a:p>
            <a:pPr marL="0" indent="0">
              <a:spcBef>
                <a:spcPts val="0"/>
              </a:spcBef>
              <a:buNone/>
            </a:pPr>
            <a:r>
              <a:rPr lang="en-US" sz="1700" dirty="0">
                <a:solidFill>
                  <a:srgbClr val="000000"/>
                </a:solidFill>
                <a:effectLst/>
                <a:latin typeface="Menlo"/>
                <a:cs typeface="Calibri"/>
              </a:rPr>
              <a:t>                </a:t>
            </a:r>
            <a:r>
              <a:rPr lang="en-US" sz="1700" b="1" dirty="0">
                <a:solidFill>
                  <a:srgbClr val="AAAB25"/>
                </a:solidFill>
                <a:effectLst/>
                <a:latin typeface="Menlo"/>
                <a:cs typeface="Calibri"/>
              </a:rPr>
              <a:t>return</a:t>
            </a:r>
            <a:r>
              <a:rPr lang="en-US" sz="1700" dirty="0">
                <a:solidFill>
                  <a:srgbClr val="000000"/>
                </a:solidFill>
                <a:effectLst/>
                <a:latin typeface="Menlo"/>
                <a:cs typeface="Calibri"/>
              </a:rPr>
              <a:t> </a:t>
            </a:r>
            <a:r>
              <a:rPr lang="en-US" sz="1700" b="1" dirty="0">
                <a:solidFill>
                  <a:srgbClr val="DB27DA"/>
                </a:solidFill>
                <a:latin typeface="Menlo"/>
                <a:cs typeface="Calibri"/>
              </a:rPr>
              <a:t>2</a:t>
            </a:r>
            <a:r>
              <a:rPr lang="en-US" sz="1700" dirty="0">
                <a:solidFill>
                  <a:srgbClr val="000000"/>
                </a:solidFill>
                <a:effectLst/>
                <a:latin typeface="Menlo"/>
                <a:cs typeface="Calibri"/>
              </a:rPr>
              <a:t> * side1_length + </a:t>
            </a:r>
            <a:r>
              <a:rPr lang="en-US" sz="1700" b="1" dirty="0">
                <a:solidFill>
                  <a:srgbClr val="DB27DA"/>
                </a:solidFill>
                <a:latin typeface="Menlo"/>
                <a:cs typeface="Calibri"/>
              </a:rPr>
              <a:t>2</a:t>
            </a:r>
            <a:r>
              <a:rPr lang="en-US" sz="1700" dirty="0">
                <a:solidFill>
                  <a:srgbClr val="000000"/>
                </a:solidFill>
                <a:effectLst/>
                <a:latin typeface="Menlo"/>
                <a:cs typeface="Calibri"/>
              </a:rPr>
              <a:t> * side2_length;</a:t>
            </a:r>
          </a:p>
          <a:p>
            <a:pPr marL="0" indent="0">
              <a:spcBef>
                <a:spcPts val="0"/>
              </a:spcBef>
              <a:buNone/>
            </a:pPr>
            <a:r>
              <a:rPr lang="en-US" sz="1700" dirty="0">
                <a:solidFill>
                  <a:srgbClr val="000000"/>
                </a:solidFill>
                <a:effectLst/>
                <a:latin typeface="Menlo"/>
                <a:cs typeface="Calibri"/>
              </a:rPr>
              <a:t>        }</a:t>
            </a:r>
          </a:p>
          <a:p>
            <a:pPr marL="0" indent="0">
              <a:spcBef>
                <a:spcPts val="0"/>
              </a:spcBef>
              <a:buNone/>
            </a:pPr>
            <a:r>
              <a:rPr lang="en-US" sz="1700" dirty="0">
                <a:solidFill>
                  <a:srgbClr val="000000"/>
                </a:solidFill>
                <a:effectLst/>
                <a:latin typeface="Menlo"/>
                <a:cs typeface="Calibri"/>
              </a:rPr>
              <a:t>};</a:t>
            </a:r>
            <a:endParaRPr lang="en-US" sz="1700" dirty="0">
              <a:solidFill>
                <a:srgbClr val="000000"/>
              </a:solidFill>
              <a:effectLst/>
              <a:latin typeface="Menlo" panose="020B0609030804020204" pitchFamily="49" charset="0"/>
            </a:endParaRPr>
          </a:p>
        </p:txBody>
      </p:sp>
      <p:sp>
        <p:nvSpPr>
          <p:cNvPr id="3" name="Title 2">
            <a:extLst>
              <a:ext uri="{FF2B5EF4-FFF2-40B4-BE49-F238E27FC236}">
                <a16:creationId xmlns:a16="http://schemas.microsoft.com/office/drawing/2014/main" id="{A4FE9BF2-B37E-A77C-FFF6-7F114FEFE8B7}"/>
              </a:ext>
            </a:extLst>
          </p:cNvPr>
          <p:cNvSpPr>
            <a:spLocks noGrp="1"/>
          </p:cNvSpPr>
          <p:nvPr>
            <p:ph type="title"/>
          </p:nvPr>
        </p:nvSpPr>
        <p:spPr/>
        <p:txBody>
          <a:bodyPr/>
          <a:lstStyle/>
          <a:p>
            <a:r>
              <a:rPr lang="en-US"/>
              <a:t>Example: Classes and inheritance</a:t>
            </a:r>
          </a:p>
        </p:txBody>
      </p:sp>
      <p:sp>
        <p:nvSpPr>
          <p:cNvPr id="4" name="TextBox 3">
            <a:extLst>
              <a:ext uri="{FF2B5EF4-FFF2-40B4-BE49-F238E27FC236}">
                <a16:creationId xmlns:a16="http://schemas.microsoft.com/office/drawing/2014/main" id="{BB8BD0C6-783C-C87A-0D97-689205DAD07E}"/>
              </a:ext>
            </a:extLst>
          </p:cNvPr>
          <p:cNvSpPr txBox="1"/>
          <p:nvPr/>
        </p:nvSpPr>
        <p:spPr>
          <a:xfrm>
            <a:off x="609600" y="4196443"/>
            <a:ext cx="8567056"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This "ensures" clause for Rectangle::</a:t>
            </a:r>
            <a:r>
              <a:rPr lang="en-US" err="1">
                <a:ea typeface="Calibri"/>
                <a:cs typeface="Calibri"/>
              </a:rPr>
              <a:t>get_perimeter</a:t>
            </a:r>
            <a:r>
              <a:rPr lang="en-US">
                <a:ea typeface="Calibri"/>
                <a:cs typeface="Calibri"/>
              </a:rPr>
              <a:t> doesn't prove in this example. Why?</a:t>
            </a:r>
          </a:p>
          <a:p>
            <a:endParaRPr lang="en-US">
              <a:ea typeface="Calibri"/>
              <a:cs typeface="Calibri"/>
            </a:endParaRPr>
          </a:p>
          <a:p>
            <a:r>
              <a:rPr lang="en-US">
                <a:ea typeface="Calibri"/>
                <a:cs typeface="Calibri"/>
              </a:rPr>
              <a:t>‼️ Castor detects that this function might cause an overflow, so it can't deduce that this function satisfies its contract. So, Castor rejects this version.</a:t>
            </a:r>
          </a:p>
          <a:p>
            <a:endParaRPr lang="en-US">
              <a:ea typeface="Calibri"/>
              <a:cs typeface="Calibri"/>
            </a:endParaRPr>
          </a:p>
        </p:txBody>
      </p:sp>
      <p:sp>
        <p:nvSpPr>
          <p:cNvPr id="7" name="Arrow: Bent 6">
            <a:extLst>
              <a:ext uri="{FF2B5EF4-FFF2-40B4-BE49-F238E27FC236}">
                <a16:creationId xmlns:a16="http://schemas.microsoft.com/office/drawing/2014/main" id="{8961E0B1-7654-1558-112E-405C43EAD4E5}"/>
              </a:ext>
            </a:extLst>
          </p:cNvPr>
          <p:cNvSpPr/>
          <p:nvPr/>
        </p:nvSpPr>
        <p:spPr bwMode="auto">
          <a:xfrm>
            <a:off x="1020481" y="1907450"/>
            <a:ext cx="552559" cy="2136866"/>
          </a:xfrm>
          <a:prstGeom prst="bentArrow">
            <a:avLst/>
          </a:prstGeom>
          <a:solidFill>
            <a:srgbClr val="FF0000"/>
          </a:solidFill>
          <a:ln>
            <a:solidFill>
              <a:schemeClr val="accent1">
                <a:lumMod val="75000"/>
              </a:schemeClr>
            </a:solidFill>
            <a:headEnd/>
            <a:tailEnd/>
          </a:ln>
        </p:spPr>
        <p:style>
          <a:lnRef idx="1">
            <a:schemeClr val="accent1"/>
          </a:lnRef>
          <a:fillRef idx="2">
            <a:schemeClr val="accent1"/>
          </a:fillRef>
          <a:effectRef idx="1">
            <a:schemeClr val="accent1"/>
          </a:effectRef>
          <a:fontRef idx="minor">
            <a:schemeClr val="dk1"/>
          </a:fontRef>
        </p:style>
        <p:txBody>
          <a:bodyPr rtlCol="0" anchor="b">
            <a:prstTxWarp prst="textNoShape">
              <a:avLst/>
            </a:prstTxWarp>
          </a:bodyPr>
          <a:lstStyle/>
          <a:p>
            <a:pPr algn="ctr">
              <a:spcBef>
                <a:spcPct val="0"/>
              </a:spcBef>
            </a:pPr>
            <a:endParaRPr lang="en-US" sz="1600">
              <a:solidFill>
                <a:srgbClr val="000000"/>
              </a:solidFill>
            </a:endParaRPr>
          </a:p>
        </p:txBody>
      </p:sp>
    </p:spTree>
    <p:extLst>
      <p:ext uri="{BB962C8B-B14F-4D97-AF65-F5344CB8AC3E}">
        <p14:creationId xmlns:p14="http://schemas.microsoft.com/office/powerpoint/2010/main" val="1933591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E6869-35E3-93AB-8103-A13D3FB09A11}"/>
            </a:ext>
          </a:extLst>
        </p:cNvPr>
        <p:cNvGrpSpPr/>
        <p:nvPr/>
      </p:nvGrpSpPr>
      <p:grpSpPr>
        <a:xfrm>
          <a:off x="0" y="0"/>
          <a:ext cx="0" cy="0"/>
          <a:chOff x="0" y="0"/>
          <a:chExt cx="0" cy="0"/>
        </a:xfrm>
      </p:grpSpPr>
      <p:sp>
        <p:nvSpPr>
          <p:cNvPr id="6" name="Flowchart: Alternate Process 5">
            <a:extLst>
              <a:ext uri="{FF2B5EF4-FFF2-40B4-BE49-F238E27FC236}">
                <a16:creationId xmlns:a16="http://schemas.microsoft.com/office/drawing/2014/main" id="{245A5F40-EF13-39F7-6B8D-969AE372EA8E}"/>
              </a:ext>
            </a:extLst>
          </p:cNvPr>
          <p:cNvSpPr/>
          <p:nvPr/>
        </p:nvSpPr>
        <p:spPr bwMode="auto">
          <a:xfrm>
            <a:off x="1567541" y="4156819"/>
            <a:ext cx="8403773" cy="1581476"/>
          </a:xfrm>
          <a:prstGeom prst="flowChartAlternateProcess">
            <a:avLst/>
          </a:prstGeom>
          <a:gradFill flip="none" rotWithShape="1">
            <a:gsLst>
              <a:gs pos="0">
                <a:schemeClr val="bg1">
                  <a:lumMod val="65000"/>
                  <a:tint val="66000"/>
                  <a:satMod val="160000"/>
                </a:schemeClr>
              </a:gs>
              <a:gs pos="50000">
                <a:schemeClr val="bg1">
                  <a:lumMod val="65000"/>
                  <a:tint val="44500"/>
                  <a:satMod val="160000"/>
                </a:schemeClr>
              </a:gs>
              <a:gs pos="100000">
                <a:schemeClr val="bg1">
                  <a:lumMod val="65000"/>
                  <a:tint val="23500"/>
                  <a:satMod val="160000"/>
                </a:schemeClr>
              </a:gs>
            </a:gsLst>
            <a:lin ang="16200000" scaled="1"/>
            <a:tileRect/>
          </a:gradFill>
          <a:ln>
            <a:solidFill>
              <a:schemeClr val="tx1"/>
            </a:solidFill>
            <a:headEnd/>
            <a:tailEnd/>
          </a:ln>
        </p:spPr>
        <p:style>
          <a:lnRef idx="1">
            <a:schemeClr val="accent1"/>
          </a:lnRef>
          <a:fillRef idx="2">
            <a:schemeClr val="accent1"/>
          </a:fillRef>
          <a:effectRef idx="1">
            <a:schemeClr val="accent1"/>
          </a:effectRef>
          <a:fontRef idx="minor">
            <a:schemeClr val="dk1"/>
          </a:fontRef>
        </p:style>
        <p:txBody>
          <a:bodyPr rtlCol="0" anchor="b">
            <a:prstTxWarp prst="textNoShape">
              <a:avLst/>
            </a:prstTxWarp>
          </a:bodyPr>
          <a:lstStyle/>
          <a:p>
            <a:pPr algn="ctr">
              <a:spcBef>
                <a:spcPct val="0"/>
              </a:spcBef>
            </a:pPr>
            <a:endParaRPr lang="en-US" sz="1600">
              <a:solidFill>
                <a:srgbClr val="000000"/>
              </a:solidFill>
            </a:endParaRPr>
          </a:p>
        </p:txBody>
      </p:sp>
      <p:sp>
        <p:nvSpPr>
          <p:cNvPr id="2" name="Content Placeholder 1">
            <a:extLst>
              <a:ext uri="{FF2B5EF4-FFF2-40B4-BE49-F238E27FC236}">
                <a16:creationId xmlns:a16="http://schemas.microsoft.com/office/drawing/2014/main" id="{816CFA87-36BE-D112-BD31-74771FF8F533}"/>
              </a:ext>
            </a:extLst>
          </p:cNvPr>
          <p:cNvSpPr>
            <a:spLocks noGrp="1"/>
          </p:cNvSpPr>
          <p:nvPr>
            <p:ph idx="1"/>
          </p:nvPr>
        </p:nvSpPr>
        <p:spPr>
          <a:xfrm>
            <a:off x="609600" y="1406360"/>
            <a:ext cx="11290300" cy="4906889"/>
          </a:xfrm>
        </p:spPr>
        <p:txBody>
          <a:bodyPr vert="horz" lIns="0" tIns="0" rIns="0" bIns="0" rtlCol="0" anchor="t">
            <a:noAutofit/>
          </a:bodyPr>
          <a:lstStyle/>
          <a:p>
            <a:pPr marL="0" indent="0">
              <a:spcBef>
                <a:spcPts val="0"/>
              </a:spcBef>
              <a:buNone/>
            </a:pPr>
            <a:r>
              <a:rPr lang="en-US" sz="1700" b="1" dirty="0">
                <a:solidFill>
                  <a:srgbClr val="39C026"/>
                </a:solidFill>
                <a:effectLst/>
                <a:latin typeface="Menlo"/>
                <a:cs typeface="Calibri"/>
              </a:rPr>
              <a:t>class</a:t>
            </a:r>
            <a:r>
              <a:rPr lang="en-US" sz="1700" dirty="0">
                <a:solidFill>
                  <a:srgbClr val="000000"/>
                </a:solidFill>
                <a:effectLst/>
                <a:latin typeface="Menlo"/>
                <a:cs typeface="Calibri"/>
              </a:rPr>
              <a:t> Rectangle {</a:t>
            </a:r>
          </a:p>
          <a:p>
            <a:pPr marL="0" indent="0">
              <a:spcBef>
                <a:spcPts val="0"/>
              </a:spcBef>
              <a:buNone/>
            </a:pPr>
            <a:r>
              <a:rPr lang="en-US" sz="1700" dirty="0">
                <a:solidFill>
                  <a:srgbClr val="000000"/>
                </a:solidFill>
                <a:effectLst/>
                <a:latin typeface="Menlo"/>
                <a:cs typeface="Calibri"/>
              </a:rPr>
              <a:t>        </a:t>
            </a:r>
            <a:r>
              <a:rPr lang="en-US" sz="1700" b="1" dirty="0">
                <a:solidFill>
                  <a:srgbClr val="5620F4"/>
                </a:solidFill>
                <a:effectLst/>
                <a:latin typeface="Menlo"/>
                <a:cs typeface="Calibri"/>
              </a:rPr>
              <a:t>#pragma castor invariant valid(</a:t>
            </a:r>
            <a:r>
              <a:rPr lang="en-US" sz="1700" b="1" dirty="0">
                <a:solidFill>
                  <a:srgbClr val="AAAB25"/>
                </a:solidFill>
                <a:effectLst/>
                <a:latin typeface="Menlo"/>
                <a:cs typeface="Calibri"/>
              </a:rPr>
              <a:t>this</a:t>
            </a:r>
            <a:r>
              <a:rPr lang="en-US" sz="1700" b="1" dirty="0">
                <a:solidFill>
                  <a:srgbClr val="5620F4"/>
                </a:solidFill>
                <a:effectLst/>
                <a:latin typeface="Menlo"/>
                <a:cs typeface="Calibri"/>
              </a:rPr>
              <a:t>)</a:t>
            </a:r>
            <a:r>
              <a:rPr lang="en-US" sz="1700" dirty="0">
                <a:solidFill>
                  <a:srgbClr val="5620F4"/>
                </a:solidFill>
                <a:effectLst/>
                <a:latin typeface="Menlo"/>
                <a:cs typeface="Calibri"/>
              </a:rPr>
              <a:t> </a:t>
            </a:r>
          </a:p>
          <a:p>
            <a:pPr marL="0" indent="0">
              <a:spcBef>
                <a:spcPts val="0"/>
              </a:spcBef>
              <a:buNone/>
            </a:pPr>
            <a:r>
              <a:rPr lang="en-US" sz="1700" dirty="0">
                <a:solidFill>
                  <a:srgbClr val="000000"/>
                </a:solidFill>
                <a:effectLst/>
                <a:latin typeface="Menlo"/>
                <a:cs typeface="Calibri"/>
              </a:rPr>
              <a:t>        </a:t>
            </a:r>
            <a:r>
              <a:rPr lang="en-US" sz="1700" b="1" dirty="0">
                <a:solidFill>
                  <a:srgbClr val="5620F4"/>
                </a:solidFill>
                <a:effectLst/>
                <a:latin typeface="Menlo"/>
                <a:cs typeface="Calibri"/>
              </a:rPr>
              <a:t>#pragma castor ensures result == </a:t>
            </a:r>
            <a:r>
              <a:rPr lang="en-US" sz="1700" b="1" dirty="0">
                <a:solidFill>
                  <a:srgbClr val="DB27DA"/>
                </a:solidFill>
                <a:effectLst/>
                <a:latin typeface="Menlo"/>
                <a:cs typeface="Calibri"/>
              </a:rPr>
              <a:t>2</a:t>
            </a:r>
            <a:r>
              <a:rPr lang="en-US" sz="1700" b="1" dirty="0">
                <a:solidFill>
                  <a:srgbClr val="5620F4"/>
                </a:solidFill>
                <a:effectLst/>
                <a:latin typeface="Menlo"/>
                <a:cs typeface="Calibri"/>
              </a:rPr>
              <a:t> * </a:t>
            </a:r>
            <a:r>
              <a:rPr lang="en-US" sz="1700" b="1" dirty="0">
                <a:solidFill>
                  <a:srgbClr val="AAAB25"/>
                </a:solidFill>
                <a:effectLst/>
                <a:latin typeface="Menlo"/>
                <a:cs typeface="Calibri"/>
              </a:rPr>
              <a:t>this</a:t>
            </a:r>
            <a:r>
              <a:rPr lang="en-US" sz="1700" b="1" dirty="0">
                <a:solidFill>
                  <a:srgbClr val="5620F4"/>
                </a:solidFill>
                <a:effectLst/>
                <a:latin typeface="Menlo"/>
                <a:cs typeface="Calibri"/>
              </a:rPr>
              <a:t>-&gt;side1_length + \</a:t>
            </a:r>
          </a:p>
          <a:p>
            <a:pPr marL="0" indent="0">
              <a:spcBef>
                <a:spcPts val="0"/>
              </a:spcBef>
              <a:buNone/>
            </a:pPr>
            <a:r>
              <a:rPr lang="en-US" sz="1700" b="1" dirty="0">
                <a:solidFill>
                  <a:srgbClr val="5620F4"/>
                </a:solidFill>
                <a:latin typeface="Menlo"/>
                <a:cs typeface="Calibri"/>
              </a:rPr>
              <a:t>                                         </a:t>
            </a:r>
            <a:r>
              <a:rPr lang="en-US" sz="1700" b="1" dirty="0">
                <a:solidFill>
                  <a:srgbClr val="DB27DA"/>
                </a:solidFill>
                <a:effectLst/>
                <a:latin typeface="Menlo"/>
                <a:cs typeface="Calibri"/>
              </a:rPr>
              <a:t>2</a:t>
            </a:r>
            <a:r>
              <a:rPr lang="en-US" sz="1700" b="1" dirty="0">
                <a:solidFill>
                  <a:srgbClr val="5620F4"/>
                </a:solidFill>
                <a:effectLst/>
                <a:latin typeface="Menlo"/>
                <a:cs typeface="Calibri"/>
              </a:rPr>
              <a:t> * </a:t>
            </a:r>
            <a:r>
              <a:rPr lang="en-US" sz="1700" b="1" dirty="0">
                <a:solidFill>
                  <a:srgbClr val="AAAB25"/>
                </a:solidFill>
                <a:effectLst/>
                <a:latin typeface="Menlo"/>
                <a:cs typeface="Calibri"/>
              </a:rPr>
              <a:t>this</a:t>
            </a:r>
            <a:r>
              <a:rPr lang="en-US" sz="1700" b="1" dirty="0">
                <a:solidFill>
                  <a:srgbClr val="5620F4"/>
                </a:solidFill>
                <a:effectLst/>
                <a:latin typeface="Menlo"/>
                <a:cs typeface="Calibri"/>
              </a:rPr>
              <a:t>-&gt;side2_length</a:t>
            </a:r>
            <a:endParaRPr lang="en-US" sz="1700" dirty="0">
              <a:solidFill>
                <a:srgbClr val="5620F4"/>
              </a:solidFill>
              <a:effectLst/>
              <a:latin typeface="Menlo"/>
              <a:cs typeface="Calibri"/>
            </a:endParaRPr>
          </a:p>
          <a:p>
            <a:pPr marL="0" indent="0">
              <a:spcBef>
                <a:spcPts val="0"/>
              </a:spcBef>
              <a:buNone/>
            </a:pPr>
            <a:r>
              <a:rPr lang="en-US" sz="1700" dirty="0">
                <a:solidFill>
                  <a:srgbClr val="000000"/>
                </a:solidFill>
                <a:effectLst/>
                <a:latin typeface="Menlo"/>
                <a:cs typeface="Calibri"/>
              </a:rPr>
              <a:t>        </a:t>
            </a:r>
            <a:r>
              <a:rPr lang="en-US" sz="1700" b="1" dirty="0">
                <a:solidFill>
                  <a:srgbClr val="5620F4"/>
                </a:solidFill>
                <a:effectLst/>
                <a:latin typeface="Menlo"/>
                <a:cs typeface="Calibri"/>
              </a:rPr>
              <a:t>#pragma castor </a:t>
            </a:r>
            <a:r>
              <a:rPr lang="en-US" sz="1700" b="1" dirty="0" err="1">
                <a:solidFill>
                  <a:srgbClr val="5620F4"/>
                </a:solidFill>
                <a:effectLst/>
                <a:latin typeface="Menlo"/>
                <a:cs typeface="Calibri"/>
              </a:rPr>
              <a:t>no_write</a:t>
            </a:r>
            <a:endParaRPr lang="en-US" sz="1700" dirty="0">
              <a:solidFill>
                <a:srgbClr val="5620F4"/>
              </a:solidFill>
              <a:effectLst/>
              <a:latin typeface="Menlo"/>
              <a:cs typeface="Calibri"/>
            </a:endParaRPr>
          </a:p>
          <a:p>
            <a:pPr marL="0" indent="0">
              <a:spcBef>
                <a:spcPts val="0"/>
              </a:spcBef>
              <a:buNone/>
            </a:pPr>
            <a:r>
              <a:rPr lang="en-US" sz="1700" dirty="0">
                <a:solidFill>
                  <a:srgbClr val="000000"/>
                </a:solidFill>
                <a:effectLst/>
                <a:latin typeface="Menlo"/>
                <a:cs typeface="Calibri"/>
              </a:rPr>
              <a:t>        </a:t>
            </a:r>
            <a:r>
              <a:rPr lang="en-US" sz="1700" b="1" dirty="0">
                <a:solidFill>
                  <a:srgbClr val="39C026"/>
                </a:solidFill>
                <a:effectLst/>
                <a:latin typeface="Menlo"/>
                <a:cs typeface="Calibri"/>
              </a:rPr>
              <a:t>unsigned</a:t>
            </a:r>
            <a:r>
              <a:rPr lang="en-US" sz="1700" dirty="0">
                <a:solidFill>
                  <a:srgbClr val="000000"/>
                </a:solidFill>
                <a:effectLst/>
                <a:latin typeface="Menlo"/>
                <a:cs typeface="Calibri"/>
              </a:rPr>
              <a:t> </a:t>
            </a:r>
            <a:r>
              <a:rPr lang="en-US" sz="1700" b="1" dirty="0">
                <a:solidFill>
                  <a:srgbClr val="39C026"/>
                </a:solidFill>
                <a:effectLst/>
                <a:latin typeface="Menlo"/>
                <a:cs typeface="Calibri"/>
              </a:rPr>
              <a:t>long</a:t>
            </a:r>
            <a:r>
              <a:rPr lang="en-US" sz="1700" dirty="0">
                <a:solidFill>
                  <a:srgbClr val="000000"/>
                </a:solidFill>
                <a:effectLst/>
                <a:latin typeface="Menlo"/>
                <a:cs typeface="Calibri"/>
              </a:rPr>
              <a:t> </a:t>
            </a:r>
            <a:r>
              <a:rPr lang="en-US" sz="1700" dirty="0" err="1">
                <a:solidFill>
                  <a:srgbClr val="000000"/>
                </a:solidFill>
                <a:effectLst/>
                <a:latin typeface="Menlo"/>
                <a:cs typeface="Calibri"/>
              </a:rPr>
              <a:t>get_perimeter</a:t>
            </a:r>
            <a:r>
              <a:rPr lang="en-US" sz="1700" dirty="0">
                <a:solidFill>
                  <a:srgbClr val="000000"/>
                </a:solidFill>
                <a:effectLst/>
                <a:latin typeface="Menlo"/>
                <a:cs typeface="Calibri"/>
              </a:rPr>
              <a:t>() {</a:t>
            </a:r>
          </a:p>
          <a:p>
            <a:pPr marL="0" indent="0">
              <a:spcBef>
                <a:spcPts val="0"/>
              </a:spcBef>
              <a:buNone/>
            </a:pPr>
            <a:r>
              <a:rPr lang="en-US" sz="1700" dirty="0">
                <a:solidFill>
                  <a:srgbClr val="000000"/>
                </a:solidFill>
                <a:effectLst/>
                <a:latin typeface="Menlo"/>
                <a:cs typeface="Calibri"/>
              </a:rPr>
              <a:t>                </a:t>
            </a:r>
            <a:r>
              <a:rPr lang="en-US" sz="1700" b="1" dirty="0">
                <a:solidFill>
                  <a:srgbClr val="AAAB25"/>
                </a:solidFill>
                <a:effectLst/>
                <a:latin typeface="Menlo"/>
                <a:cs typeface="Calibri"/>
              </a:rPr>
              <a:t>return</a:t>
            </a:r>
            <a:r>
              <a:rPr lang="en-US" sz="1700" dirty="0">
                <a:solidFill>
                  <a:srgbClr val="000000"/>
                </a:solidFill>
                <a:effectLst/>
                <a:latin typeface="Menlo"/>
                <a:cs typeface="Calibri"/>
              </a:rPr>
              <a:t> </a:t>
            </a:r>
            <a:r>
              <a:rPr lang="en-US" sz="1700" b="1" dirty="0">
                <a:solidFill>
                  <a:srgbClr val="DB27DA"/>
                </a:solidFill>
                <a:latin typeface="Menlo"/>
                <a:cs typeface="Calibri"/>
              </a:rPr>
              <a:t>2UL</a:t>
            </a:r>
            <a:r>
              <a:rPr lang="en-US" sz="1700" dirty="0">
                <a:solidFill>
                  <a:srgbClr val="000000"/>
                </a:solidFill>
                <a:effectLst/>
                <a:latin typeface="Menlo"/>
                <a:cs typeface="Calibri"/>
              </a:rPr>
              <a:t> * side1_length + </a:t>
            </a:r>
            <a:r>
              <a:rPr lang="en-US" sz="1700" b="1" dirty="0">
                <a:solidFill>
                  <a:srgbClr val="DB27DA"/>
                </a:solidFill>
                <a:latin typeface="Menlo"/>
                <a:cs typeface="Calibri"/>
              </a:rPr>
              <a:t>2UL</a:t>
            </a:r>
            <a:r>
              <a:rPr lang="en-US" sz="1700" dirty="0">
                <a:solidFill>
                  <a:srgbClr val="000000"/>
                </a:solidFill>
                <a:effectLst/>
                <a:latin typeface="Menlo"/>
                <a:cs typeface="Calibri"/>
              </a:rPr>
              <a:t> * side2_length;</a:t>
            </a:r>
          </a:p>
          <a:p>
            <a:pPr marL="0" indent="0">
              <a:spcBef>
                <a:spcPts val="0"/>
              </a:spcBef>
              <a:buNone/>
            </a:pPr>
            <a:r>
              <a:rPr lang="en-US" sz="1700" dirty="0">
                <a:solidFill>
                  <a:srgbClr val="000000"/>
                </a:solidFill>
                <a:effectLst/>
                <a:latin typeface="Menlo"/>
                <a:cs typeface="Calibri"/>
              </a:rPr>
              <a:t>        }</a:t>
            </a:r>
          </a:p>
          <a:p>
            <a:pPr marL="0" indent="0">
              <a:spcBef>
                <a:spcPts val="0"/>
              </a:spcBef>
              <a:buNone/>
            </a:pPr>
            <a:r>
              <a:rPr lang="en-US" sz="1700" dirty="0">
                <a:solidFill>
                  <a:srgbClr val="000000"/>
                </a:solidFill>
                <a:effectLst/>
                <a:latin typeface="Menlo"/>
                <a:cs typeface="Calibri"/>
              </a:rPr>
              <a:t>};</a:t>
            </a:r>
            <a:endParaRPr lang="en-US" sz="1700" dirty="0">
              <a:solidFill>
                <a:srgbClr val="000000"/>
              </a:solidFill>
              <a:effectLst/>
              <a:latin typeface="Menlo" panose="020B0609030804020204" pitchFamily="49" charset="0"/>
            </a:endParaRPr>
          </a:p>
        </p:txBody>
      </p:sp>
      <p:sp>
        <p:nvSpPr>
          <p:cNvPr id="3" name="Title 2">
            <a:extLst>
              <a:ext uri="{FF2B5EF4-FFF2-40B4-BE49-F238E27FC236}">
                <a16:creationId xmlns:a16="http://schemas.microsoft.com/office/drawing/2014/main" id="{A4FE9BF2-B37E-A77C-FFF6-7F114FEFE8B7}"/>
              </a:ext>
            </a:extLst>
          </p:cNvPr>
          <p:cNvSpPr>
            <a:spLocks noGrp="1"/>
          </p:cNvSpPr>
          <p:nvPr>
            <p:ph type="title"/>
          </p:nvPr>
        </p:nvSpPr>
        <p:spPr/>
        <p:txBody>
          <a:bodyPr vert="horz" lIns="0" tIns="45720" rIns="45720" bIns="45720" rtlCol="0" anchor="ctr" anchorCtr="0">
            <a:noAutofit/>
            <a:scene3d>
              <a:camera prst="orthographicFront"/>
              <a:lightRig rig="threePt" dir="t">
                <a:rot lat="0" lon="0" rev="4800000"/>
              </a:lightRig>
            </a:scene3d>
            <a:sp3d prstMaterial="matte"/>
          </a:bodyPr>
          <a:lstStyle/>
          <a:p>
            <a:r>
              <a:rPr lang="en-US">
                <a:latin typeface="Calibri"/>
                <a:ea typeface="Calibri"/>
                <a:cs typeface="Calibri"/>
              </a:rPr>
              <a:t>Fixed: Classes and inheritance</a:t>
            </a:r>
          </a:p>
        </p:txBody>
      </p:sp>
      <p:sp>
        <p:nvSpPr>
          <p:cNvPr id="4" name="TextBox 3">
            <a:extLst>
              <a:ext uri="{FF2B5EF4-FFF2-40B4-BE49-F238E27FC236}">
                <a16:creationId xmlns:a16="http://schemas.microsoft.com/office/drawing/2014/main" id="{BB8BD0C6-783C-C87A-0D97-689205DAD07E}"/>
              </a:ext>
            </a:extLst>
          </p:cNvPr>
          <p:cNvSpPr txBox="1"/>
          <p:nvPr/>
        </p:nvSpPr>
        <p:spPr>
          <a:xfrm>
            <a:off x="1567543" y="4207329"/>
            <a:ext cx="8567056"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By multiplying by "2UL" instead of "2", we ensure that the result of the multiplication operations are an unsigned long instead of an unsigned int.</a:t>
            </a:r>
          </a:p>
          <a:p>
            <a:endParaRPr lang="en-US">
              <a:ea typeface="Calibri"/>
              <a:cs typeface="Calibri"/>
            </a:endParaRPr>
          </a:p>
          <a:p>
            <a:r>
              <a:rPr lang="en-US">
                <a:ea typeface="Calibri"/>
                <a:cs typeface="Calibri"/>
              </a:rPr>
              <a:t>Castor can prove this function doesn't overflow; thus, it satisfies its contract. This version is accepted and verified!</a:t>
            </a:r>
            <a:endParaRPr lang="en-US"/>
          </a:p>
          <a:p>
            <a:endParaRPr lang="en-US">
              <a:ea typeface="Calibri"/>
              <a:cs typeface="Calibri"/>
            </a:endParaRPr>
          </a:p>
        </p:txBody>
      </p:sp>
      <p:sp>
        <p:nvSpPr>
          <p:cNvPr id="7" name="Arrow: Bent 6">
            <a:extLst>
              <a:ext uri="{FF2B5EF4-FFF2-40B4-BE49-F238E27FC236}">
                <a16:creationId xmlns:a16="http://schemas.microsoft.com/office/drawing/2014/main" id="{8961E0B1-7654-1558-112E-405C43EAD4E5}"/>
              </a:ext>
            </a:extLst>
          </p:cNvPr>
          <p:cNvSpPr/>
          <p:nvPr/>
        </p:nvSpPr>
        <p:spPr bwMode="auto">
          <a:xfrm>
            <a:off x="2000195" y="2960913"/>
            <a:ext cx="585217" cy="1192259"/>
          </a:xfrm>
          <a:prstGeom prst="bentArrow">
            <a:avLst/>
          </a:prstGeom>
          <a:solidFill>
            <a:srgbClr val="FF0000"/>
          </a:solidFill>
          <a:ln>
            <a:solidFill>
              <a:schemeClr val="accent1">
                <a:lumMod val="75000"/>
              </a:schemeClr>
            </a:solidFill>
            <a:headEnd/>
            <a:tailEnd/>
          </a:ln>
        </p:spPr>
        <p:style>
          <a:lnRef idx="1">
            <a:schemeClr val="accent1"/>
          </a:lnRef>
          <a:fillRef idx="2">
            <a:schemeClr val="accent1"/>
          </a:fillRef>
          <a:effectRef idx="1">
            <a:schemeClr val="accent1"/>
          </a:effectRef>
          <a:fontRef idx="minor">
            <a:schemeClr val="dk1"/>
          </a:fontRef>
        </p:style>
        <p:txBody>
          <a:bodyPr rtlCol="0" anchor="b">
            <a:prstTxWarp prst="textNoShape">
              <a:avLst/>
            </a:prstTxWarp>
          </a:bodyPr>
          <a:lstStyle/>
          <a:p>
            <a:pPr algn="ctr">
              <a:spcBef>
                <a:spcPct val="0"/>
              </a:spcBef>
            </a:pPr>
            <a:endParaRPr lang="en-US" sz="1600">
              <a:solidFill>
                <a:srgbClr val="000000"/>
              </a:solidFill>
            </a:endParaRPr>
          </a:p>
        </p:txBody>
      </p:sp>
    </p:spTree>
    <p:extLst>
      <p:ext uri="{BB962C8B-B14F-4D97-AF65-F5344CB8AC3E}">
        <p14:creationId xmlns:p14="http://schemas.microsoft.com/office/powerpoint/2010/main" val="2808422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2015_PPT_UNC_V7.06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bwMode="auto">
        <a:gradFill flip="none" rotWithShape="1">
          <a:gsLst>
            <a:gs pos="0">
              <a:schemeClr val="bg1">
                <a:lumMod val="65000"/>
                <a:tint val="66000"/>
                <a:satMod val="160000"/>
              </a:schemeClr>
            </a:gs>
            <a:gs pos="50000">
              <a:schemeClr val="bg1">
                <a:lumMod val="65000"/>
                <a:tint val="44500"/>
                <a:satMod val="160000"/>
              </a:schemeClr>
            </a:gs>
            <a:gs pos="100000">
              <a:schemeClr val="bg1">
                <a:lumMod val="65000"/>
                <a:tint val="23500"/>
                <a:satMod val="160000"/>
              </a:schemeClr>
            </a:gs>
          </a:gsLst>
          <a:lin ang="16200000" scaled="1"/>
          <a:tileRect/>
        </a:gradFill>
        <a:ln>
          <a:solidFill>
            <a:schemeClr val="accent1">
              <a:lumMod val="75000"/>
            </a:schemeClr>
          </a:solidFill>
          <a:headEnd/>
          <a:tailEnd/>
        </a:ln>
      </a:spPr>
      <a:bodyPr rtlCol="0" anchor="b">
        <a:prstTxWarp prst="textNoShape">
          <a:avLst/>
        </a:prstTxWarp>
      </a:bodyPr>
      <a:lstStyle>
        <a:defPPr algn="ctr">
          <a:spcBef>
            <a:spcPct val="0"/>
          </a:spcBef>
          <a:defRPr sz="1600" dirty="0">
            <a:solidFill>
              <a:srgbClr val="000000"/>
            </a:solidFill>
          </a:defRPr>
        </a:defPPr>
      </a:lstStyle>
      <a:style>
        <a:lnRef idx="1">
          <a:schemeClr val="accent1"/>
        </a:lnRef>
        <a:fillRef idx="2">
          <a:schemeClr val="accent1"/>
        </a:fillRef>
        <a:effectRef idx="1">
          <a:schemeClr val="accent1"/>
        </a:effectRef>
        <a:fontRef idx="minor">
          <a:schemeClr val="dk1"/>
        </a:fontRef>
      </a:style>
    </a:spDef>
    <a:lnDef>
      <a:spPr>
        <a:ln w="28575" cmpd="sng">
          <a:solidFill>
            <a:schemeClr val="accent1">
              <a:lumMod val="75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C16E7893-86B4-A943-8DBA-5E4E8B545203}" vid="{A6446EBB-119F-5E4B-95CB-CC7A7E0DB5E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institutional</Template>
  <TotalTime>119</TotalTime>
  <Words>1441</Words>
  <Application>Microsoft Macintosh PowerPoint</Application>
  <PresentationFormat>Widescreen</PresentationFormat>
  <Paragraphs>185</Paragraphs>
  <Slides>14</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Calibri</vt:lpstr>
      <vt:lpstr>Lucida Grande</vt:lpstr>
      <vt:lpstr>Lucida Handwriting</vt:lpstr>
      <vt:lpstr>Menlo</vt:lpstr>
      <vt:lpstr>Open Sans</vt:lpstr>
      <vt:lpstr>Wingdings</vt:lpstr>
      <vt:lpstr>Wingdings 2</vt:lpstr>
      <vt:lpstr>2015_PPT_UNC_V7.06 (1)</vt:lpstr>
      <vt:lpstr>Castor</vt:lpstr>
      <vt:lpstr>Background</vt:lpstr>
      <vt:lpstr>Problem Statement</vt:lpstr>
      <vt:lpstr>Approach</vt:lpstr>
      <vt:lpstr>Diagram of Castor Process</vt:lpstr>
      <vt:lpstr>Supported C++</vt:lpstr>
      <vt:lpstr>Custom Annotation Language</vt:lpstr>
      <vt:lpstr>Example: Basic arithmetic functions</vt:lpstr>
      <vt:lpstr>Example: Templates and pointer swapping</vt:lpstr>
      <vt:lpstr>Example: Classes and inheritance</vt:lpstr>
      <vt:lpstr>Example: Classes and inheritance</vt:lpstr>
      <vt:lpstr>Example: Classes and inheritance</vt:lpstr>
      <vt:lpstr>Fixed: Classes and inheritance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Lane, Phil</cp:lastModifiedBy>
  <cp:revision>1</cp:revision>
  <dcterms:created xsi:type="dcterms:W3CDTF">2025-01-27T20:20:34Z</dcterms:created>
  <dcterms:modified xsi:type="dcterms:W3CDTF">2026-04-08T00:57:21Z</dcterms:modified>
</cp:coreProperties>
</file>